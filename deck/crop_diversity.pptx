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Crop diversity across Indian districts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What the cropping pattern looks like, and what it is arranged around</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a:t>
            </a:r>
          </a:p>
        </p:txBody>
      </p:sp>
      <p:sp>
        <p:nvSpPr>
          <p:cNvPr id="7" name="Rectangle 6"/>
          <p:cNvSpPr/>
          <p:nvPr/>
        </p:nvSpPr>
        <p:spPr>
          <a:xfrm>
            <a:off x="393192" y="1554480"/>
            <a:ext cx="11384280" cy="105156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0"/>
              </a:spcAft>
            </a:pPr>
            <a:r>
              <a:rPr sz="1300" b="0">
                <a:solidFill>
                  <a:srgbClr val="333232"/>
                </a:solidFill>
                <a:latin typeface="Calibri"/>
              </a:rPr>
              <a:t>District area and production for 54 crops across 23 agricultural years, read against village-level rural structure for the same districts. The question is what a district's crop mix is arranged around: the water it has, and the markets it sells into.</a:t>
            </a:r>
          </a:p>
        </p:txBody>
      </p:sp>
      <p:sp>
        <p:nvSpPr>
          <p:cNvPr id="8" name="Rectangle 7"/>
          <p:cNvSpPr/>
          <p:nvPr/>
        </p:nvSpPr>
        <p:spPr>
          <a:xfrm>
            <a:off x="393192" y="2834640"/>
            <a:ext cx="5536692" cy="155448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Cropping</a:t>
            </a:r>
          </a:p>
          <a:p>
            <a:pPr algn="l">
              <a:lnSpc>
                <a:spcPct val="106000"/>
              </a:lnSpc>
              <a:spcAft>
                <a:spcPts val="0"/>
              </a:spcAft>
            </a:pPr>
            <a:r>
              <a:rPr sz="1300" b="0">
                <a:solidFill>
                  <a:srgbClr val="333232"/>
                </a:solidFill>
                <a:latin typeface="Calibri"/>
              </a:rPr>
              <a:t>Ministry of Agriculture district statistics, 1997-98 to 2019-20. Area, production and yield by crop and season, covering 725 districts.</a:t>
            </a:r>
          </a:p>
        </p:txBody>
      </p:sp>
      <p:sp>
        <p:nvSpPr>
          <p:cNvPr id="9" name="Rectangle 8"/>
          <p:cNvSpPr/>
          <p:nvPr/>
        </p:nvSpPr>
        <p:spPr>
          <a:xfrm>
            <a:off x="6240779" y="2834640"/>
            <a:ext cx="5536692" cy="155448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Rural structure</a:t>
            </a:r>
          </a:p>
          <a:p>
            <a:pPr algn="l">
              <a:lnSpc>
                <a:spcPct val="106000"/>
              </a:lnSpc>
              <a:spcAft>
                <a:spcPts val="0"/>
              </a:spcAft>
            </a:pPr>
            <a:r>
              <a:rPr sz="1300" b="0">
                <a:solidFill>
                  <a:srgbClr val="333232"/>
                </a:solidFill>
                <a:latin typeface="Calibri"/>
              </a:rPr>
              <a:t>Village records on irrigation, markets, input supply and agrarian structure, aggregated to district. Roughly 600 districts across 30 states carry both.</a:t>
            </a:r>
          </a:p>
        </p:txBody>
      </p:sp>
      <p:sp>
        <p:nvSpPr>
          <p:cNvPr id="10" name="TextBox 9"/>
          <p:cNvSpPr txBox="1"/>
          <p:nvPr/>
        </p:nvSpPr>
        <p:spPr>
          <a:xfrm>
            <a:off x="393192" y="6035040"/>
            <a:ext cx="10424160" cy="274320"/>
          </a:xfrm>
          <a:prstGeom prst="rect">
            <a:avLst/>
          </a:prstGeom>
          <a:noFill/>
          <a:ln>
            <a:noFill/>
          </a:ln>
        </p:spPr>
        <p:txBody>
          <a:bodyPr wrap="square" lIns="18288" rIns="18288" tIns="18288" bIns="18288">
            <a:spAutoFit/>
          </a:bodyPr>
          <a:lstStyle/>
          <a:p>
            <a:pPr algn="l">
              <a:lnSpc>
                <a:spcPct val="100000"/>
              </a:lnSpc>
              <a:spcAft>
                <a:spcPts val="600"/>
              </a:spcAft>
            </a:pPr>
            <a:r>
              <a:rPr sz="900" b="0">
                <a:solidFill>
                  <a:srgbClr val="9A9A9A"/>
                </a:solidFill>
                <a:latin typeface="Calibri"/>
              </a:rPr>
              <a:t>Ministry of Agriculture and Farmers Welfare; SHRUG 2.1, Development Data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Counting crops and weighting them</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Effective number of crops against the plain count, by district</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2</a:t>
            </a:r>
          </a:p>
        </p:txBody>
      </p:sp>
      <p:pic>
        <p:nvPicPr>
          <p:cNvPr id="7" name="Picture 6" descr="f1_count_vs_effective.png"/>
          <p:cNvPicPr>
            <a:picLocks noChangeAspect="1"/>
          </p:cNvPicPr>
          <p:nvPr/>
        </p:nvPicPr>
        <p:blipFill>
          <a:blip r:embed="rId3"/>
          <a:stretch>
            <a:fillRect/>
          </a:stretch>
        </p:blipFill>
        <p:spPr>
          <a:xfrm>
            <a:off x="393192" y="1298448"/>
            <a:ext cx="4686496" cy="3383280"/>
          </a:xfrm>
          <a:prstGeom prst="rect">
            <a:avLst/>
          </a:prstGeom>
        </p:spPr>
      </p:pic>
      <p:sp>
        <p:nvSpPr>
          <p:cNvPr id="8" name="Rectangle 7"/>
          <p:cNvSpPr/>
          <p:nvPr/>
        </p:nvSpPr>
        <p:spPr>
          <a:xfrm>
            <a:off x="6240779" y="1435607"/>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What the measure is</a:t>
            </a:r>
          </a:p>
          <a:p>
            <a:pPr algn="l">
              <a:lnSpc>
                <a:spcPct val="106000"/>
              </a:lnSpc>
              <a:spcAft>
                <a:spcPts val="0"/>
              </a:spcAft>
            </a:pPr>
            <a:r>
              <a:rPr sz="1300" b="0">
                <a:solidFill>
                  <a:srgbClr val="333232"/>
                </a:solidFill>
                <a:latin typeface="Calibri"/>
              </a:rPr>
              <a:t>The effective number of crops is how many equally sized crops would give the diversity observed. A district growing 20 crops with four fifths of its land under paddy farms like a district growing three, and the measure says three.</a:t>
            </a:r>
          </a:p>
        </p:txBody>
      </p:sp>
      <p:sp>
        <p:nvSpPr>
          <p:cNvPr id="9" name="Rectangle 8"/>
          <p:cNvSpPr/>
          <p:nvPr/>
        </p:nvSpPr>
        <p:spPr>
          <a:xfrm>
            <a:off x="6240779" y="3081528"/>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Why it is used</a:t>
            </a:r>
          </a:p>
          <a:p>
            <a:pPr algn="l">
              <a:lnSpc>
                <a:spcPct val="106000"/>
              </a:lnSpc>
              <a:spcAft>
                <a:spcPts val="0"/>
              </a:spcAft>
            </a:pPr>
            <a:r>
              <a:rPr sz="1300" b="0">
                <a:solidFill>
                  <a:srgbClr val="333232"/>
                </a:solidFill>
                <a:latin typeface="Calibri"/>
              </a:rPr>
              <a:t>Both axes are counts of crops. The dashed line is where a district would sit if it split its land equally between every crop it grows, so the drop below that line is how concentrated its cropping is.</a:t>
            </a:r>
          </a:p>
        </p:txBody>
      </p:sp>
      <p:sp>
        <p:nvSpPr>
          <p:cNvPr id="10" name="Rectangle 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The average district has an effective number of about five crops</a:t>
            </a:r>
          </a:p>
          <a:p>
            <a:pPr algn="l">
              <a:lnSpc>
                <a:spcPct val="104000"/>
              </a:lnSpc>
              <a:spcAft>
                <a:spcPts val="200"/>
              </a:spcAft>
            </a:pPr>
            <a:r>
              <a:rPr sz="1350" b="0">
                <a:solidFill>
                  <a:srgbClr val="333232"/>
                </a:solidFill>
                <a:latin typeface="Calibri"/>
              </a:rPr>
              <a:t>It grows about twenty. Most of its land sits under two or three of them, which is what pulls the effective number down.</a:t>
            </a:r>
          </a:p>
        </p:txBody>
      </p:sp>
      <p:sp>
        <p:nvSpPr>
          <p:cNvPr id="13" name="TextBox 12"/>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Each index is measured within a year and averaged across the years a district reports, so it does not scale with length of observation.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Effective number of crops by district</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Averaged over each district's years, 1997-98 to 2019-20</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3</a:t>
            </a:r>
          </a:p>
        </p:txBody>
      </p:sp>
      <p:pic>
        <p:nvPicPr>
          <p:cNvPr id="7" name="Picture 6" descr="f2_map_effective_crops.png"/>
          <p:cNvPicPr>
            <a:picLocks noChangeAspect="1"/>
          </p:cNvPicPr>
          <p:nvPr/>
        </p:nvPicPr>
        <p:blipFill>
          <a:blip r:embed="rId3"/>
          <a:stretch>
            <a:fillRect/>
          </a:stretch>
        </p:blipFill>
        <p:spPr>
          <a:xfrm>
            <a:off x="1792314" y="1298448"/>
            <a:ext cx="2738446" cy="3383280"/>
          </a:xfrm>
          <a:prstGeom prst="rect">
            <a:avLst/>
          </a:prstGeom>
        </p:spPr>
      </p:pic>
      <p:sp>
        <p:nvSpPr>
          <p:cNvPr id="8" name="Rectangle 7"/>
          <p:cNvSpPr/>
          <p:nvPr/>
        </p:nvSpPr>
        <p:spPr>
          <a:xfrm>
            <a:off x="6240779" y="1435607"/>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Where the mix is wide</a:t>
            </a:r>
          </a:p>
          <a:p>
            <a:pPr algn="l">
              <a:lnSpc>
                <a:spcPct val="106000"/>
              </a:lnSpc>
              <a:spcAft>
                <a:spcPts val="0"/>
              </a:spcAft>
            </a:pPr>
            <a:r>
              <a:rPr sz="1300" b="0">
                <a:solidFill>
                  <a:srgbClr val="333232"/>
                </a:solidFill>
                <a:latin typeface="Calibri"/>
              </a:rPr>
              <a:t>The peninsular and central belt runs widest: Karnataka, interior Andhra Pradesh, Madhya Pradesh and Rajasthan.</a:t>
            </a:r>
          </a:p>
        </p:txBody>
      </p:sp>
      <p:sp>
        <p:nvSpPr>
          <p:cNvPr id="9" name="Rectangle 8"/>
          <p:cNvSpPr/>
          <p:nvPr/>
        </p:nvSpPr>
        <p:spPr>
          <a:xfrm>
            <a:off x="6240779" y="3081528"/>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Where it is narrow</a:t>
            </a:r>
          </a:p>
          <a:p>
            <a:pPr algn="l">
              <a:lnSpc>
                <a:spcPct val="106000"/>
              </a:lnSpc>
              <a:spcAft>
                <a:spcPts val="0"/>
              </a:spcAft>
            </a:pPr>
            <a:r>
              <a:rPr sz="1300" b="0">
                <a:solidFill>
                  <a:srgbClr val="333232"/>
                </a:solidFill>
                <a:latin typeface="Calibri"/>
              </a:rPr>
              <a:t>The eastern rice belt and the intensively irrigated northwest sit at the bottom. Punjab and Odisha arrive there from opposite directions, one through wheat and one through paddy.</a:t>
            </a:r>
          </a:p>
        </p:txBody>
      </p:sp>
      <p:sp>
        <p:nvSpPr>
          <p:cNvPr id="10" name="Rectangle 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Districts at the bottom of the range put most of their land under one crop</a:t>
            </a:r>
          </a:p>
          <a:p>
            <a:pPr algn="l">
              <a:lnSpc>
                <a:spcPct val="104000"/>
              </a:lnSpc>
              <a:spcAft>
                <a:spcPts val="200"/>
              </a:spcAft>
            </a:pPr>
            <a:r>
              <a:rPr sz="1350" b="0">
                <a:solidFill>
                  <a:srgbClr val="333232"/>
                </a:solidFill>
                <a:latin typeface="Calibri"/>
              </a:rPr>
              <a:t>They grow about as many crops as everywhere else. The land is what is concentrated.</a:t>
            </a:r>
          </a:p>
        </p:txBody>
      </p:sp>
      <p:sp>
        <p:nvSpPr>
          <p:cNvPr id="13" name="TextBox 12"/>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Grey districts carry no agricultural record, which is mostly urban territory.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The crop that takes the most land</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Districts by their largest single land use</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4</a:t>
            </a:r>
          </a:p>
        </p:txBody>
      </p:sp>
      <p:pic>
        <p:nvPicPr>
          <p:cNvPr id="7" name="Picture 6" descr="f3_dominant_crop.png"/>
          <p:cNvPicPr>
            <a:picLocks noChangeAspect="1"/>
          </p:cNvPicPr>
          <p:nvPr/>
        </p:nvPicPr>
        <p:blipFill>
          <a:blip r:embed="rId3"/>
          <a:stretch>
            <a:fillRect/>
          </a:stretch>
        </p:blipFill>
        <p:spPr>
          <a:xfrm>
            <a:off x="393192" y="1361528"/>
            <a:ext cx="5536692" cy="3257119"/>
          </a:xfrm>
          <a:prstGeom prst="rect">
            <a:avLst/>
          </a:prstGeom>
        </p:spPr>
      </p:pic>
      <p:sp>
        <p:nvSpPr>
          <p:cNvPr id="8" name="Rectangle 7"/>
          <p:cNvSpPr/>
          <p:nvPr/>
        </p:nvSpPr>
        <p:spPr>
          <a:xfrm>
            <a:off x="6240779" y="1435607"/>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Two cereals</a:t>
            </a:r>
          </a:p>
          <a:p>
            <a:pPr algn="l">
              <a:lnSpc>
                <a:spcPct val="106000"/>
              </a:lnSpc>
              <a:spcAft>
                <a:spcPts val="0"/>
              </a:spcAft>
            </a:pPr>
            <a:r>
              <a:rPr sz="1300" b="0">
                <a:solidFill>
                  <a:srgbClr val="333232"/>
                </a:solidFill>
                <a:latin typeface="Calibri"/>
              </a:rPr>
              <a:t>Rice is the largest land use in about half of Indian districts and wheat in a further fifth. What sits below them is regional specialisation rather than a national pattern.</a:t>
            </a:r>
          </a:p>
        </p:txBody>
      </p:sp>
      <p:sp>
        <p:nvSpPr>
          <p:cNvPr id="9" name="Rectangle 8"/>
          <p:cNvSpPr/>
          <p:nvPr/>
        </p:nvSpPr>
        <p:spPr>
          <a:xfrm>
            <a:off x="6240779" y="3081528"/>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What diversification has meant</a:t>
            </a:r>
          </a:p>
          <a:p>
            <a:pPr algn="l">
              <a:lnSpc>
                <a:spcPct val="106000"/>
              </a:lnSpc>
              <a:spcAft>
                <a:spcPts val="0"/>
              </a:spcAft>
            </a:pPr>
            <a:r>
              <a:rPr sz="1300" b="0">
                <a:solidFill>
                  <a:srgbClr val="333232"/>
                </a:solidFill>
                <a:latin typeface="Calibri"/>
              </a:rPr>
              <a:t>Where cereal area gives way, oilseeds and pulses take it up. Fruit and vegetables stay a small share of land even in the most diverse quarter of districts.</a:t>
            </a:r>
          </a:p>
        </p:txBody>
      </p:sp>
      <p:sp>
        <p:nvSpPr>
          <p:cNvPr id="10" name="Rectangle 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Seven in ten districts have rice or wheat as their largest land use</a:t>
            </a:r>
          </a:p>
          <a:p>
            <a:pPr algn="l">
              <a:lnSpc>
                <a:spcPct val="104000"/>
              </a:lnSpc>
              <a:spcAft>
                <a:spcPts val="200"/>
              </a:spcAft>
            </a:pPr>
            <a:r>
              <a:rPr sz="1350" b="0">
                <a:solidFill>
                  <a:srgbClr val="333232"/>
                </a:solidFill>
                <a:latin typeface="Calibri"/>
              </a:rPr>
              <a:t>The dominant crop takes between a third and a half of cropped area in those districts.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Crop diversity over time</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Area-weighted means across districts reporting in every year</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5</a:t>
            </a:r>
          </a:p>
        </p:txBody>
      </p:sp>
      <p:pic>
        <p:nvPicPr>
          <p:cNvPr id="7" name="Picture 6" descr="f4_trend.png"/>
          <p:cNvPicPr>
            <a:picLocks noChangeAspect="1"/>
          </p:cNvPicPr>
          <p:nvPr/>
        </p:nvPicPr>
        <p:blipFill>
          <a:blip r:embed="rId3"/>
          <a:stretch>
            <a:fillRect/>
          </a:stretch>
        </p:blipFill>
        <p:spPr>
          <a:xfrm>
            <a:off x="393192" y="1495481"/>
            <a:ext cx="5536692" cy="2989213"/>
          </a:xfrm>
          <a:prstGeom prst="rect">
            <a:avLst/>
          </a:prstGeom>
        </p:spPr>
      </p:pic>
      <p:sp>
        <p:nvSpPr>
          <p:cNvPr id="8" name="Rectangle 7"/>
          <p:cNvSpPr/>
          <p:nvPr/>
        </p:nvSpPr>
        <p:spPr>
          <a:xfrm>
            <a:off x="6240779" y="1435607"/>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The national series</a:t>
            </a:r>
          </a:p>
          <a:p>
            <a:pPr algn="l">
              <a:lnSpc>
                <a:spcPct val="106000"/>
              </a:lnSpc>
              <a:spcAft>
                <a:spcPts val="0"/>
              </a:spcAft>
            </a:pPr>
            <a:r>
              <a:rPr sz="1300" b="0">
                <a:solidFill>
                  <a:srgbClr val="333232"/>
                </a:solidFill>
                <a:latin typeface="Calibri"/>
              </a:rPr>
              <a:t>Flat across two decades on every index. Whatever has reshaped Indian agriculture over this period has not moved the aggregate crop mix.</a:t>
            </a:r>
          </a:p>
        </p:txBody>
      </p:sp>
      <p:sp>
        <p:nvSpPr>
          <p:cNvPr id="9" name="Rectangle 8"/>
          <p:cNvSpPr/>
          <p:nvPr/>
        </p:nvSpPr>
        <p:spPr>
          <a:xfrm>
            <a:off x="6240779" y="3081528"/>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Districts underneath it</a:t>
            </a:r>
          </a:p>
          <a:p>
            <a:pPr algn="l">
              <a:lnSpc>
                <a:spcPct val="106000"/>
              </a:lnSpc>
              <a:spcAft>
                <a:spcPts val="0"/>
              </a:spcAft>
            </a:pPr>
            <a:r>
              <a:rPr sz="1300" b="0">
                <a:solidFill>
                  <a:srgbClr val="333232"/>
                </a:solidFill>
                <a:latin typeface="Calibri"/>
              </a:rPr>
              <a:t>More districts lost effective diversity than gained it, 264 against 165. The aggregate holds still because those losses fall in districts carrying less of the country's cropped area.</a:t>
            </a:r>
          </a:p>
        </p:txBody>
      </p:sp>
      <p:sp>
        <p:nvSpPr>
          <p:cNvPr id="10" name="Rectangle 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264 districts lost effective diversity over the period and 165 gained it</a:t>
            </a:r>
          </a:p>
          <a:p>
            <a:pPr algn="l">
              <a:lnSpc>
                <a:spcPct val="104000"/>
              </a:lnSpc>
              <a:spcAft>
                <a:spcPts val="200"/>
              </a:spcAft>
            </a:pPr>
            <a:r>
              <a:rPr sz="1350" b="0">
                <a:solidFill>
                  <a:srgbClr val="333232"/>
                </a:solidFill>
                <a:latin typeface="Calibri"/>
              </a:rPr>
              <a:t>The area-weighted national series holds still because those losses fall in districts carrying less cropped area.</a:t>
            </a:r>
          </a:p>
        </p:txBody>
      </p:sp>
      <p:sp>
        <p:nvSpPr>
          <p:cNvPr id="13" name="TextBox 12"/>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Balanced panel of 429 districts. Early period 1998 to 2004 against late period 2013 to 2019.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Crop diversity against irrigation</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Effective number of crops by share of sown area irrigated</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6</a:t>
            </a:r>
          </a:p>
        </p:txBody>
      </p:sp>
      <p:pic>
        <p:nvPicPr>
          <p:cNvPr id="7" name="Picture 6" descr="f5_irrigation_shape.png"/>
          <p:cNvPicPr>
            <a:picLocks noChangeAspect="1"/>
          </p:cNvPicPr>
          <p:nvPr/>
        </p:nvPicPr>
        <p:blipFill>
          <a:blip r:embed="rId3"/>
          <a:stretch>
            <a:fillRect/>
          </a:stretch>
        </p:blipFill>
        <p:spPr>
          <a:xfrm>
            <a:off x="393192" y="1298448"/>
            <a:ext cx="5084720" cy="3383280"/>
          </a:xfrm>
          <a:prstGeom prst="rect">
            <a:avLst/>
          </a:prstGeom>
        </p:spPr>
      </p:pic>
      <p:pic>
        <p:nvPicPr>
          <p:cNvPr id="8" name="Picture 7" descr="f6_map_irrigation.png"/>
          <p:cNvPicPr>
            <a:picLocks noChangeAspect="1"/>
          </p:cNvPicPr>
          <p:nvPr/>
        </p:nvPicPr>
        <p:blipFill>
          <a:blip r:embed="rId4"/>
          <a:stretch>
            <a:fillRect/>
          </a:stretch>
        </p:blipFill>
        <p:spPr>
          <a:xfrm>
            <a:off x="7630132" y="1298448"/>
            <a:ext cx="2757987" cy="3383280"/>
          </a:xfrm>
          <a:prstGeom prst="rect">
            <a:avLst/>
          </a:prstGeom>
        </p:spPr>
      </p:pic>
      <p:sp>
        <p:nvSpPr>
          <p:cNvPr id="9" name="Rectangle 8"/>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The effective number of crops rises with irrigation and then falls away</a:t>
            </a:r>
          </a:p>
          <a:p>
            <a:pPr algn="l">
              <a:lnSpc>
                <a:spcPct val="104000"/>
              </a:lnSpc>
              <a:spcAft>
                <a:spcPts val="200"/>
              </a:spcAft>
            </a:pPr>
            <a:r>
              <a:rPr sz="1350" b="0">
                <a:solidFill>
                  <a:srgbClr val="333232"/>
                </a:solidFill>
                <a:latin typeface="Calibri"/>
              </a:rPr>
              <a:t>The same rise and fall appears in all fourteen versions of the estimate, with the turn between a third and a half of sown area.</a:t>
            </a:r>
          </a:p>
        </p:txBody>
      </p:sp>
      <p:sp>
        <p:nvSpPr>
          <p:cNvPr id="12" name="TextBox 11"/>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Irrigation share is irrigated land over irrigated plus unirrigated land, from village records. The fitted turn shown here carries no state fixed effects; adding them moves it toward a third.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Irrigation source and what a district grows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Coefficients against groundwater, with state fixed effects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7</a:t>
            </a:r>
          </a:p>
        </p:txBody>
      </p:sp>
      <p:pic>
        <p:nvPicPr>
          <p:cNvPr id="7" name="Picture 6" descr="f7_irrigation_source.png"/>
          <p:cNvPicPr>
            <a:picLocks noChangeAspect="1"/>
          </p:cNvPicPr>
          <p:nvPr/>
        </p:nvPicPr>
        <p:blipFill>
          <a:blip r:embed="rId3"/>
          <a:stretch>
            <a:fillRect/>
          </a:stretch>
        </p:blipFill>
        <p:spPr>
          <a:xfrm>
            <a:off x="393192" y="1575579"/>
            <a:ext cx="5536692" cy="2829017"/>
          </a:xfrm>
          <a:prstGeom prst="rect">
            <a:avLst/>
          </a:prstGeom>
        </p:spPr>
      </p:pic>
      <p:sp>
        <p:nvSpPr>
          <p:cNvPr id="8" name="Rectangle 7"/>
          <p:cNvSpPr/>
          <p:nvPr/>
        </p:nvSpPr>
        <p:spPr>
          <a:xfrm>
            <a:off x="6240779" y="1435607"/>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Canal against groundwater</a:t>
            </a:r>
          </a:p>
          <a:p>
            <a:pPr algn="l">
              <a:lnSpc>
                <a:spcPct val="106000"/>
              </a:lnSpc>
              <a:spcAft>
                <a:spcPts val="0"/>
              </a:spcAft>
            </a:pPr>
            <a:r>
              <a:rPr sz="1300" b="0">
                <a:solidFill>
                  <a:srgbClr val="333232"/>
                </a:solidFill>
                <a:latin typeface="Calibri"/>
              </a:rPr>
              <a:t>Canal dependence shortens the crop list by about two and a half crops, leaves the effective count alone, and goes with a larger pulse share.</a:t>
            </a:r>
          </a:p>
        </p:txBody>
      </p:sp>
      <p:sp>
        <p:nvSpPr>
          <p:cNvPr id="9" name="Rectangle 8"/>
          <p:cNvSpPr/>
          <p:nvPr/>
        </p:nvSpPr>
        <p:spPr>
          <a:xfrm>
            <a:off x="6240779" y="3081528"/>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Surface water against groundwater</a:t>
            </a:r>
          </a:p>
          <a:p>
            <a:pPr algn="l">
              <a:lnSpc>
                <a:spcPct val="106000"/>
              </a:lnSpc>
              <a:spcAft>
                <a:spcPts val="0"/>
              </a:spcAft>
            </a:pPr>
            <a:r>
              <a:rPr sz="1300" b="0">
                <a:solidFill>
                  <a:srgbClr val="333232"/>
                </a:solidFill>
                <a:latin typeface="Calibri"/>
              </a:rPr>
              <a:t>Surface-water dependence is where cereal concentration sits. Effective diversity falls and cereal share rises by thirty points across the range.</a:t>
            </a:r>
          </a:p>
        </p:txBody>
      </p:sp>
      <p:sp>
        <p:nvSpPr>
          <p:cNvPr id="10" name="Rectangle 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Canal dependence goes with about two and a half fewer crops than groundwater</a:t>
            </a:r>
          </a:p>
          <a:p>
            <a:pPr algn="l">
              <a:lnSpc>
                <a:spcPct val="104000"/>
              </a:lnSpc>
              <a:spcAft>
                <a:spcPts val="200"/>
              </a:spcAft>
            </a:pPr>
            <a:r>
              <a:rPr sz="1350" b="0">
                <a:solidFill>
                  <a:srgbClr val="333232"/>
                </a:solidFill>
                <a:latin typeface="Calibri"/>
              </a:rPr>
              <a:t>Surface water goes with a cereal share thirty points higher across its range. How much a district irrigates does not separate these.</a:t>
            </a:r>
          </a:p>
        </p:txBody>
      </p:sp>
      <p:sp>
        <p:nvSpPr>
          <p:cNvPr id="13" name="TextBox 12"/>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Dominant irrigation source per village. Groundwater is the omitted category and covers about half of villages.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Rural facilities and where they sit together</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How often each facility turns up in the same districts as the others</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8</a:t>
            </a:r>
          </a:p>
        </p:txBody>
      </p:sp>
      <p:pic>
        <p:nvPicPr>
          <p:cNvPr id="7" name="Picture 6" descr="f8_facility_correlation.png"/>
          <p:cNvPicPr>
            <a:picLocks noChangeAspect="1"/>
          </p:cNvPicPr>
          <p:nvPr/>
        </p:nvPicPr>
        <p:blipFill>
          <a:blip r:embed="rId3"/>
          <a:stretch>
            <a:fillRect/>
          </a:stretch>
        </p:blipFill>
        <p:spPr>
          <a:xfrm>
            <a:off x="1189465" y="1298448"/>
            <a:ext cx="3944144" cy="3383280"/>
          </a:xfrm>
          <a:prstGeom prst="rect">
            <a:avLst/>
          </a:prstGeom>
        </p:spPr>
      </p:pic>
      <p:pic>
        <p:nvPicPr>
          <p:cNvPr id="8" name="Picture 7" descr="f9_map_haat.png"/>
          <p:cNvPicPr>
            <a:picLocks noChangeAspect="1"/>
          </p:cNvPicPr>
          <p:nvPr/>
        </p:nvPicPr>
        <p:blipFill>
          <a:blip r:embed="rId4"/>
          <a:stretch>
            <a:fillRect/>
          </a:stretch>
        </p:blipFill>
        <p:spPr>
          <a:xfrm>
            <a:off x="7641298" y="1298448"/>
            <a:ext cx="2735655" cy="3383280"/>
          </a:xfrm>
          <a:prstGeom prst="rect">
            <a:avLst/>
          </a:prstGeom>
        </p:spPr>
      </p:pic>
      <p:sp>
        <p:nvSpPr>
          <p:cNvPr id="9" name="Rectangle 8"/>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Nine of the ten rural facilities move together across districts</a:t>
            </a:r>
          </a:p>
          <a:p>
            <a:pPr algn="l">
              <a:lnSpc>
                <a:spcPct val="104000"/>
              </a:lnSpc>
              <a:spcAft>
                <a:spcPts val="200"/>
              </a:spcAft>
            </a:pPr>
            <a:r>
              <a:rPr sz="1350" b="0">
                <a:solidFill>
                  <a:srgbClr val="333232"/>
                </a:solidFill>
                <a:latin typeface="Calibri"/>
              </a:rPr>
              <a:t>The weekly haat runs the other way, falling where mandis, regular markets and non-farm activity are dense.</a:t>
            </a:r>
          </a:p>
        </p:txBody>
      </p:sp>
      <p:sp>
        <p:nvSpPr>
          <p:cNvPr id="12" name="TextBox 11"/>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Each cell is the correlation across districts between the share of villages carrying one facility and the share carrying the other. Blue is positive, orange negative.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Rural facilities against cropping</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One facility at a time, holding wealth, connectivity and state constant</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9</a:t>
            </a:r>
          </a:p>
        </p:txBody>
      </p:sp>
      <p:pic>
        <p:nvPicPr>
          <p:cNvPr id="7" name="Picture 6" descr="f10_market_solo.png"/>
          <p:cNvPicPr>
            <a:picLocks noChangeAspect="1"/>
          </p:cNvPicPr>
          <p:nvPr/>
        </p:nvPicPr>
        <p:blipFill>
          <a:blip r:embed="rId3"/>
          <a:stretch>
            <a:fillRect/>
          </a:stretch>
        </p:blipFill>
        <p:spPr>
          <a:xfrm>
            <a:off x="2159269" y="1298448"/>
            <a:ext cx="7852124" cy="3383280"/>
          </a:xfrm>
          <a:prstGeom prst="rect">
            <a:avLst/>
          </a:prstGeom>
        </p:spPr>
      </p:pic>
      <p:sp>
        <p:nvSpPr>
          <p:cNvPr id="8" name="Rectangle 7"/>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Haat coverage goes with about one more crop grown per standard deviation</a:t>
            </a:r>
          </a:p>
          <a:p>
            <a:pPr algn="l">
              <a:lnSpc>
                <a:spcPct val="104000"/>
              </a:lnSpc>
              <a:spcAft>
                <a:spcPts val="200"/>
              </a:spcAft>
            </a:pPr>
            <a:r>
              <a:rPr sz="1350" b="0">
                <a:solidFill>
                  <a:srgbClr val="333232"/>
                </a:solidFill>
                <a:latin typeface="Calibri"/>
              </a:rPr>
              <a:t>Fertiliser shops, cold storage and regular markets each go with a smaller share of land under pulses.</a:t>
            </a:r>
          </a:p>
        </p:txBody>
      </p:sp>
      <p:sp>
        <p:nvSpPr>
          <p:cNvPr id="11" name="TextBox 10"/>
          <p:cNvSpPr txBox="1"/>
          <p:nvPr/>
        </p:nvSpPr>
        <p:spPr>
          <a:xfrm>
            <a:off x="393192" y="5779008"/>
            <a:ext cx="10424160" cy="237744"/>
          </a:xfrm>
          <a:prstGeom prst="rect">
            <a:avLst/>
          </a:prstGeom>
          <a:noFill/>
          <a:ln>
            <a:noFill/>
          </a:ln>
        </p:spPr>
        <p:txBody>
          <a:bodyPr wrap="square" lIns="18288" rIns="18288" tIns="18288" bIns="18288">
            <a:spAutoFit/>
          </a:bodyPr>
          <a:lstStyle/>
          <a:p>
            <a:pPr algn="l">
              <a:lnSpc>
                <a:spcPct val="104000"/>
              </a:lnSpc>
              <a:spcAft>
                <a:spcPts val="600"/>
              </a:spcAft>
            </a:pPr>
            <a:r>
              <a:rPr sz="900" b="1">
                <a:solidFill>
                  <a:srgbClr val="9A9A9A"/>
                </a:solidFill>
                <a:latin typeface="Calibri"/>
              </a:rPr>
              <a:t>Note.  </a:t>
            </a:r>
            <a:r>
              <a:rPr sz="900" b="0">
                <a:solidFill>
                  <a:srgbClr val="9A9A9A"/>
                </a:solidFill>
                <a:latin typeface="Calibri"/>
              </a:rPr>
              <a:t>Each row is a separate estimate carrying night-time lights, non-farm establishment density, connectivity, irrigation, holding size and state fixed effects. Errors cluster on the pre-2011 parent district.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Haat coverage and producer organisations, by index</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What each one moves, and what it leaves alone</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10</a:t>
            </a:r>
          </a:p>
        </p:txBody>
      </p:sp>
      <p:sp>
        <p:nvSpPr>
          <p:cNvPr id="7" name="Rectangle 6"/>
          <p:cNvSpPr/>
          <p:nvPr/>
        </p:nvSpPr>
        <p:spPr>
          <a:xfrm>
            <a:off x="393192" y="1344168"/>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Weekly haat</a:t>
            </a:r>
          </a:p>
          <a:p>
            <a:pPr algn="l">
              <a:lnSpc>
                <a:spcPct val="106000"/>
              </a:lnSpc>
              <a:spcAft>
                <a:spcPts val="0"/>
              </a:spcAft>
            </a:pPr>
            <a:r>
              <a:rPr sz="1300" b="0">
                <a:solidFill>
                  <a:srgbClr val="333232"/>
                </a:solidFill>
                <a:latin typeface="Calibri"/>
              </a:rPr>
              <a:t>Raises the count of crops grown by about one crop per standard deviation of coverage, against a mean of twenty. The effective count does not move and evenness falls slightly.</a:t>
            </a:r>
          </a:p>
        </p:txBody>
      </p:sp>
      <p:sp>
        <p:nvSpPr>
          <p:cNvPr id="8" name="Rectangle 7"/>
          <p:cNvSpPr/>
          <p:nvPr/>
        </p:nvSpPr>
        <p:spPr>
          <a:xfrm>
            <a:off x="6240779" y="1344168"/>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Producer organisation</a:t>
            </a:r>
          </a:p>
          <a:p>
            <a:pPr algn="l">
              <a:lnSpc>
                <a:spcPct val="106000"/>
              </a:lnSpc>
              <a:spcAft>
                <a:spcPts val="0"/>
              </a:spcAft>
            </a:pPr>
            <a:r>
              <a:rPr sz="1300" b="0">
                <a:solidFill>
                  <a:srgbClr val="333232"/>
                </a:solidFill>
                <a:latin typeface="Calibri"/>
              </a:rPr>
              <a:t>Raises the effective count without raising the plain count, and cuts cereal share. Land already in cultivation is spread more evenly rather than new crops appearing.</a:t>
            </a:r>
          </a:p>
        </p:txBody>
      </p:sp>
      <p:sp>
        <p:nvSpPr>
          <p:cNvPr id="9" name="Rectangle 8"/>
          <p:cNvSpPr/>
          <p:nvPr/>
        </p:nvSpPr>
        <p:spPr>
          <a:xfrm>
            <a:off x="393192" y="3054096"/>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Input supply</a:t>
            </a:r>
          </a:p>
          <a:p>
            <a:pPr algn="l">
              <a:lnSpc>
                <a:spcPct val="106000"/>
              </a:lnSpc>
              <a:spcAft>
                <a:spcPts val="0"/>
              </a:spcAft>
            </a:pPr>
            <a:r>
              <a:rPr sz="1300" b="0">
                <a:solidFill>
                  <a:srgbClr val="333232"/>
                </a:solidFill>
                <a:latin typeface="Calibri"/>
              </a:rPr>
              <a:t>Fertiliser shops, cold storage and regular markets each go with a smaller share of land under pulses, at one percent significance and surviving correction across all ten crop categories.</a:t>
            </a:r>
          </a:p>
        </p:txBody>
      </p:sp>
      <p:sp>
        <p:nvSpPr>
          <p:cNvPr id="10" name="Rectangle 9"/>
          <p:cNvSpPr/>
          <p:nvPr/>
        </p:nvSpPr>
        <p:spPr>
          <a:xfrm>
            <a:off x="6240779" y="3054096"/>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Why the distinction holds</a:t>
            </a:r>
          </a:p>
          <a:p>
            <a:pPr algn="l">
              <a:lnSpc>
                <a:spcPct val="106000"/>
              </a:lnSpc>
              <a:spcAft>
                <a:spcPts val="0"/>
              </a:spcAft>
            </a:pPr>
            <a:r>
              <a:rPr sz="1300" b="0">
                <a:solidFill>
                  <a:srgbClr val="333232"/>
                </a:solidFill>
                <a:latin typeface="Calibri"/>
              </a:rPr>
              <a:t>A single blended diversity score reports both institutions as raising diversity. Separating the count from the balance shows they act on different margins.</a:t>
            </a:r>
          </a:p>
        </p:txBody>
      </p:sp>
      <p:sp>
        <p:nvSpPr>
          <p:cNvPr id="11" name="Rectangle 10"/>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Haat coverage moves the count of crops and leaves the effective number flat</a:t>
            </a:r>
          </a:p>
          <a:p>
            <a:pPr algn="l">
              <a:lnSpc>
                <a:spcPct val="104000"/>
              </a:lnSpc>
              <a:spcAft>
                <a:spcPts val="200"/>
              </a:spcAft>
            </a:pPr>
            <a:r>
              <a:rPr sz="1350" b="0">
                <a:solidFill>
                  <a:srgbClr val="333232"/>
                </a:solidFill>
                <a:latin typeface="Calibri"/>
              </a:rPr>
              <a:t>Producer organisations do the reverse, so a single blended score reports both as more diverse and loses the difference.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Two expectations that did not hold</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How sharply diversity falls after the turn, where infrastructure is thin and where it is dense</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11</a:t>
            </a:r>
          </a:p>
        </p:txBody>
      </p:sp>
      <p:pic>
        <p:nvPicPr>
          <p:cNvPr id="7" name="Picture 6" descr="f11_interaction.png"/>
          <p:cNvPicPr>
            <a:picLocks noChangeAspect="1"/>
          </p:cNvPicPr>
          <p:nvPr/>
        </p:nvPicPr>
        <p:blipFill>
          <a:blip r:embed="rId3"/>
          <a:stretch>
            <a:fillRect/>
          </a:stretch>
        </p:blipFill>
        <p:spPr>
          <a:xfrm>
            <a:off x="393192" y="1607765"/>
            <a:ext cx="5536692" cy="2764645"/>
          </a:xfrm>
          <a:prstGeom prst="rect">
            <a:avLst/>
          </a:prstGeom>
        </p:spPr>
      </p:pic>
      <p:sp>
        <p:nvSpPr>
          <p:cNvPr id="8" name="Rectangle 7"/>
          <p:cNvSpPr/>
          <p:nvPr/>
        </p:nvSpPr>
        <p:spPr>
          <a:xfrm>
            <a:off x="6240779" y="1435607"/>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Mandis and cereals</a:t>
            </a:r>
          </a:p>
          <a:p>
            <a:pPr algn="l">
              <a:lnSpc>
                <a:spcPct val="106000"/>
              </a:lnSpc>
              <a:spcAft>
                <a:spcPts val="0"/>
              </a:spcAft>
            </a:pPr>
            <a:r>
              <a:rPr sz="1300" b="0">
                <a:solidFill>
                  <a:srgbClr val="333232"/>
                </a:solidFill>
                <a:latin typeface="Calibri"/>
              </a:rPr>
              <a:t>Denser mandi coverage was expected to raise cereal share. Within a state and at a given level of irrigation it goes with a smaller cereal share.</a:t>
            </a:r>
          </a:p>
        </p:txBody>
      </p:sp>
      <p:sp>
        <p:nvSpPr>
          <p:cNvPr id="9" name="Rectangle 8"/>
          <p:cNvSpPr/>
          <p:nvPr/>
        </p:nvSpPr>
        <p:spPr>
          <a:xfrm>
            <a:off x="6240779" y="3081528"/>
            <a:ext cx="5536692" cy="1463040"/>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Procurement and the downslope</a:t>
            </a:r>
          </a:p>
          <a:p>
            <a:pPr algn="l">
              <a:lnSpc>
                <a:spcPct val="106000"/>
              </a:lnSpc>
              <a:spcAft>
                <a:spcPts val="0"/>
              </a:spcAft>
            </a:pPr>
            <a:r>
              <a:rPr sz="1300" b="0">
                <a:solidFill>
                  <a:srgbClr val="333232"/>
                </a:solidFill>
                <a:latin typeface="Calibri"/>
              </a:rPr>
              <a:t>The fall after the turn was expected to be steeper where markets and input supply are dense. It is gentler there on all five measures.</a:t>
            </a:r>
          </a:p>
        </p:txBody>
      </p:sp>
      <p:sp>
        <p:nvSpPr>
          <p:cNvPr id="10" name="Rectangle 9"/>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Assured procurement does not explain the fall in diversity at high irrigation</a:t>
            </a:r>
          </a:p>
          <a:p>
            <a:pPr algn="l">
              <a:lnSpc>
                <a:spcPct val="104000"/>
              </a:lnSpc>
              <a:spcAft>
                <a:spcPts val="200"/>
              </a:spcAft>
            </a:pPr>
            <a:r>
              <a:rPr sz="1350" b="0">
                <a:solidFill>
                  <a:srgbClr val="333232"/>
                </a:solidFill>
                <a:latin typeface="Calibri"/>
              </a:rPr>
              <a:t>Each was written down before the estimates were made, and each runs the opposite way to what was expected.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93192" y="310896"/>
            <a:ext cx="11384280" cy="548640"/>
          </a:xfrm>
          <a:prstGeom prst="rect">
            <a:avLst/>
          </a:prstGeom>
          <a:noFill/>
          <a:ln>
            <a:noFill/>
          </a:ln>
        </p:spPr>
        <p:txBody>
          <a:bodyPr wrap="square" lIns="18288" rIns="18288" tIns="18288" bIns="18288">
            <a:spAutoFit/>
          </a:bodyPr>
          <a:lstStyle/>
          <a:p>
            <a:pPr algn="l">
              <a:lnSpc>
                <a:spcPct val="100000"/>
              </a:lnSpc>
              <a:spcAft>
                <a:spcPts val="600"/>
              </a:spcAft>
            </a:pPr>
            <a:r>
              <a:rPr sz="2200" b="1">
                <a:solidFill>
                  <a:srgbClr val="036493"/>
                </a:solidFill>
                <a:latin typeface="Calibri"/>
              </a:rPr>
              <a:t>What this establishes</a:t>
            </a:r>
          </a:p>
        </p:txBody>
      </p:sp>
      <p:sp>
        <p:nvSpPr>
          <p:cNvPr id="3" name="TextBox 2"/>
          <p:cNvSpPr txBox="1"/>
          <p:nvPr/>
        </p:nvSpPr>
        <p:spPr>
          <a:xfrm>
            <a:off x="393192" y="859536"/>
            <a:ext cx="11384280" cy="365760"/>
          </a:xfrm>
          <a:prstGeom prst="rect">
            <a:avLst/>
          </a:prstGeom>
          <a:noFill/>
          <a:ln>
            <a:noFill/>
          </a:ln>
        </p:spPr>
        <p:txBody>
          <a:bodyPr wrap="square" lIns="18288" rIns="18288" tIns="18288" bIns="18288">
            <a:spAutoFit/>
          </a:bodyPr>
          <a:lstStyle/>
          <a:p>
            <a:pPr algn="l">
              <a:lnSpc>
                <a:spcPct val="100000"/>
              </a:lnSpc>
              <a:spcAft>
                <a:spcPts val="600"/>
              </a:spcAft>
            </a:pPr>
            <a:r>
              <a:rPr sz="1350" b="0">
                <a:solidFill>
                  <a:srgbClr val="7F8080"/>
                </a:solidFill>
                <a:latin typeface="Calibri"/>
              </a:rPr>
              <a:t>Findings, and the limits of a district cross-section</a:t>
            </a:r>
          </a:p>
        </p:txBody>
      </p:sp>
      <p:sp>
        <p:nvSpPr>
          <p:cNvPr id="4" name="Rectangle 3"/>
          <p:cNvSpPr/>
          <p:nvPr/>
        </p:nvSpPr>
        <p:spPr>
          <a:xfrm>
            <a:off x="393192" y="6409944"/>
            <a:ext cx="10314432" cy="1"/>
          </a:xfrm>
          <a:prstGeom prst="rect">
            <a:avLst/>
          </a:prstGeom>
          <a:solidFill>
            <a:srgbClr val="CFCF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eew_logo.png"/>
          <p:cNvPicPr>
            <a:picLocks noChangeAspect="1"/>
          </p:cNvPicPr>
          <p:nvPr/>
        </p:nvPicPr>
        <p:blipFill>
          <a:blip r:embed="rId2"/>
          <a:stretch>
            <a:fillRect/>
          </a:stretch>
        </p:blipFill>
        <p:spPr>
          <a:xfrm>
            <a:off x="10954512" y="6053328"/>
            <a:ext cx="1068872" cy="566928"/>
          </a:xfrm>
          <a:prstGeom prst="rect">
            <a:avLst/>
          </a:prstGeom>
        </p:spPr>
      </p:pic>
      <p:sp>
        <p:nvSpPr>
          <p:cNvPr id="6" name="TextBox 5"/>
          <p:cNvSpPr txBox="1"/>
          <p:nvPr/>
        </p:nvSpPr>
        <p:spPr>
          <a:xfrm>
            <a:off x="393192" y="6419088"/>
            <a:ext cx="548640" cy="329184"/>
          </a:xfrm>
          <a:prstGeom prst="rect">
            <a:avLst/>
          </a:prstGeom>
          <a:noFill/>
          <a:ln>
            <a:noFill/>
          </a:ln>
        </p:spPr>
        <p:txBody>
          <a:bodyPr wrap="square" lIns="18288" rIns="18288" tIns="18288" bIns="18288">
            <a:spAutoFit/>
          </a:bodyPr>
          <a:lstStyle/>
          <a:p>
            <a:pPr algn="l">
              <a:lnSpc>
                <a:spcPct val="100000"/>
              </a:lnSpc>
              <a:spcAft>
                <a:spcPts val="600"/>
              </a:spcAft>
            </a:pPr>
            <a:r>
              <a:rPr sz="1300" b="0">
                <a:solidFill>
                  <a:srgbClr val="7F8080"/>
                </a:solidFill>
                <a:latin typeface="Calibri"/>
              </a:rPr>
              <a:t>12</a:t>
            </a:r>
          </a:p>
        </p:txBody>
      </p:sp>
      <p:sp>
        <p:nvSpPr>
          <p:cNvPr id="7" name="Rectangle 6"/>
          <p:cNvSpPr/>
          <p:nvPr/>
        </p:nvSpPr>
        <p:spPr>
          <a:xfrm>
            <a:off x="393192" y="1344168"/>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Established</a:t>
            </a:r>
          </a:p>
          <a:p>
            <a:pPr algn="l">
              <a:lnSpc>
                <a:spcPct val="106000"/>
              </a:lnSpc>
              <a:spcAft>
                <a:spcPts val="0"/>
              </a:spcAft>
            </a:pPr>
            <a:r>
              <a:rPr sz="1300" b="0">
                <a:solidFill>
                  <a:srgbClr val="333232"/>
                </a:solidFill>
                <a:latin typeface="Calibri"/>
              </a:rPr>
              <a:t>The effective number of crops rises with irrigation and then falls, and that shape holds across every version of the estimate. Which source the water comes from carries information that how much a district irrigates does not.</a:t>
            </a:r>
          </a:p>
        </p:txBody>
      </p:sp>
      <p:sp>
        <p:nvSpPr>
          <p:cNvPr id="8" name="Rectangle 7"/>
          <p:cNvSpPr/>
          <p:nvPr/>
        </p:nvSpPr>
        <p:spPr>
          <a:xfrm>
            <a:off x="6240779" y="1344168"/>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Not established</a:t>
            </a:r>
          </a:p>
          <a:p>
            <a:pPr algn="l">
              <a:lnSpc>
                <a:spcPct val="106000"/>
              </a:lnSpc>
              <a:spcAft>
                <a:spcPts val="0"/>
              </a:spcAft>
            </a:pPr>
            <a:r>
              <a:rPr sz="1300" b="0">
                <a:solidFill>
                  <a:srgbClr val="333232"/>
                </a:solidFill>
                <a:latin typeface="Calibri"/>
              </a:rPr>
              <a:t>None of this is identified. Irrigation systems and market infrastructure sit where terrain, aquifers and existing agriculture already favoured them.</a:t>
            </a:r>
          </a:p>
        </p:txBody>
      </p:sp>
      <p:sp>
        <p:nvSpPr>
          <p:cNvPr id="9" name="Rectangle 8"/>
          <p:cNvSpPr/>
          <p:nvPr/>
        </p:nvSpPr>
        <p:spPr>
          <a:xfrm>
            <a:off x="393192" y="3054096"/>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Where the data is thin</a:t>
            </a:r>
          </a:p>
          <a:p>
            <a:pPr algn="l">
              <a:lnSpc>
                <a:spcPct val="106000"/>
              </a:lnSpc>
              <a:spcAft>
                <a:spcPts val="0"/>
              </a:spcAft>
            </a:pPr>
            <a:r>
              <a:rPr sz="1300" b="0">
                <a:solidFill>
                  <a:srgbClr val="333232"/>
                </a:solidFill>
                <a:latin typeface="Calibri"/>
              </a:rPr>
              <a:t>Rural structure is a single 2019-20 cross-section against cropping averaged over two decades, which suits slow-moving infrastructure. Holding size is inferred rather than measured and is null throughout.</a:t>
            </a:r>
          </a:p>
        </p:txBody>
      </p:sp>
      <p:sp>
        <p:nvSpPr>
          <p:cNvPr id="10" name="Rectangle 9"/>
          <p:cNvSpPr/>
          <p:nvPr/>
        </p:nvSpPr>
        <p:spPr>
          <a:xfrm>
            <a:off x="6240779" y="3054096"/>
            <a:ext cx="5536692" cy="1572768"/>
          </a:xfrm>
          <a:prstGeom prst="rect">
            <a:avLst/>
          </a:prstGeom>
          <a:solidFill>
            <a:srgbClr val="FFFFFF"/>
          </a:solidFill>
          <a:ln w="9525">
            <a:solidFill>
              <a:srgbClr val="CFCFCE"/>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18872" tIns="118872" bIns="91440"/>
          <a:lstStyle/>
          <a:p>
            <a:pPr algn="l">
              <a:lnSpc>
                <a:spcPct val="106000"/>
              </a:lnSpc>
              <a:spcAft>
                <a:spcPts val="300"/>
              </a:spcAft>
            </a:pPr>
            <a:r>
              <a:rPr sz="1300" b="1">
                <a:solidFill>
                  <a:srgbClr val="333232"/>
                </a:solidFill>
                <a:latin typeface="Calibri"/>
              </a:rPr>
              <a:t>What would sharpen it</a:t>
            </a:r>
          </a:p>
          <a:p>
            <a:pPr algn="l">
              <a:lnSpc>
                <a:spcPct val="106000"/>
              </a:lnSpc>
              <a:spcAft>
                <a:spcPts val="0"/>
              </a:spcAft>
            </a:pPr>
            <a:r>
              <a:rPr sz="1300" b="0">
                <a:solidFill>
                  <a:srgbClr val="333232"/>
                </a:solidFill>
                <a:latin typeface="Calibri"/>
              </a:rPr>
              <a:t>District procurement volumes, which are not published at that granularity, and an agricultural census measure of operational holdings in place of the inferred one.</a:t>
            </a:r>
          </a:p>
        </p:txBody>
      </p:sp>
      <p:sp>
        <p:nvSpPr>
          <p:cNvPr id="11" name="Rectangle 10"/>
          <p:cNvSpPr/>
          <p:nvPr/>
        </p:nvSpPr>
        <p:spPr>
          <a:xfrm>
            <a:off x="393192" y="4892040"/>
            <a:ext cx="11384280" cy="731520"/>
          </a:xfrm>
          <a:prstGeom prst="rect">
            <a:avLst/>
          </a:prstGeom>
          <a:solidFill>
            <a:srgbClr val="86B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4892040"/>
            <a:ext cx="50292" cy="731520"/>
          </a:xfrm>
          <a:prstGeom prst="rect">
            <a:avLst/>
          </a:prstGeom>
          <a:solidFill>
            <a:srgbClr val="E857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7" y="4933188"/>
            <a:ext cx="10972800" cy="667512"/>
          </a:xfrm>
          <a:prstGeom prst="rect">
            <a:avLst/>
          </a:prstGeom>
          <a:noFill/>
          <a:ln>
            <a:noFill/>
          </a:ln>
        </p:spPr>
        <p:txBody>
          <a:bodyPr wrap="square" lIns="18288" rIns="18288" tIns="18288" bIns="18288">
            <a:spAutoFit/>
          </a:bodyPr>
          <a:lstStyle/>
          <a:p>
            <a:pPr algn="l">
              <a:lnSpc>
                <a:spcPct val="104000"/>
              </a:lnSpc>
              <a:spcAft>
                <a:spcPts val="200"/>
              </a:spcAft>
            </a:pPr>
            <a:r>
              <a:rPr sz="1650" b="1">
                <a:solidFill>
                  <a:srgbClr val="333232"/>
                </a:solidFill>
                <a:latin typeface="Calibri"/>
              </a:rPr>
              <a:t>The cropping pattern is arranged around water type and market type</a:t>
            </a:r>
          </a:p>
          <a:p>
            <a:pPr algn="l">
              <a:lnSpc>
                <a:spcPct val="104000"/>
              </a:lnSpc>
              <a:spcAft>
                <a:spcPts val="200"/>
              </a:spcAft>
            </a:pPr>
            <a:r>
              <a:rPr sz="1350" b="0">
                <a:solidFill>
                  <a:srgbClr val="333232"/>
                </a:solidFill>
                <a:latin typeface="Calibri"/>
              </a:rPr>
              <a:t>Both carry more than the quantities usually used to stand in for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