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What rides on a district's crop mix</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What a district's crop mix decides, and what this settles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a:t>
            </a:r>
          </a:p>
        </p:txBody>
      </p:sp>
      <p:sp>
        <p:nvSpPr>
          <p:cNvPr id="7" name="Rectangle 6"/>
          <p:cNvSpPr/>
          <p:nvPr/>
        </p:nvSpPr>
        <p:spPr>
          <a:xfrm>
            <a:off x="393192" y="1261872"/>
            <a:ext cx="11384280" cy="859536"/>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0"/>
              </a:spcAft>
            </a:pPr>
            <a:r>
              <a:rPr sz="1300" b="0">
                <a:solidFill>
                  <a:srgbClr val="333232"/>
                </a:solidFill>
                <a:latin typeface="Calibri"/>
              </a:rPr>
              <a:t>A district that puts four fifths of its cropped area under one crop is exposed to that crop's price and that crop's water demand. The mix sits underneath groundwater draw, procurement exposure and what a farming household earns in a bad year. District statistics report area by crop every year and carry no measure of how that area is split.</a:t>
            </a:r>
          </a:p>
        </p:txBody>
      </p:sp>
      <p:sp>
        <p:nvSpPr>
          <p:cNvPr id="8" name="Rectangle 7"/>
          <p:cNvSpPr/>
          <p:nvPr/>
        </p:nvSpPr>
        <p:spPr>
          <a:xfrm>
            <a:off x="393192" y="2176272"/>
            <a:ext cx="3587496" cy="1792224"/>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300" b="1">
                <a:solidFill>
                  <a:srgbClr val="333232"/>
                </a:solidFill>
                <a:latin typeface="Calibri"/>
              </a:rPr>
              <a:t>What was open</a:t>
            </a:r>
          </a:p>
          <a:p>
            <a:pPr algn="l">
              <a:lnSpc>
                <a:spcPct val="106000"/>
              </a:lnSpc>
              <a:spcAft>
                <a:spcPts val="0"/>
              </a:spcAft>
            </a:pPr>
            <a:r>
              <a:rPr sz="1300" b="0">
                <a:solidFill>
                  <a:srgbClr val="333232"/>
                </a:solidFill>
                <a:latin typeface="Calibri"/>
              </a:rPr>
              <a:t>Whether a district's crop mix follows the water it has, the markets it can reach or its agrarian structure. Cropping statistics carry area by crop and village records carry the rest, and the two have not been read together.</a:t>
            </a:r>
          </a:p>
        </p:txBody>
      </p:sp>
      <p:sp>
        <p:nvSpPr>
          <p:cNvPr id="9" name="Rectangle 8"/>
          <p:cNvSpPr/>
          <p:nvPr/>
        </p:nvSpPr>
        <p:spPr>
          <a:xfrm>
            <a:off x="4291584" y="2176272"/>
            <a:ext cx="3587496" cy="1792224"/>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300" b="1">
                <a:solidFill>
                  <a:srgbClr val="333232"/>
                </a:solidFill>
                <a:latin typeface="Calibri"/>
              </a:rPr>
              <a:t>The record</a:t>
            </a:r>
          </a:p>
          <a:p>
            <a:pPr algn="l">
              <a:lnSpc>
                <a:spcPct val="106000"/>
              </a:lnSpc>
              <a:spcAft>
                <a:spcPts val="0"/>
              </a:spcAft>
            </a:pPr>
            <a:r>
              <a:rPr sz="1300" b="0">
                <a:solidFill>
                  <a:srgbClr val="333232"/>
                </a:solidFill>
                <a:latin typeface="Calibri"/>
              </a:rPr>
              <a:t>Ministry of Agriculture district statistics: area and production by crop and season, 54 crops, 23 agricultural years, 14,089 district-year records. Village records on irrigation, markets, input supply and agrarian structure, aggregated to district.</a:t>
            </a:r>
          </a:p>
        </p:txBody>
      </p:sp>
      <p:sp>
        <p:nvSpPr>
          <p:cNvPr id="10" name="Rectangle 9"/>
          <p:cNvSpPr/>
          <p:nvPr/>
        </p:nvSpPr>
        <p:spPr>
          <a:xfrm>
            <a:off x="8189976" y="2176272"/>
            <a:ext cx="3587496" cy="1792224"/>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300" b="1">
                <a:solidFill>
                  <a:srgbClr val="333232"/>
                </a:solidFill>
                <a:latin typeface="Calibri"/>
              </a:rPr>
              <a:t>What this settles</a:t>
            </a:r>
          </a:p>
          <a:p>
            <a:pPr algn="l">
              <a:lnSpc>
                <a:spcPct val="106000"/>
              </a:lnSpc>
              <a:spcAft>
                <a:spcPts val="0"/>
              </a:spcAft>
            </a:pPr>
            <a:r>
              <a:rPr sz="1300" b="0">
                <a:solidFill>
                  <a:srgbClr val="333232"/>
                </a:solidFill>
                <a:latin typeface="Calibri"/>
              </a:rPr>
              <a:t>A measure of the crop mix that reads as a count of crops, the national picture and its geography, thirteen candidate explanations screened on one sample, and five taken forward with the coefficient that decides each.</a:t>
            </a:r>
          </a:p>
        </p:txBody>
      </p:sp>
      <p:sp>
        <p:nvSpPr>
          <p:cNvPr id="11" name="Rectangle 10"/>
          <p:cNvSpPr/>
          <p:nvPr/>
        </p:nvSpPr>
        <p:spPr>
          <a:xfrm>
            <a:off x="393192" y="4078224"/>
            <a:ext cx="2612898" cy="713232"/>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91440" bIns="73152"/>
          <a:lstStyle/>
          <a:p>
            <a:pPr algn="l">
              <a:lnSpc>
                <a:spcPct val="106000"/>
              </a:lnSpc>
              <a:spcAft>
                <a:spcPts val="300"/>
              </a:spcAft>
            </a:pPr>
            <a:r>
              <a:rPr sz="1900" b="1">
                <a:solidFill>
                  <a:srgbClr val="E85724"/>
                </a:solidFill>
                <a:latin typeface="Calibri"/>
              </a:rPr>
              <a:t>725</a:t>
            </a:r>
          </a:p>
          <a:p>
            <a:pPr algn="l">
              <a:lnSpc>
                <a:spcPct val="106000"/>
              </a:lnSpc>
              <a:spcAft>
                <a:spcPts val="0"/>
              </a:spcAft>
            </a:pPr>
            <a:r>
              <a:rPr sz="1050" b="0">
                <a:solidFill>
                  <a:srgbClr val="7F8080"/>
                </a:solidFill>
                <a:latin typeface="Calibri"/>
              </a:rPr>
              <a:t>districts with a cropping record</a:t>
            </a:r>
          </a:p>
        </p:txBody>
      </p:sp>
      <p:sp>
        <p:nvSpPr>
          <p:cNvPr id="12" name="Rectangle 11"/>
          <p:cNvSpPr/>
          <p:nvPr/>
        </p:nvSpPr>
        <p:spPr>
          <a:xfrm>
            <a:off x="3316986" y="4078224"/>
            <a:ext cx="2612898" cy="713232"/>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91440" bIns="73152"/>
          <a:lstStyle/>
          <a:p>
            <a:pPr algn="l">
              <a:lnSpc>
                <a:spcPct val="106000"/>
              </a:lnSpc>
              <a:spcAft>
                <a:spcPts val="300"/>
              </a:spcAft>
            </a:pPr>
            <a:r>
              <a:rPr sz="1900" b="1">
                <a:solidFill>
                  <a:srgbClr val="E85724"/>
                </a:solidFill>
                <a:latin typeface="Calibri"/>
              </a:rPr>
              <a:t>606</a:t>
            </a:r>
          </a:p>
          <a:p>
            <a:pPr algn="l">
              <a:lnSpc>
                <a:spcPct val="106000"/>
              </a:lnSpc>
              <a:spcAft>
                <a:spcPts val="0"/>
              </a:spcAft>
            </a:pPr>
            <a:r>
              <a:rPr sz="1050" b="0">
                <a:solidFill>
                  <a:srgbClr val="7F8080"/>
                </a:solidFill>
                <a:latin typeface="Calibri"/>
              </a:rPr>
              <a:t>carrying village records too</a:t>
            </a:r>
          </a:p>
        </p:txBody>
      </p:sp>
      <p:sp>
        <p:nvSpPr>
          <p:cNvPr id="13" name="Rectangle 12"/>
          <p:cNvSpPr/>
          <p:nvPr/>
        </p:nvSpPr>
        <p:spPr>
          <a:xfrm>
            <a:off x="6240780" y="4078224"/>
            <a:ext cx="2612898" cy="713232"/>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91440" bIns="73152"/>
          <a:lstStyle/>
          <a:p>
            <a:pPr algn="l">
              <a:lnSpc>
                <a:spcPct val="106000"/>
              </a:lnSpc>
              <a:spcAft>
                <a:spcPts val="300"/>
              </a:spcAft>
            </a:pPr>
            <a:r>
              <a:rPr sz="1900" b="1">
                <a:solidFill>
                  <a:srgbClr val="E85724"/>
                </a:solidFill>
                <a:latin typeface="Calibri"/>
              </a:rPr>
              <a:t>54</a:t>
            </a:r>
          </a:p>
          <a:p>
            <a:pPr algn="l">
              <a:lnSpc>
                <a:spcPct val="106000"/>
              </a:lnSpc>
              <a:spcAft>
                <a:spcPts val="0"/>
              </a:spcAft>
            </a:pPr>
            <a:r>
              <a:rPr sz="1050" b="0">
                <a:solidFill>
                  <a:srgbClr val="7F8080"/>
                </a:solidFill>
                <a:latin typeface="Calibri"/>
              </a:rPr>
              <a:t>crops</a:t>
            </a:r>
          </a:p>
        </p:txBody>
      </p:sp>
      <p:sp>
        <p:nvSpPr>
          <p:cNvPr id="14" name="Rectangle 13"/>
          <p:cNvSpPr/>
          <p:nvPr/>
        </p:nvSpPr>
        <p:spPr>
          <a:xfrm>
            <a:off x="9164574" y="4078224"/>
            <a:ext cx="2612898" cy="713232"/>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91440" bIns="73152"/>
          <a:lstStyle/>
          <a:p>
            <a:pPr algn="l">
              <a:lnSpc>
                <a:spcPct val="106000"/>
              </a:lnSpc>
              <a:spcAft>
                <a:spcPts val="300"/>
              </a:spcAft>
            </a:pPr>
            <a:r>
              <a:rPr sz="1900" b="1">
                <a:solidFill>
                  <a:srgbClr val="E85724"/>
                </a:solidFill>
                <a:latin typeface="Calibri"/>
              </a:rPr>
              <a:t>23</a:t>
            </a:r>
          </a:p>
          <a:p>
            <a:pPr algn="l">
              <a:lnSpc>
                <a:spcPct val="106000"/>
              </a:lnSpc>
              <a:spcAft>
                <a:spcPts val="0"/>
              </a:spcAft>
            </a:pPr>
            <a:r>
              <a:rPr sz="1050" b="0">
                <a:solidFill>
                  <a:srgbClr val="7F8080"/>
                </a:solidFill>
                <a:latin typeface="Calibri"/>
              </a:rPr>
              <a:t>agricultural years</a:t>
            </a:r>
          </a:p>
        </p:txBody>
      </p:sp>
      <p:sp>
        <p:nvSpPr>
          <p:cNvPr id="15" name="Rectangle 14"/>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Half of a district's cropped area sits under its single largest crop</a:t>
            </a:r>
          </a:p>
          <a:p>
            <a:pPr algn="l">
              <a:lnSpc>
                <a:spcPct val="104000"/>
              </a:lnSpc>
              <a:spcAft>
                <a:spcPts val="200"/>
              </a:spcAft>
            </a:pPr>
            <a:r>
              <a:rPr sz="1350" b="0">
                <a:solidFill>
                  <a:srgbClr val="333232"/>
                </a:solidFill>
                <a:latin typeface="Calibri"/>
              </a:rPr>
              <a:t>The largest crop takes 50.6 percent of cropped area across the 725 districts, and the top three take 80.3 percent.</a:t>
            </a:r>
          </a:p>
        </p:txBody>
      </p:sp>
      <p:sp>
        <p:nvSpPr>
          <p:cNvPr id="18" name="TextBox 17"/>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The join matches 99.6 percent of the cropping record, and 64 of the 606 districts sit on a shared pre-2011 parent, which every estimate is tested against.</a:t>
            </a:r>
          </a:p>
        </p:txBody>
      </p:sp>
      <p:sp>
        <p:nvSpPr>
          <p:cNvPr id="19" name="TextBox 18"/>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Counting crops and weighting them</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The effective number of crops against crops grown in an average year, by district</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2</a:t>
            </a:r>
          </a:p>
        </p:txBody>
      </p:sp>
      <p:pic>
        <p:nvPicPr>
          <p:cNvPr id="7" name="Picture 6" descr="f1_count_vs_effective.png"/>
          <p:cNvPicPr>
            <a:picLocks noChangeAspect="1"/>
          </p:cNvPicPr>
          <p:nvPr/>
        </p:nvPicPr>
        <p:blipFill>
          <a:blip r:embed="rId3"/>
          <a:stretch>
            <a:fillRect/>
          </a:stretch>
        </p:blipFill>
        <p:spPr>
          <a:xfrm>
            <a:off x="1008282" y="1371600"/>
            <a:ext cx="4306510" cy="3108960"/>
          </a:xfrm>
          <a:prstGeom prst="rect">
            <a:avLst/>
          </a:prstGeom>
        </p:spPr>
      </p:pic>
      <p:sp>
        <p:nvSpPr>
          <p:cNvPr id="8" name="TextBox 7"/>
          <p:cNvSpPr txBox="1"/>
          <p:nvPr/>
        </p:nvSpPr>
        <p:spPr>
          <a:xfrm>
            <a:off x="6240779" y="1298448"/>
            <a:ext cx="210312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Measure</a:t>
            </a:r>
          </a:p>
        </p:txBody>
      </p:sp>
      <p:sp>
        <p:nvSpPr>
          <p:cNvPr id="9" name="TextBox 8"/>
          <p:cNvSpPr txBox="1"/>
          <p:nvPr/>
        </p:nvSpPr>
        <p:spPr>
          <a:xfrm>
            <a:off x="8343900" y="1298448"/>
            <a:ext cx="59436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Mean</a:t>
            </a:r>
          </a:p>
        </p:txBody>
      </p:sp>
      <p:sp>
        <p:nvSpPr>
          <p:cNvPr id="10" name="TextBox 9"/>
          <p:cNvSpPr txBox="1"/>
          <p:nvPr/>
        </p:nvSpPr>
        <p:spPr>
          <a:xfrm>
            <a:off x="8938260" y="1298448"/>
            <a:ext cx="2839212"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What it reads as</a:t>
            </a:r>
          </a:p>
        </p:txBody>
      </p:sp>
      <p:sp>
        <p:nvSpPr>
          <p:cNvPr id="11" name="Rectangle 10"/>
          <p:cNvSpPr/>
          <p:nvPr/>
        </p:nvSpPr>
        <p:spPr>
          <a:xfrm>
            <a:off x="6240779" y="1554480"/>
            <a:ext cx="5536692"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0779" y="1566367"/>
            <a:ext cx="2103120"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Crops grown in an average year</a:t>
            </a:r>
          </a:p>
        </p:txBody>
      </p:sp>
      <p:sp>
        <p:nvSpPr>
          <p:cNvPr id="13" name="TextBox 12"/>
          <p:cNvSpPr txBox="1"/>
          <p:nvPr/>
        </p:nvSpPr>
        <p:spPr>
          <a:xfrm>
            <a:off x="8343900" y="1566367"/>
            <a:ext cx="594360" cy="347472"/>
          </a:xfrm>
          <a:prstGeom prst="rect">
            <a:avLst/>
          </a:prstGeom>
          <a:noFill/>
          <a:ln>
            <a:noFill/>
          </a:ln>
        </p:spPr>
        <p:txBody>
          <a:bodyPr wrap="square" lIns="45720" rIns="45720" tIns="18288" bIns="18288" anchor="t">
            <a:spAutoFit/>
          </a:bodyPr>
          <a:lstStyle/>
          <a:p>
            <a:pPr algn="r">
              <a:lnSpc>
                <a:spcPct val="106000"/>
              </a:lnSpc>
              <a:spcAft>
                <a:spcPts val="0"/>
              </a:spcAft>
            </a:pPr>
            <a:r>
              <a:rPr sz="900" b="0">
                <a:solidFill>
                  <a:srgbClr val="333232"/>
                </a:solidFill>
                <a:latin typeface="Calibri"/>
              </a:rPr>
              <a:t>21.2</a:t>
            </a:r>
          </a:p>
        </p:txBody>
      </p:sp>
      <p:sp>
        <p:nvSpPr>
          <p:cNvPr id="14" name="TextBox 13"/>
          <p:cNvSpPr txBox="1"/>
          <p:nvPr/>
        </p:nvSpPr>
        <p:spPr>
          <a:xfrm>
            <a:off x="8938260" y="1566367"/>
            <a:ext cx="2839212"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crops with any recorded area</a:t>
            </a:r>
          </a:p>
        </p:txBody>
      </p:sp>
      <p:sp>
        <p:nvSpPr>
          <p:cNvPr id="15" name="Rectangle 14"/>
          <p:cNvSpPr/>
          <p:nvPr/>
        </p:nvSpPr>
        <p:spPr>
          <a:xfrm>
            <a:off x="6240779" y="1913839"/>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0779" y="1921154"/>
            <a:ext cx="2103120"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Effective number of crops</a:t>
            </a:r>
          </a:p>
        </p:txBody>
      </p:sp>
      <p:sp>
        <p:nvSpPr>
          <p:cNvPr id="17" name="TextBox 16"/>
          <p:cNvSpPr txBox="1"/>
          <p:nvPr/>
        </p:nvSpPr>
        <p:spPr>
          <a:xfrm>
            <a:off x="8343900" y="1921154"/>
            <a:ext cx="594360" cy="347472"/>
          </a:xfrm>
          <a:prstGeom prst="rect">
            <a:avLst/>
          </a:prstGeom>
          <a:noFill/>
          <a:ln>
            <a:noFill/>
          </a:ln>
        </p:spPr>
        <p:txBody>
          <a:bodyPr wrap="square" lIns="45720" rIns="45720" tIns="18288" bIns="18288" anchor="t">
            <a:spAutoFit/>
          </a:bodyPr>
          <a:lstStyle/>
          <a:p>
            <a:pPr algn="r">
              <a:lnSpc>
                <a:spcPct val="106000"/>
              </a:lnSpc>
              <a:spcAft>
                <a:spcPts val="0"/>
              </a:spcAft>
            </a:pPr>
            <a:r>
              <a:rPr sz="900" b="0">
                <a:solidFill>
                  <a:srgbClr val="333232"/>
                </a:solidFill>
                <a:latin typeface="Calibri"/>
              </a:rPr>
              <a:t>4.9</a:t>
            </a:r>
          </a:p>
        </p:txBody>
      </p:sp>
      <p:sp>
        <p:nvSpPr>
          <p:cNvPr id="18" name="TextBox 17"/>
          <p:cNvSpPr txBox="1"/>
          <p:nvPr/>
        </p:nvSpPr>
        <p:spPr>
          <a:xfrm>
            <a:off x="8938260" y="1921154"/>
            <a:ext cx="2839212"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equally common crops giving the same diversity</a:t>
            </a:r>
          </a:p>
        </p:txBody>
      </p:sp>
      <p:sp>
        <p:nvSpPr>
          <p:cNvPr id="19" name="Rectangle 18"/>
          <p:cNvSpPr/>
          <p:nvPr/>
        </p:nvSpPr>
        <p:spPr>
          <a:xfrm>
            <a:off x="6240779" y="2268626"/>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0779" y="2275941"/>
            <a:ext cx="2103120"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Effective number weighted to the dominant crops</a:t>
            </a:r>
          </a:p>
        </p:txBody>
      </p:sp>
      <p:sp>
        <p:nvSpPr>
          <p:cNvPr id="21" name="TextBox 20"/>
          <p:cNvSpPr txBox="1"/>
          <p:nvPr/>
        </p:nvSpPr>
        <p:spPr>
          <a:xfrm>
            <a:off x="8343900" y="2275941"/>
            <a:ext cx="594360" cy="347472"/>
          </a:xfrm>
          <a:prstGeom prst="rect">
            <a:avLst/>
          </a:prstGeom>
          <a:noFill/>
          <a:ln>
            <a:noFill/>
          </a:ln>
        </p:spPr>
        <p:txBody>
          <a:bodyPr wrap="square" lIns="45720" rIns="45720" tIns="18288" bIns="18288" anchor="t">
            <a:spAutoFit/>
          </a:bodyPr>
          <a:lstStyle/>
          <a:p>
            <a:pPr algn="r">
              <a:lnSpc>
                <a:spcPct val="106000"/>
              </a:lnSpc>
              <a:spcAft>
                <a:spcPts val="0"/>
              </a:spcAft>
            </a:pPr>
            <a:r>
              <a:rPr sz="900" b="0">
                <a:solidFill>
                  <a:srgbClr val="333232"/>
                </a:solidFill>
                <a:latin typeface="Calibri"/>
              </a:rPr>
              <a:t>3.5</a:t>
            </a:r>
          </a:p>
        </p:txBody>
      </p:sp>
      <p:sp>
        <p:nvSpPr>
          <p:cNvPr id="22" name="TextBox 21"/>
          <p:cNvSpPr txBox="1"/>
          <p:nvPr/>
        </p:nvSpPr>
        <p:spPr>
          <a:xfrm>
            <a:off x="8938260" y="2275941"/>
            <a:ext cx="2839212"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the same, with rare crops discounted further</a:t>
            </a:r>
          </a:p>
        </p:txBody>
      </p:sp>
      <p:sp>
        <p:nvSpPr>
          <p:cNvPr id="23" name="Rectangle 22"/>
          <p:cNvSpPr/>
          <p:nvPr/>
        </p:nvSpPr>
        <p:spPr>
          <a:xfrm>
            <a:off x="6240779" y="2623413"/>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0779" y="2630728"/>
            <a:ext cx="2103120"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Evenness</a:t>
            </a:r>
          </a:p>
        </p:txBody>
      </p:sp>
      <p:sp>
        <p:nvSpPr>
          <p:cNvPr id="25" name="TextBox 24"/>
          <p:cNvSpPr txBox="1"/>
          <p:nvPr/>
        </p:nvSpPr>
        <p:spPr>
          <a:xfrm>
            <a:off x="8343900" y="2630728"/>
            <a:ext cx="594360" cy="347472"/>
          </a:xfrm>
          <a:prstGeom prst="rect">
            <a:avLst/>
          </a:prstGeom>
          <a:noFill/>
          <a:ln>
            <a:noFill/>
          </a:ln>
        </p:spPr>
        <p:txBody>
          <a:bodyPr wrap="square" lIns="45720" rIns="45720" tIns="18288" bIns="18288" anchor="t">
            <a:spAutoFit/>
          </a:bodyPr>
          <a:lstStyle/>
          <a:p>
            <a:pPr algn="r">
              <a:lnSpc>
                <a:spcPct val="106000"/>
              </a:lnSpc>
              <a:spcAft>
                <a:spcPts val="0"/>
              </a:spcAft>
            </a:pPr>
            <a:r>
              <a:rPr sz="900" b="0">
                <a:solidFill>
                  <a:srgbClr val="333232"/>
                </a:solidFill>
                <a:latin typeface="Calibri"/>
              </a:rPr>
              <a:t>0.254</a:t>
            </a:r>
          </a:p>
        </p:txBody>
      </p:sp>
      <p:sp>
        <p:nvSpPr>
          <p:cNvPr id="26" name="TextBox 25"/>
          <p:cNvSpPr txBox="1"/>
          <p:nvPr/>
        </p:nvSpPr>
        <p:spPr>
          <a:xfrm>
            <a:off x="8938260" y="2630728"/>
            <a:ext cx="2839212" cy="347472"/>
          </a:xfrm>
          <a:prstGeom prst="rect">
            <a:avLst/>
          </a:prstGeom>
          <a:noFill/>
          <a:ln>
            <a:noFill/>
          </a:ln>
        </p:spPr>
        <p:txBody>
          <a:bodyPr wrap="square" lIns="45720" rIns="45720" tIns="18288" bIns="18288" anchor="t">
            <a:spAutoFit/>
          </a:bodyPr>
          <a:lstStyle/>
          <a:p>
            <a:pPr algn="l">
              <a:lnSpc>
                <a:spcPct val="106000"/>
              </a:lnSpc>
              <a:spcAft>
                <a:spcPts val="0"/>
              </a:spcAft>
            </a:pPr>
            <a:r>
              <a:rPr sz="900" b="0">
                <a:solidFill>
                  <a:srgbClr val="333232"/>
                </a:solidFill>
                <a:latin typeface="Calibri"/>
              </a:rPr>
              <a:t>the effective number over the count</a:t>
            </a:r>
          </a:p>
        </p:txBody>
      </p:sp>
      <p:sp>
        <p:nvSpPr>
          <p:cNvPr id="27" name="Rectangle 26"/>
          <p:cNvSpPr/>
          <p:nvPr/>
        </p:nvSpPr>
        <p:spPr>
          <a:xfrm>
            <a:off x="6240779" y="2978200"/>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0779" y="3017520"/>
            <a:ext cx="5536692" cy="178308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300" b="0">
                <a:solidFill>
                  <a:srgbClr val="333232"/>
                </a:solidFill>
                <a:latin typeface="Calibri"/>
              </a:rPr>
              <a:t>Across the 606 districts the effective number of crops runs 2.4 at the tenth percentile, 4.3 at the median and 8.1 at the ninetieth.</a:t>
            </a:r>
          </a:p>
          <a:p>
            <a:pPr algn="l">
              <a:lnSpc>
                <a:spcPct val="106000"/>
              </a:lnSpc>
              <a:spcAft>
                <a:spcPts val="0"/>
              </a:spcAft>
            </a:pPr>
            <a:r>
              <a:rPr sz="1300" b="0">
                <a:solidFill>
                  <a:srgbClr val="333232"/>
                </a:solidFill>
                <a:latin typeface="Calibri"/>
              </a:rPr>
              <a:t>The effective number of crops is the exponential of the Shannon entropy of a district's cropped-area shares, taken within each year and then averaged. It reads as a count. A district growing twenty crops with four fifths of its land under paddy farms like one growing three, and the measure says three.</a:t>
            </a:r>
          </a:p>
        </p:txBody>
      </p:sp>
      <p:sp>
        <p:nvSpPr>
          <p:cNvPr id="29" name="Rectangle 28"/>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The average district is effectively growing five crops</a:t>
            </a:r>
          </a:p>
          <a:p>
            <a:pPr algn="l">
              <a:lnSpc>
                <a:spcPct val="104000"/>
              </a:lnSpc>
              <a:spcAft>
                <a:spcPts val="200"/>
              </a:spcAft>
            </a:pPr>
            <a:r>
              <a:rPr sz="1350" b="0">
                <a:solidFill>
                  <a:srgbClr val="333232"/>
                </a:solidFill>
                <a:latin typeface="Calibri"/>
              </a:rPr>
              <a:t>It grows 21.2 crops in an average year, and evenness across the 606 districts averages 0.254.</a:t>
            </a:r>
          </a:p>
        </p:txBody>
      </p:sp>
      <p:sp>
        <p:nvSpPr>
          <p:cNvPr id="32" name="TextBox 31"/>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Measured within an agricultural year and then averaged. The composite index used in earlier work is a min-max blend whose district scores move by up to 0.0156 when the sample changes.</a:t>
            </a:r>
          </a:p>
        </p:txBody>
      </p:sp>
      <p:sp>
        <p:nvSpPr>
          <p:cNvPr id="33" name="TextBox 32"/>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The national picture in numbers</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Cropping, composition and rural structure across 606 districts in 30 states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3</a:t>
            </a:r>
          </a:p>
        </p:txBody>
      </p:sp>
      <p:sp>
        <p:nvSpPr>
          <p:cNvPr id="7" name="TextBox 6"/>
          <p:cNvSpPr txBox="1"/>
          <p:nvPr/>
        </p:nvSpPr>
        <p:spPr>
          <a:xfrm>
            <a:off x="393192" y="1243584"/>
            <a:ext cx="484632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Cropping, across the 606 districts</a:t>
            </a:r>
          </a:p>
        </p:txBody>
      </p:sp>
      <p:sp>
        <p:nvSpPr>
          <p:cNvPr id="8" name="TextBox 7"/>
          <p:cNvSpPr txBox="1"/>
          <p:nvPr/>
        </p:nvSpPr>
        <p:spPr>
          <a:xfrm>
            <a:off x="393192" y="1517904"/>
            <a:ext cx="210312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Measure</a:t>
            </a:r>
          </a:p>
        </p:txBody>
      </p:sp>
      <p:sp>
        <p:nvSpPr>
          <p:cNvPr id="9" name="TextBox 8"/>
          <p:cNvSpPr txBox="1"/>
          <p:nvPr/>
        </p:nvSpPr>
        <p:spPr>
          <a:xfrm>
            <a:off x="2496312" y="1517904"/>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Mean</a:t>
            </a:r>
          </a:p>
        </p:txBody>
      </p:sp>
      <p:sp>
        <p:nvSpPr>
          <p:cNvPr id="10" name="TextBox 9"/>
          <p:cNvSpPr txBox="1"/>
          <p:nvPr/>
        </p:nvSpPr>
        <p:spPr>
          <a:xfrm>
            <a:off x="3182112" y="1517904"/>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10th</a:t>
            </a:r>
          </a:p>
        </p:txBody>
      </p:sp>
      <p:sp>
        <p:nvSpPr>
          <p:cNvPr id="11" name="TextBox 10"/>
          <p:cNvSpPr txBox="1"/>
          <p:nvPr/>
        </p:nvSpPr>
        <p:spPr>
          <a:xfrm>
            <a:off x="3867912" y="1517904"/>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Median</a:t>
            </a:r>
          </a:p>
        </p:txBody>
      </p:sp>
      <p:sp>
        <p:nvSpPr>
          <p:cNvPr id="12" name="TextBox 11"/>
          <p:cNvSpPr txBox="1"/>
          <p:nvPr/>
        </p:nvSpPr>
        <p:spPr>
          <a:xfrm>
            <a:off x="4553712" y="1517904"/>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90th</a:t>
            </a:r>
          </a:p>
        </p:txBody>
      </p:sp>
      <p:sp>
        <p:nvSpPr>
          <p:cNvPr id="13" name="Rectangle 12"/>
          <p:cNvSpPr/>
          <p:nvPr/>
        </p:nvSpPr>
        <p:spPr>
          <a:xfrm>
            <a:off x="393192" y="1773936"/>
            <a:ext cx="484632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 y="1785823"/>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Crops grown in an average year</a:t>
            </a:r>
          </a:p>
        </p:txBody>
      </p:sp>
      <p:sp>
        <p:nvSpPr>
          <p:cNvPr id="15" name="TextBox 14"/>
          <p:cNvSpPr txBox="1"/>
          <p:nvPr/>
        </p:nvSpPr>
        <p:spPr>
          <a:xfrm>
            <a:off x="2496312" y="178582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21.2</a:t>
            </a:r>
          </a:p>
        </p:txBody>
      </p:sp>
      <p:sp>
        <p:nvSpPr>
          <p:cNvPr id="16" name="TextBox 15"/>
          <p:cNvSpPr txBox="1"/>
          <p:nvPr/>
        </p:nvSpPr>
        <p:spPr>
          <a:xfrm>
            <a:off x="3182112" y="178582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11.1</a:t>
            </a:r>
          </a:p>
        </p:txBody>
      </p:sp>
      <p:sp>
        <p:nvSpPr>
          <p:cNvPr id="17" name="TextBox 16"/>
          <p:cNvSpPr txBox="1"/>
          <p:nvPr/>
        </p:nvSpPr>
        <p:spPr>
          <a:xfrm>
            <a:off x="3867912" y="178582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22.4</a:t>
            </a:r>
          </a:p>
        </p:txBody>
      </p:sp>
      <p:sp>
        <p:nvSpPr>
          <p:cNvPr id="18" name="TextBox 17"/>
          <p:cNvSpPr txBox="1"/>
          <p:nvPr/>
        </p:nvSpPr>
        <p:spPr>
          <a:xfrm>
            <a:off x="4553712" y="178582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29.3</a:t>
            </a:r>
          </a:p>
        </p:txBody>
      </p:sp>
      <p:sp>
        <p:nvSpPr>
          <p:cNvPr id="19" name="Rectangle 18"/>
          <p:cNvSpPr/>
          <p:nvPr/>
        </p:nvSpPr>
        <p:spPr>
          <a:xfrm>
            <a:off x="393192" y="2060143"/>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 y="2067458"/>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Effective number of crops</a:t>
            </a:r>
          </a:p>
        </p:txBody>
      </p:sp>
      <p:sp>
        <p:nvSpPr>
          <p:cNvPr id="21" name="TextBox 20"/>
          <p:cNvSpPr txBox="1"/>
          <p:nvPr/>
        </p:nvSpPr>
        <p:spPr>
          <a:xfrm>
            <a:off x="2496312" y="206745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4.9</a:t>
            </a:r>
          </a:p>
        </p:txBody>
      </p:sp>
      <p:sp>
        <p:nvSpPr>
          <p:cNvPr id="22" name="TextBox 21"/>
          <p:cNvSpPr txBox="1"/>
          <p:nvPr/>
        </p:nvSpPr>
        <p:spPr>
          <a:xfrm>
            <a:off x="3182112" y="206745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2.4</a:t>
            </a:r>
          </a:p>
        </p:txBody>
      </p:sp>
      <p:sp>
        <p:nvSpPr>
          <p:cNvPr id="23" name="TextBox 22"/>
          <p:cNvSpPr txBox="1"/>
          <p:nvPr/>
        </p:nvSpPr>
        <p:spPr>
          <a:xfrm>
            <a:off x="3867912" y="206745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4.3</a:t>
            </a:r>
          </a:p>
        </p:txBody>
      </p:sp>
      <p:sp>
        <p:nvSpPr>
          <p:cNvPr id="24" name="TextBox 23"/>
          <p:cNvSpPr txBox="1"/>
          <p:nvPr/>
        </p:nvSpPr>
        <p:spPr>
          <a:xfrm>
            <a:off x="4553712" y="206745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8.1</a:t>
            </a:r>
          </a:p>
        </p:txBody>
      </p:sp>
      <p:sp>
        <p:nvSpPr>
          <p:cNvPr id="25" name="Rectangle 24"/>
          <p:cNvSpPr/>
          <p:nvPr/>
        </p:nvSpPr>
        <p:spPr>
          <a:xfrm>
            <a:off x="393192" y="2341778"/>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 y="2349093"/>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Evenness</a:t>
            </a:r>
          </a:p>
        </p:txBody>
      </p:sp>
      <p:sp>
        <p:nvSpPr>
          <p:cNvPr id="27" name="TextBox 26"/>
          <p:cNvSpPr txBox="1"/>
          <p:nvPr/>
        </p:nvSpPr>
        <p:spPr>
          <a:xfrm>
            <a:off x="2496312" y="234909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0.254</a:t>
            </a:r>
          </a:p>
        </p:txBody>
      </p:sp>
      <p:sp>
        <p:nvSpPr>
          <p:cNvPr id="28" name="TextBox 27"/>
          <p:cNvSpPr txBox="1"/>
          <p:nvPr/>
        </p:nvSpPr>
        <p:spPr>
          <a:xfrm>
            <a:off x="3182112" y="234909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0.137</a:t>
            </a:r>
          </a:p>
        </p:txBody>
      </p:sp>
      <p:sp>
        <p:nvSpPr>
          <p:cNvPr id="29" name="TextBox 28"/>
          <p:cNvSpPr txBox="1"/>
          <p:nvPr/>
        </p:nvSpPr>
        <p:spPr>
          <a:xfrm>
            <a:off x="3867912" y="234909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0.242</a:t>
            </a:r>
          </a:p>
        </p:txBody>
      </p:sp>
      <p:sp>
        <p:nvSpPr>
          <p:cNvPr id="30" name="TextBox 29"/>
          <p:cNvSpPr txBox="1"/>
          <p:nvPr/>
        </p:nvSpPr>
        <p:spPr>
          <a:xfrm>
            <a:off x="4553712" y="234909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0.382</a:t>
            </a:r>
          </a:p>
        </p:txBody>
      </p:sp>
      <p:sp>
        <p:nvSpPr>
          <p:cNvPr id="31" name="Rectangle 30"/>
          <p:cNvSpPr/>
          <p:nvPr/>
        </p:nvSpPr>
        <p:spPr>
          <a:xfrm>
            <a:off x="393192" y="2623413"/>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 y="2630728"/>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Irrigation share of sown area</a:t>
            </a:r>
          </a:p>
        </p:txBody>
      </p:sp>
      <p:sp>
        <p:nvSpPr>
          <p:cNvPr id="33" name="TextBox 32"/>
          <p:cNvSpPr txBox="1"/>
          <p:nvPr/>
        </p:nvSpPr>
        <p:spPr>
          <a:xfrm>
            <a:off x="2496312" y="263072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0.546</a:t>
            </a:r>
          </a:p>
        </p:txBody>
      </p:sp>
      <p:sp>
        <p:nvSpPr>
          <p:cNvPr id="34" name="TextBox 33"/>
          <p:cNvSpPr txBox="1"/>
          <p:nvPr/>
        </p:nvSpPr>
        <p:spPr>
          <a:xfrm>
            <a:off x="3182112" y="263072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0.235</a:t>
            </a:r>
          </a:p>
        </p:txBody>
      </p:sp>
      <p:sp>
        <p:nvSpPr>
          <p:cNvPr id="35" name="TextBox 34"/>
          <p:cNvSpPr txBox="1"/>
          <p:nvPr/>
        </p:nvSpPr>
        <p:spPr>
          <a:xfrm>
            <a:off x="3867912" y="263072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0.529</a:t>
            </a:r>
          </a:p>
        </p:txBody>
      </p:sp>
      <p:sp>
        <p:nvSpPr>
          <p:cNvPr id="36" name="TextBox 35"/>
          <p:cNvSpPr txBox="1"/>
          <p:nvPr/>
        </p:nvSpPr>
        <p:spPr>
          <a:xfrm>
            <a:off x="4553712" y="2630728"/>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0.879</a:t>
            </a:r>
          </a:p>
        </p:txBody>
      </p:sp>
      <p:sp>
        <p:nvSpPr>
          <p:cNvPr id="37" name="Rectangle 36"/>
          <p:cNvSpPr/>
          <p:nvPr/>
        </p:nvSpPr>
        <p:spPr>
          <a:xfrm>
            <a:off x="393192" y="2905048"/>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3192" y="2912363"/>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Cropping intensity</a:t>
            </a:r>
          </a:p>
        </p:txBody>
      </p:sp>
      <p:sp>
        <p:nvSpPr>
          <p:cNvPr id="39" name="TextBox 38"/>
          <p:cNvSpPr txBox="1"/>
          <p:nvPr/>
        </p:nvSpPr>
        <p:spPr>
          <a:xfrm>
            <a:off x="2496312" y="291236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1.75</a:t>
            </a:r>
          </a:p>
        </p:txBody>
      </p:sp>
      <p:sp>
        <p:nvSpPr>
          <p:cNvPr id="40" name="TextBox 39"/>
          <p:cNvSpPr txBox="1"/>
          <p:nvPr/>
        </p:nvSpPr>
        <p:spPr>
          <a:xfrm>
            <a:off x="3182112" y="291236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1.44</a:t>
            </a:r>
          </a:p>
        </p:txBody>
      </p:sp>
      <p:sp>
        <p:nvSpPr>
          <p:cNvPr id="41" name="TextBox 40"/>
          <p:cNvSpPr txBox="1"/>
          <p:nvPr/>
        </p:nvSpPr>
        <p:spPr>
          <a:xfrm>
            <a:off x="3867912" y="291236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1.77</a:t>
            </a:r>
          </a:p>
        </p:txBody>
      </p:sp>
      <p:sp>
        <p:nvSpPr>
          <p:cNvPr id="42" name="TextBox 41"/>
          <p:cNvSpPr txBox="1"/>
          <p:nvPr/>
        </p:nvSpPr>
        <p:spPr>
          <a:xfrm>
            <a:off x="4553712" y="2912363"/>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2.03</a:t>
            </a:r>
          </a:p>
        </p:txBody>
      </p:sp>
      <p:sp>
        <p:nvSpPr>
          <p:cNvPr id="43" name="Rectangle 42"/>
          <p:cNvSpPr/>
          <p:nvPr/>
        </p:nvSpPr>
        <p:spPr>
          <a:xfrm>
            <a:off x="393192" y="3186683"/>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 y="3193999"/>
            <a:ext cx="210312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Mean holding size, hectares</a:t>
            </a:r>
          </a:p>
        </p:txBody>
      </p:sp>
      <p:sp>
        <p:nvSpPr>
          <p:cNvPr id="45" name="TextBox 44"/>
          <p:cNvSpPr txBox="1"/>
          <p:nvPr/>
        </p:nvSpPr>
        <p:spPr>
          <a:xfrm>
            <a:off x="2496312" y="3193999"/>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1.96</a:t>
            </a:r>
          </a:p>
        </p:txBody>
      </p:sp>
      <p:sp>
        <p:nvSpPr>
          <p:cNvPr id="46" name="TextBox 45"/>
          <p:cNvSpPr txBox="1"/>
          <p:nvPr/>
        </p:nvSpPr>
        <p:spPr>
          <a:xfrm>
            <a:off x="3182112" y="3193999"/>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0.61</a:t>
            </a:r>
          </a:p>
        </p:txBody>
      </p:sp>
      <p:sp>
        <p:nvSpPr>
          <p:cNvPr id="47" name="TextBox 46"/>
          <p:cNvSpPr txBox="1"/>
          <p:nvPr/>
        </p:nvSpPr>
        <p:spPr>
          <a:xfrm>
            <a:off x="3867912" y="3193999"/>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1.35</a:t>
            </a:r>
          </a:p>
        </p:txBody>
      </p:sp>
      <p:sp>
        <p:nvSpPr>
          <p:cNvPr id="48" name="TextBox 47"/>
          <p:cNvSpPr txBox="1"/>
          <p:nvPr/>
        </p:nvSpPr>
        <p:spPr>
          <a:xfrm>
            <a:off x="4553712" y="3193999"/>
            <a:ext cx="6858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2.95</a:t>
            </a:r>
          </a:p>
        </p:txBody>
      </p:sp>
      <p:sp>
        <p:nvSpPr>
          <p:cNvPr id="49" name="Rectangle 48"/>
          <p:cNvSpPr/>
          <p:nvPr/>
        </p:nvSpPr>
        <p:spPr>
          <a:xfrm>
            <a:off x="393192" y="3468319"/>
            <a:ext cx="4846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93192" y="3529584"/>
            <a:ext cx="4846320" cy="1271016"/>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0"/>
              </a:spcAft>
            </a:pPr>
            <a:r>
              <a:rPr sz="1200" b="0">
                <a:solidFill>
                  <a:srgbClr val="333232"/>
                </a:solidFill>
                <a:latin typeface="Calibri"/>
              </a:rPr>
              <a:t>Eight districts in ten sit between 0.24 and 0.88 on the irrigation share of sown area, so the sample spans the range of Indian water availability rather than one end of it. Mean holding size is inferred from village records rather than measured. It is carried through every estimate on this deck and is not distinguishable from zero in any of them.</a:t>
            </a:r>
          </a:p>
        </p:txBody>
      </p:sp>
      <p:sp>
        <p:nvSpPr>
          <p:cNvPr id="51" name="TextBox 50"/>
          <p:cNvSpPr txBox="1"/>
          <p:nvPr/>
        </p:nvSpPr>
        <p:spPr>
          <a:xfrm>
            <a:off x="5422392" y="1243584"/>
            <a:ext cx="292608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Share of national cropped area</a:t>
            </a:r>
          </a:p>
        </p:txBody>
      </p:sp>
      <p:sp>
        <p:nvSpPr>
          <p:cNvPr id="52" name="TextBox 51"/>
          <p:cNvSpPr txBox="1"/>
          <p:nvPr/>
        </p:nvSpPr>
        <p:spPr>
          <a:xfrm>
            <a:off x="5422392" y="1517904"/>
            <a:ext cx="178308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Category</a:t>
            </a:r>
          </a:p>
        </p:txBody>
      </p:sp>
      <p:sp>
        <p:nvSpPr>
          <p:cNvPr id="53" name="TextBox 52"/>
          <p:cNvSpPr txBox="1"/>
          <p:nvPr/>
        </p:nvSpPr>
        <p:spPr>
          <a:xfrm>
            <a:off x="7205472" y="151790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Share</a:t>
            </a:r>
          </a:p>
        </p:txBody>
      </p:sp>
      <p:sp>
        <p:nvSpPr>
          <p:cNvPr id="54" name="Rectangle 53"/>
          <p:cNvSpPr/>
          <p:nvPr/>
        </p:nvSpPr>
        <p:spPr>
          <a:xfrm>
            <a:off x="5422392" y="1773936"/>
            <a:ext cx="29260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22392" y="1785823"/>
            <a:ext cx="2926080" cy="2743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22392" y="1785823"/>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cereals</a:t>
            </a:r>
          </a:p>
        </p:txBody>
      </p:sp>
      <p:sp>
        <p:nvSpPr>
          <p:cNvPr id="57" name="TextBox 56"/>
          <p:cNvSpPr txBox="1"/>
          <p:nvPr/>
        </p:nvSpPr>
        <p:spPr>
          <a:xfrm>
            <a:off x="7205472" y="1785823"/>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56.8</a:t>
            </a:r>
          </a:p>
        </p:txBody>
      </p:sp>
      <p:sp>
        <p:nvSpPr>
          <p:cNvPr id="58" name="Rectangle 57"/>
          <p:cNvSpPr/>
          <p:nvPr/>
        </p:nvSpPr>
        <p:spPr>
          <a:xfrm>
            <a:off x="5422392" y="2060143"/>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22392" y="2060143"/>
            <a:ext cx="292608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22392" y="2067458"/>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oilseeds</a:t>
            </a:r>
          </a:p>
        </p:txBody>
      </p:sp>
      <p:sp>
        <p:nvSpPr>
          <p:cNvPr id="61" name="TextBox 60"/>
          <p:cNvSpPr txBox="1"/>
          <p:nvPr/>
        </p:nvSpPr>
        <p:spPr>
          <a:xfrm>
            <a:off x="7205472" y="2067458"/>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16.2</a:t>
            </a:r>
          </a:p>
        </p:txBody>
      </p:sp>
      <p:sp>
        <p:nvSpPr>
          <p:cNvPr id="62" name="Rectangle 61"/>
          <p:cNvSpPr/>
          <p:nvPr/>
        </p:nvSpPr>
        <p:spPr>
          <a:xfrm>
            <a:off x="5422392" y="2341778"/>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22392" y="2349093"/>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pulses</a:t>
            </a:r>
          </a:p>
        </p:txBody>
      </p:sp>
      <p:sp>
        <p:nvSpPr>
          <p:cNvPr id="64" name="TextBox 63"/>
          <p:cNvSpPr txBox="1"/>
          <p:nvPr/>
        </p:nvSpPr>
        <p:spPr>
          <a:xfrm>
            <a:off x="7205472" y="2349093"/>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12.9</a:t>
            </a:r>
          </a:p>
        </p:txBody>
      </p:sp>
      <p:sp>
        <p:nvSpPr>
          <p:cNvPr id="65" name="Rectangle 64"/>
          <p:cNvSpPr/>
          <p:nvPr/>
        </p:nvSpPr>
        <p:spPr>
          <a:xfrm>
            <a:off x="5422392" y="2623413"/>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22392" y="2630728"/>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fibre crops</a:t>
            </a:r>
          </a:p>
        </p:txBody>
      </p:sp>
      <p:sp>
        <p:nvSpPr>
          <p:cNvPr id="67" name="TextBox 66"/>
          <p:cNvSpPr txBox="1"/>
          <p:nvPr/>
        </p:nvSpPr>
        <p:spPr>
          <a:xfrm>
            <a:off x="7205472" y="2630728"/>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7.0</a:t>
            </a:r>
          </a:p>
        </p:txBody>
      </p:sp>
      <p:sp>
        <p:nvSpPr>
          <p:cNvPr id="68" name="Rectangle 67"/>
          <p:cNvSpPr/>
          <p:nvPr/>
        </p:nvSpPr>
        <p:spPr>
          <a:xfrm>
            <a:off x="5422392" y="2905048"/>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22392" y="2912363"/>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sugar</a:t>
            </a:r>
          </a:p>
        </p:txBody>
      </p:sp>
      <p:sp>
        <p:nvSpPr>
          <p:cNvPr id="70" name="TextBox 69"/>
          <p:cNvSpPr txBox="1"/>
          <p:nvPr/>
        </p:nvSpPr>
        <p:spPr>
          <a:xfrm>
            <a:off x="7205472" y="2912363"/>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2.5</a:t>
            </a:r>
          </a:p>
        </p:txBody>
      </p:sp>
      <p:sp>
        <p:nvSpPr>
          <p:cNvPr id="71" name="Rectangle 70"/>
          <p:cNvSpPr/>
          <p:nvPr/>
        </p:nvSpPr>
        <p:spPr>
          <a:xfrm>
            <a:off x="5422392" y="3186683"/>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22392" y="3193999"/>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fodder</a:t>
            </a:r>
          </a:p>
        </p:txBody>
      </p:sp>
      <p:sp>
        <p:nvSpPr>
          <p:cNvPr id="73" name="TextBox 72"/>
          <p:cNvSpPr txBox="1"/>
          <p:nvPr/>
        </p:nvSpPr>
        <p:spPr>
          <a:xfrm>
            <a:off x="7205472" y="3193999"/>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1.6</a:t>
            </a:r>
          </a:p>
        </p:txBody>
      </p:sp>
      <p:sp>
        <p:nvSpPr>
          <p:cNvPr id="74" name="Rectangle 73"/>
          <p:cNvSpPr/>
          <p:nvPr/>
        </p:nvSpPr>
        <p:spPr>
          <a:xfrm>
            <a:off x="5422392" y="3468319"/>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422392" y="3475634"/>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spices</a:t>
            </a:r>
          </a:p>
        </p:txBody>
      </p:sp>
      <p:sp>
        <p:nvSpPr>
          <p:cNvPr id="76" name="TextBox 75"/>
          <p:cNvSpPr txBox="1"/>
          <p:nvPr/>
        </p:nvSpPr>
        <p:spPr>
          <a:xfrm>
            <a:off x="7205472" y="3475634"/>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1.2</a:t>
            </a:r>
          </a:p>
        </p:txBody>
      </p:sp>
      <p:sp>
        <p:nvSpPr>
          <p:cNvPr id="77" name="Rectangle 76"/>
          <p:cNvSpPr/>
          <p:nvPr/>
        </p:nvSpPr>
        <p:spPr>
          <a:xfrm>
            <a:off x="5422392" y="3749954"/>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22392" y="3757269"/>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vegetables</a:t>
            </a:r>
          </a:p>
        </p:txBody>
      </p:sp>
      <p:sp>
        <p:nvSpPr>
          <p:cNvPr id="79" name="TextBox 78"/>
          <p:cNvSpPr txBox="1"/>
          <p:nvPr/>
        </p:nvSpPr>
        <p:spPr>
          <a:xfrm>
            <a:off x="7205472" y="3757269"/>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1.1</a:t>
            </a:r>
          </a:p>
        </p:txBody>
      </p:sp>
      <p:sp>
        <p:nvSpPr>
          <p:cNvPr id="80" name="Rectangle 79"/>
          <p:cNvSpPr/>
          <p:nvPr/>
        </p:nvSpPr>
        <p:spPr>
          <a:xfrm>
            <a:off x="5422392" y="4031589"/>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22392" y="4038904"/>
            <a:ext cx="178308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fruit</a:t>
            </a:r>
          </a:p>
        </p:txBody>
      </p:sp>
      <p:sp>
        <p:nvSpPr>
          <p:cNvPr id="82" name="TextBox 81"/>
          <p:cNvSpPr txBox="1"/>
          <p:nvPr/>
        </p:nvSpPr>
        <p:spPr>
          <a:xfrm>
            <a:off x="7205472" y="4038904"/>
            <a:ext cx="1143000"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0.4</a:t>
            </a:r>
          </a:p>
        </p:txBody>
      </p:sp>
      <p:sp>
        <p:nvSpPr>
          <p:cNvPr id="83" name="Rectangle 82"/>
          <p:cNvSpPr/>
          <p:nvPr/>
        </p:nvSpPr>
        <p:spPr>
          <a:xfrm>
            <a:off x="5422392" y="4313224"/>
            <a:ext cx="29260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31352" y="1243584"/>
            <a:ext cx="324612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Share of a district's villages</a:t>
            </a:r>
          </a:p>
        </p:txBody>
      </p:sp>
      <p:sp>
        <p:nvSpPr>
          <p:cNvPr id="85" name="TextBox 84"/>
          <p:cNvSpPr txBox="1"/>
          <p:nvPr/>
        </p:nvSpPr>
        <p:spPr>
          <a:xfrm>
            <a:off x="8531352" y="1517904"/>
            <a:ext cx="210312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Facility</a:t>
            </a:r>
          </a:p>
        </p:txBody>
      </p:sp>
      <p:sp>
        <p:nvSpPr>
          <p:cNvPr id="86" name="TextBox 85"/>
          <p:cNvSpPr txBox="1"/>
          <p:nvPr/>
        </p:nvSpPr>
        <p:spPr>
          <a:xfrm>
            <a:off x="10634472" y="151790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Mean share</a:t>
            </a:r>
          </a:p>
        </p:txBody>
      </p:sp>
      <p:sp>
        <p:nvSpPr>
          <p:cNvPr id="87" name="Rectangle 86"/>
          <p:cNvSpPr/>
          <p:nvPr/>
        </p:nvSpPr>
        <p:spPr>
          <a:xfrm>
            <a:off x="8531352" y="1773936"/>
            <a:ext cx="324612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531352" y="1785823"/>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producer organisation</a:t>
            </a:r>
          </a:p>
        </p:txBody>
      </p:sp>
      <p:sp>
        <p:nvSpPr>
          <p:cNvPr id="89" name="TextBox 88"/>
          <p:cNvSpPr txBox="1"/>
          <p:nvPr/>
        </p:nvSpPr>
        <p:spPr>
          <a:xfrm>
            <a:off x="10634472" y="178582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0.231</a:t>
            </a:r>
          </a:p>
        </p:txBody>
      </p:sp>
      <p:sp>
        <p:nvSpPr>
          <p:cNvPr id="90" name="Rectangle 89"/>
          <p:cNvSpPr/>
          <p:nvPr/>
        </p:nvSpPr>
        <p:spPr>
          <a:xfrm>
            <a:off x="8531352" y="2050999"/>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31352" y="2058314"/>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fertiliser shop</a:t>
            </a:r>
          </a:p>
        </p:txBody>
      </p:sp>
      <p:sp>
        <p:nvSpPr>
          <p:cNvPr id="92" name="TextBox 91"/>
          <p:cNvSpPr txBox="1"/>
          <p:nvPr/>
        </p:nvSpPr>
        <p:spPr>
          <a:xfrm>
            <a:off x="10634472" y="205831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0.175</a:t>
            </a:r>
          </a:p>
        </p:txBody>
      </p:sp>
      <p:sp>
        <p:nvSpPr>
          <p:cNvPr id="93" name="Rectangle 92"/>
          <p:cNvSpPr/>
          <p:nvPr/>
        </p:nvSpPr>
        <p:spPr>
          <a:xfrm>
            <a:off x="8531352" y="2323490"/>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531352" y="2330805"/>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weekly haat</a:t>
            </a:r>
          </a:p>
        </p:txBody>
      </p:sp>
      <p:sp>
        <p:nvSpPr>
          <p:cNvPr id="95" name="TextBox 94"/>
          <p:cNvSpPr txBox="1"/>
          <p:nvPr/>
        </p:nvSpPr>
        <p:spPr>
          <a:xfrm>
            <a:off x="10634472" y="233080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0.143</a:t>
            </a:r>
          </a:p>
        </p:txBody>
      </p:sp>
      <p:sp>
        <p:nvSpPr>
          <p:cNvPr id="96" name="Rectangle 95"/>
          <p:cNvSpPr/>
          <p:nvPr/>
        </p:nvSpPr>
        <p:spPr>
          <a:xfrm>
            <a:off x="8531352" y="2595981"/>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31352" y="2603296"/>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farm-gate processing</a:t>
            </a:r>
          </a:p>
        </p:txBody>
      </p:sp>
      <p:sp>
        <p:nvSpPr>
          <p:cNvPr id="98" name="TextBox 97"/>
          <p:cNvSpPr txBox="1"/>
          <p:nvPr/>
        </p:nvSpPr>
        <p:spPr>
          <a:xfrm>
            <a:off x="10634472" y="260329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0.114</a:t>
            </a:r>
          </a:p>
        </p:txBody>
      </p:sp>
      <p:sp>
        <p:nvSpPr>
          <p:cNvPr id="99" name="Rectangle 98"/>
          <p:cNvSpPr/>
          <p:nvPr/>
        </p:nvSpPr>
        <p:spPr>
          <a:xfrm>
            <a:off x="8531352" y="2868472"/>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531352" y="2875788"/>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regular market</a:t>
            </a:r>
          </a:p>
        </p:txBody>
      </p:sp>
      <p:sp>
        <p:nvSpPr>
          <p:cNvPr id="101" name="TextBox 100"/>
          <p:cNvSpPr txBox="1"/>
          <p:nvPr/>
        </p:nvSpPr>
        <p:spPr>
          <a:xfrm>
            <a:off x="10634472" y="2875788"/>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0.098</a:t>
            </a:r>
          </a:p>
        </p:txBody>
      </p:sp>
      <p:sp>
        <p:nvSpPr>
          <p:cNvPr id="102" name="Rectangle 101"/>
          <p:cNvSpPr/>
          <p:nvPr/>
        </p:nvSpPr>
        <p:spPr>
          <a:xfrm>
            <a:off x="8531352" y="3140964"/>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531352" y="3148279"/>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seed centre</a:t>
            </a:r>
          </a:p>
        </p:txBody>
      </p:sp>
      <p:sp>
        <p:nvSpPr>
          <p:cNvPr id="104" name="TextBox 103"/>
          <p:cNvSpPr txBox="1"/>
          <p:nvPr/>
        </p:nvSpPr>
        <p:spPr>
          <a:xfrm>
            <a:off x="10634472" y="3148279"/>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0.098</a:t>
            </a:r>
          </a:p>
        </p:txBody>
      </p:sp>
      <p:sp>
        <p:nvSpPr>
          <p:cNvPr id="105" name="Rectangle 104"/>
          <p:cNvSpPr/>
          <p:nvPr/>
        </p:nvSpPr>
        <p:spPr>
          <a:xfrm>
            <a:off x="8531352" y="3413455"/>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31352" y="3420770"/>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custom hiring</a:t>
            </a:r>
          </a:p>
        </p:txBody>
      </p:sp>
      <p:sp>
        <p:nvSpPr>
          <p:cNvPr id="107" name="TextBox 106"/>
          <p:cNvSpPr txBox="1"/>
          <p:nvPr/>
        </p:nvSpPr>
        <p:spPr>
          <a:xfrm>
            <a:off x="10634472" y="3420770"/>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0.092</a:t>
            </a:r>
          </a:p>
        </p:txBody>
      </p:sp>
      <p:sp>
        <p:nvSpPr>
          <p:cNvPr id="108" name="Rectangle 107"/>
          <p:cNvSpPr/>
          <p:nvPr/>
        </p:nvSpPr>
        <p:spPr>
          <a:xfrm>
            <a:off x="8531352" y="3685946"/>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531352" y="3693261"/>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cold storage</a:t>
            </a:r>
          </a:p>
        </p:txBody>
      </p:sp>
      <p:sp>
        <p:nvSpPr>
          <p:cNvPr id="110" name="TextBox 109"/>
          <p:cNvSpPr txBox="1"/>
          <p:nvPr/>
        </p:nvSpPr>
        <p:spPr>
          <a:xfrm>
            <a:off x="10634472" y="3693261"/>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0.084</a:t>
            </a:r>
          </a:p>
        </p:txBody>
      </p:sp>
      <p:sp>
        <p:nvSpPr>
          <p:cNvPr id="111" name="Rectangle 110"/>
          <p:cNvSpPr/>
          <p:nvPr/>
        </p:nvSpPr>
        <p:spPr>
          <a:xfrm>
            <a:off x="8531352" y="3958437"/>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531352" y="3965752"/>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soil testing</a:t>
            </a:r>
          </a:p>
        </p:txBody>
      </p:sp>
      <p:sp>
        <p:nvSpPr>
          <p:cNvPr id="113" name="TextBox 112"/>
          <p:cNvSpPr txBox="1"/>
          <p:nvPr/>
        </p:nvSpPr>
        <p:spPr>
          <a:xfrm>
            <a:off x="10634472" y="3965752"/>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0.043</a:t>
            </a:r>
          </a:p>
        </p:txBody>
      </p:sp>
      <p:sp>
        <p:nvSpPr>
          <p:cNvPr id="114" name="Rectangle 113"/>
          <p:cNvSpPr/>
          <p:nvPr/>
        </p:nvSpPr>
        <p:spPr>
          <a:xfrm>
            <a:off x="8531352" y="4230928"/>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531352" y="4238244"/>
            <a:ext cx="210312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mandi</a:t>
            </a:r>
          </a:p>
        </p:txBody>
      </p:sp>
      <p:sp>
        <p:nvSpPr>
          <p:cNvPr id="116" name="TextBox 115"/>
          <p:cNvSpPr txBox="1"/>
          <p:nvPr/>
        </p:nvSpPr>
        <p:spPr>
          <a:xfrm>
            <a:off x="10634472" y="423824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0.030</a:t>
            </a:r>
          </a:p>
        </p:txBody>
      </p:sp>
      <p:sp>
        <p:nvSpPr>
          <p:cNvPr id="117" name="Rectangle 116"/>
          <p:cNvSpPr/>
          <p:nvPr/>
        </p:nvSpPr>
        <p:spPr>
          <a:xfrm>
            <a:off x="8531352" y="4503420"/>
            <a:ext cx="32461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531352" y="4581144"/>
            <a:ext cx="3246120" cy="256032"/>
          </a:xfrm>
          <a:prstGeom prst="rect">
            <a:avLst/>
          </a:prstGeom>
          <a:noFill/>
          <a:ln>
            <a:noFill/>
          </a:ln>
        </p:spPr>
        <p:txBody>
          <a:bodyPr wrap="square" lIns="18288" rIns="18288" tIns="18288" bIns="18288">
            <a:spAutoFit/>
          </a:bodyPr>
          <a:lstStyle/>
          <a:p>
            <a:pPr algn="l">
              <a:lnSpc>
                <a:spcPct val="106000"/>
              </a:lnSpc>
              <a:spcAft>
                <a:spcPts val="0"/>
              </a:spcAft>
            </a:pPr>
            <a:r>
              <a:rPr sz="1050" b="0">
                <a:solidFill>
                  <a:srgbClr val="7F8080"/>
                </a:solidFill>
                <a:latin typeface="Calibri"/>
              </a:rPr>
              <a:t>40 districts have no mandi and 30 have no weekly haat.</a:t>
            </a:r>
          </a:p>
        </p:txBody>
      </p:sp>
      <p:sp>
        <p:nvSpPr>
          <p:cNvPr id="119" name="Rectangle 118"/>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Cereals take 57 percent of India's cropped area</a:t>
            </a:r>
          </a:p>
          <a:p>
            <a:pPr algn="l">
              <a:lnSpc>
                <a:spcPct val="104000"/>
              </a:lnSpc>
              <a:spcAft>
                <a:spcPts val="200"/>
              </a:spcAft>
            </a:pPr>
            <a:r>
              <a:rPr sz="1350" b="0">
                <a:solidFill>
                  <a:srgbClr val="333232"/>
                </a:solidFill>
                <a:latin typeface="Calibri"/>
              </a:rPr>
              <a:t>Fruit and vegetables together take 1.5 percent, and a mandi sits in 3 of every hundred villages against a weekly haat in 14.</a:t>
            </a:r>
          </a:p>
        </p:txBody>
      </p:sp>
      <p:sp>
        <p:nvSpPr>
          <p:cNvPr id="122" name="TextBox 121"/>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Percentiles are across the 606 districts. Crop shares are weighted by each district's mean annual cropped area. Village shares come from the 2019 village records.</a:t>
            </a:r>
          </a:p>
        </p:txBody>
      </p:sp>
      <p:sp>
        <p:nvSpPr>
          <p:cNvPr id="123" name="TextBox 122"/>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Effective number of crops by district</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Averaged over each district's years, 1997-98 to 2019-20</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4</a:t>
            </a:r>
          </a:p>
        </p:txBody>
      </p:sp>
      <p:pic>
        <p:nvPicPr>
          <p:cNvPr id="7" name="Picture 6" descr="f12_map_effective_large.png"/>
          <p:cNvPicPr>
            <a:picLocks noChangeAspect="1"/>
          </p:cNvPicPr>
          <p:nvPr/>
        </p:nvPicPr>
        <p:blipFill>
          <a:blip r:embed="rId3"/>
          <a:stretch>
            <a:fillRect/>
          </a:stretch>
        </p:blipFill>
        <p:spPr>
          <a:xfrm>
            <a:off x="1281892" y="1133856"/>
            <a:ext cx="3754719" cy="3675887"/>
          </a:xfrm>
          <a:prstGeom prst="rect">
            <a:avLst/>
          </a:prstGeom>
        </p:spPr>
      </p:pic>
      <p:sp>
        <p:nvSpPr>
          <p:cNvPr id="8" name="TextBox 7"/>
          <p:cNvSpPr txBox="1"/>
          <p:nvPr/>
        </p:nvSpPr>
        <p:spPr>
          <a:xfrm>
            <a:off x="6309360" y="1225296"/>
            <a:ext cx="256032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Widest</a:t>
            </a:r>
          </a:p>
        </p:txBody>
      </p:sp>
      <p:sp>
        <p:nvSpPr>
          <p:cNvPr id="9" name="TextBox 8"/>
          <p:cNvSpPr txBox="1"/>
          <p:nvPr/>
        </p:nvSpPr>
        <p:spPr>
          <a:xfrm>
            <a:off x="6309360" y="1481328"/>
            <a:ext cx="1572768"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State</a:t>
            </a:r>
          </a:p>
        </p:txBody>
      </p:sp>
      <p:sp>
        <p:nvSpPr>
          <p:cNvPr id="10" name="TextBox 9"/>
          <p:cNvSpPr txBox="1"/>
          <p:nvPr/>
        </p:nvSpPr>
        <p:spPr>
          <a:xfrm>
            <a:off x="7882128" y="1481328"/>
            <a:ext cx="987552"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Effective crops</a:t>
            </a:r>
          </a:p>
        </p:txBody>
      </p:sp>
      <p:sp>
        <p:nvSpPr>
          <p:cNvPr id="11" name="Rectangle 10"/>
          <p:cNvSpPr/>
          <p:nvPr/>
        </p:nvSpPr>
        <p:spPr>
          <a:xfrm>
            <a:off x="6309360" y="1737360"/>
            <a:ext cx="256032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74924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Karnataka</a:t>
            </a:r>
          </a:p>
        </p:txBody>
      </p:sp>
      <p:sp>
        <p:nvSpPr>
          <p:cNvPr id="13" name="TextBox 12"/>
          <p:cNvSpPr txBox="1"/>
          <p:nvPr/>
        </p:nvSpPr>
        <p:spPr>
          <a:xfrm>
            <a:off x="7882128" y="174924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8.0</a:t>
            </a:r>
          </a:p>
        </p:txBody>
      </p:sp>
      <p:sp>
        <p:nvSpPr>
          <p:cNvPr id="14" name="Rectangle 13"/>
          <p:cNvSpPr/>
          <p:nvPr/>
        </p:nvSpPr>
        <p:spPr>
          <a:xfrm>
            <a:off x="6309360" y="202356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030882"/>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Andhra Pradesh</a:t>
            </a:r>
          </a:p>
        </p:txBody>
      </p:sp>
      <p:sp>
        <p:nvSpPr>
          <p:cNvPr id="16" name="TextBox 15"/>
          <p:cNvSpPr txBox="1"/>
          <p:nvPr/>
        </p:nvSpPr>
        <p:spPr>
          <a:xfrm>
            <a:off x="7882128" y="2030882"/>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6.9</a:t>
            </a:r>
          </a:p>
        </p:txBody>
      </p:sp>
      <p:sp>
        <p:nvSpPr>
          <p:cNvPr id="17" name="Rectangle 16"/>
          <p:cNvSpPr/>
          <p:nvPr/>
        </p:nvSpPr>
        <p:spPr>
          <a:xfrm>
            <a:off x="6309360" y="2305202"/>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1251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Nagaland</a:t>
            </a:r>
          </a:p>
        </p:txBody>
      </p:sp>
      <p:sp>
        <p:nvSpPr>
          <p:cNvPr id="19" name="TextBox 18"/>
          <p:cNvSpPr txBox="1"/>
          <p:nvPr/>
        </p:nvSpPr>
        <p:spPr>
          <a:xfrm>
            <a:off x="7882128" y="231251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6.4</a:t>
            </a:r>
          </a:p>
        </p:txBody>
      </p:sp>
      <p:sp>
        <p:nvSpPr>
          <p:cNvPr id="20" name="Rectangle 19"/>
          <p:cNvSpPr/>
          <p:nvPr/>
        </p:nvSpPr>
        <p:spPr>
          <a:xfrm>
            <a:off x="6309360" y="258683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594152"/>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Uttarakhand</a:t>
            </a:r>
          </a:p>
        </p:txBody>
      </p:sp>
      <p:sp>
        <p:nvSpPr>
          <p:cNvPr id="22" name="TextBox 21"/>
          <p:cNvSpPr txBox="1"/>
          <p:nvPr/>
        </p:nvSpPr>
        <p:spPr>
          <a:xfrm>
            <a:off x="7882128" y="2594152"/>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6.2</a:t>
            </a:r>
          </a:p>
        </p:txBody>
      </p:sp>
      <p:sp>
        <p:nvSpPr>
          <p:cNvPr id="23" name="Rectangle 22"/>
          <p:cNvSpPr/>
          <p:nvPr/>
        </p:nvSpPr>
        <p:spPr>
          <a:xfrm>
            <a:off x="6309360" y="2868472"/>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87578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Madhya Pradesh</a:t>
            </a:r>
          </a:p>
        </p:txBody>
      </p:sp>
      <p:sp>
        <p:nvSpPr>
          <p:cNvPr id="25" name="TextBox 24"/>
          <p:cNvSpPr txBox="1"/>
          <p:nvPr/>
        </p:nvSpPr>
        <p:spPr>
          <a:xfrm>
            <a:off x="7882128" y="287578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6.2</a:t>
            </a:r>
          </a:p>
        </p:txBody>
      </p:sp>
      <p:sp>
        <p:nvSpPr>
          <p:cNvPr id="26" name="Rectangle 25"/>
          <p:cNvSpPr/>
          <p:nvPr/>
        </p:nvSpPr>
        <p:spPr>
          <a:xfrm>
            <a:off x="6309360" y="315010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1225296"/>
            <a:ext cx="256032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Narrowest</a:t>
            </a:r>
          </a:p>
        </p:txBody>
      </p:sp>
      <p:sp>
        <p:nvSpPr>
          <p:cNvPr id="28" name="TextBox 27"/>
          <p:cNvSpPr txBox="1"/>
          <p:nvPr/>
        </p:nvSpPr>
        <p:spPr>
          <a:xfrm>
            <a:off x="9217152" y="1481328"/>
            <a:ext cx="1572768"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State</a:t>
            </a:r>
          </a:p>
        </p:txBody>
      </p:sp>
      <p:sp>
        <p:nvSpPr>
          <p:cNvPr id="29" name="TextBox 28"/>
          <p:cNvSpPr txBox="1"/>
          <p:nvPr/>
        </p:nvSpPr>
        <p:spPr>
          <a:xfrm>
            <a:off x="10789920" y="1481328"/>
            <a:ext cx="987552"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Effective crops</a:t>
            </a:r>
          </a:p>
        </p:txBody>
      </p:sp>
      <p:sp>
        <p:nvSpPr>
          <p:cNvPr id="30" name="Rectangle 29"/>
          <p:cNvSpPr/>
          <p:nvPr/>
        </p:nvSpPr>
        <p:spPr>
          <a:xfrm>
            <a:off x="9217152" y="1737360"/>
            <a:ext cx="256032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17152" y="174924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Tripura</a:t>
            </a:r>
          </a:p>
        </p:txBody>
      </p:sp>
      <p:sp>
        <p:nvSpPr>
          <p:cNvPr id="32" name="TextBox 31"/>
          <p:cNvSpPr txBox="1"/>
          <p:nvPr/>
        </p:nvSpPr>
        <p:spPr>
          <a:xfrm>
            <a:off x="10789920" y="174924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a:t>
            </a:r>
          </a:p>
        </p:txBody>
      </p:sp>
      <p:sp>
        <p:nvSpPr>
          <p:cNvPr id="33" name="Rectangle 32"/>
          <p:cNvSpPr/>
          <p:nvPr/>
        </p:nvSpPr>
        <p:spPr>
          <a:xfrm>
            <a:off x="9217152" y="202356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17152" y="2030882"/>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Puducherry</a:t>
            </a:r>
          </a:p>
        </p:txBody>
      </p:sp>
      <p:sp>
        <p:nvSpPr>
          <p:cNvPr id="35" name="TextBox 34"/>
          <p:cNvSpPr txBox="1"/>
          <p:nvPr/>
        </p:nvSpPr>
        <p:spPr>
          <a:xfrm>
            <a:off x="10789920" y="2030882"/>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2.4</a:t>
            </a:r>
          </a:p>
        </p:txBody>
      </p:sp>
      <p:sp>
        <p:nvSpPr>
          <p:cNvPr id="36" name="Rectangle 35"/>
          <p:cNvSpPr/>
          <p:nvPr/>
        </p:nvSpPr>
        <p:spPr>
          <a:xfrm>
            <a:off x="9217152" y="2305202"/>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17152" y="231251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Odisha</a:t>
            </a:r>
          </a:p>
        </p:txBody>
      </p:sp>
      <p:sp>
        <p:nvSpPr>
          <p:cNvPr id="38" name="TextBox 37"/>
          <p:cNvSpPr txBox="1"/>
          <p:nvPr/>
        </p:nvSpPr>
        <p:spPr>
          <a:xfrm>
            <a:off x="10789920" y="231251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2.5</a:t>
            </a:r>
          </a:p>
        </p:txBody>
      </p:sp>
      <p:sp>
        <p:nvSpPr>
          <p:cNvPr id="39" name="Rectangle 38"/>
          <p:cNvSpPr/>
          <p:nvPr/>
        </p:nvSpPr>
        <p:spPr>
          <a:xfrm>
            <a:off x="9217152" y="258683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17152" y="2594152"/>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Punjab</a:t>
            </a:r>
          </a:p>
        </p:txBody>
      </p:sp>
      <p:sp>
        <p:nvSpPr>
          <p:cNvPr id="41" name="TextBox 40"/>
          <p:cNvSpPr txBox="1"/>
          <p:nvPr/>
        </p:nvSpPr>
        <p:spPr>
          <a:xfrm>
            <a:off x="10789920" y="2594152"/>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2.8</a:t>
            </a:r>
          </a:p>
        </p:txBody>
      </p:sp>
      <p:sp>
        <p:nvSpPr>
          <p:cNvPr id="42" name="Rectangle 41"/>
          <p:cNvSpPr/>
          <p:nvPr/>
        </p:nvSpPr>
        <p:spPr>
          <a:xfrm>
            <a:off x="9217152" y="2868472"/>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17152" y="2875787"/>
            <a:ext cx="1572768" cy="27432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Mizoram</a:t>
            </a:r>
          </a:p>
        </p:txBody>
      </p:sp>
      <p:sp>
        <p:nvSpPr>
          <p:cNvPr id="44" name="TextBox 43"/>
          <p:cNvSpPr txBox="1"/>
          <p:nvPr/>
        </p:nvSpPr>
        <p:spPr>
          <a:xfrm>
            <a:off x="10789920" y="2875787"/>
            <a:ext cx="987552" cy="27432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2.8</a:t>
            </a:r>
          </a:p>
        </p:txBody>
      </p:sp>
      <p:sp>
        <p:nvSpPr>
          <p:cNvPr id="45" name="Rectangle 44"/>
          <p:cNvSpPr/>
          <p:nvPr/>
        </p:nvSpPr>
        <p:spPr>
          <a:xfrm>
            <a:off x="9217152" y="3150107"/>
            <a:ext cx="256032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3218688"/>
            <a:ext cx="5468112" cy="1581912"/>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200" b="0">
                <a:solidFill>
                  <a:srgbClr val="333232"/>
                </a:solidFill>
                <a:latin typeface="Calibri"/>
              </a:rPr>
              <a:t>Chhattisgarh grows 31.6 crops in an average year, more than any other state, and is effectively growing 3.2 on an evenness of 0.107.</a:t>
            </a:r>
          </a:p>
          <a:p>
            <a:pPr algn="l">
              <a:lnSpc>
                <a:spcPct val="106000"/>
              </a:lnSpc>
              <a:spcAft>
                <a:spcPts val="300"/>
              </a:spcAft>
            </a:pPr>
            <a:r>
              <a:rPr sz="1200" b="0">
                <a:solidFill>
                  <a:srgbClr val="333232"/>
                </a:solidFill>
                <a:latin typeface="Calibri"/>
              </a:rPr>
              <a:t>Punjab reaches the narrow end through wheat and Odisha through paddy. Both grow enough crops, and the land sits under one of them.</a:t>
            </a:r>
          </a:p>
          <a:p>
            <a:pPr algn="l">
              <a:lnSpc>
                <a:spcPct val="106000"/>
              </a:lnSpc>
              <a:spcAft>
                <a:spcPts val="0"/>
              </a:spcAft>
            </a:pPr>
            <a:r>
              <a:rPr sz="1200" b="0">
                <a:solidFill>
                  <a:srgbClr val="333232"/>
                </a:solidFill>
                <a:latin typeface="Calibri"/>
              </a:rPr>
              <a:t>The dark districts run through the peninsular and central belt, and the pale ones through the eastern rice belt and the irrigated northwest.</a:t>
            </a:r>
          </a:p>
        </p:txBody>
      </p:sp>
      <p:sp>
        <p:nvSpPr>
          <p:cNvPr id="47" name="Rectangle 46"/>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Karnataka districts average 8.0 effective crops, the highest of any state</a:t>
            </a:r>
          </a:p>
          <a:p>
            <a:pPr algn="l">
              <a:lnSpc>
                <a:spcPct val="104000"/>
              </a:lnSpc>
              <a:spcAft>
                <a:spcPts val="200"/>
              </a:spcAft>
            </a:pPr>
            <a:r>
              <a:rPr sz="1350" b="0">
                <a:solidFill>
                  <a:srgbClr val="333232"/>
                </a:solidFill>
                <a:latin typeface="Calibri"/>
              </a:rPr>
              <a:t>Odisha districts average 2.5 and Punjab districts 2.8, reaching the same place through paddy and through wheat.</a:t>
            </a:r>
          </a:p>
        </p:txBody>
      </p:sp>
      <p:sp>
        <p:nvSpPr>
          <p:cNvPr id="50" name="TextBox 49"/>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State figures are unweighted means of their districts, over 30 districts in Karnataka, 55 in Madhya Pradesh, 30 in Odisha and 22 in Punjab. Grey districts carry no agricultural record.</a:t>
            </a:r>
          </a:p>
        </p:txBody>
      </p:sp>
      <p:sp>
        <p:nvSpPr>
          <p:cNvPr id="51" name="TextBox 50"/>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The crop that takes the most land</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Largest single land use by district, and what each quarter of districts plants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5</a:t>
            </a:r>
          </a:p>
        </p:txBody>
      </p:sp>
      <p:sp>
        <p:nvSpPr>
          <p:cNvPr id="7" name="TextBox 6"/>
          <p:cNvSpPr txBox="1"/>
          <p:nvPr/>
        </p:nvSpPr>
        <p:spPr>
          <a:xfrm>
            <a:off x="393192" y="1188720"/>
            <a:ext cx="557784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Largest land use, of the 725 districts</a:t>
            </a:r>
          </a:p>
        </p:txBody>
      </p:sp>
      <p:sp>
        <p:nvSpPr>
          <p:cNvPr id="8" name="TextBox 7"/>
          <p:cNvSpPr txBox="1"/>
          <p:nvPr/>
        </p:nvSpPr>
        <p:spPr>
          <a:xfrm>
            <a:off x="393192" y="1426464"/>
            <a:ext cx="2377440" cy="237744"/>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Crop</a:t>
            </a:r>
          </a:p>
        </p:txBody>
      </p:sp>
      <p:sp>
        <p:nvSpPr>
          <p:cNvPr id="9" name="TextBox 8"/>
          <p:cNvSpPr txBox="1"/>
          <p:nvPr/>
        </p:nvSpPr>
        <p:spPr>
          <a:xfrm>
            <a:off x="2770632" y="1426464"/>
            <a:ext cx="1005840" cy="237744"/>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Districts</a:t>
            </a:r>
          </a:p>
        </p:txBody>
      </p:sp>
      <p:sp>
        <p:nvSpPr>
          <p:cNvPr id="10" name="TextBox 9"/>
          <p:cNvSpPr txBox="1"/>
          <p:nvPr/>
        </p:nvSpPr>
        <p:spPr>
          <a:xfrm>
            <a:off x="3776472" y="1426464"/>
            <a:ext cx="2194560" cy="237744"/>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Share of cropped area</a:t>
            </a:r>
          </a:p>
        </p:txBody>
      </p:sp>
      <p:sp>
        <p:nvSpPr>
          <p:cNvPr id="11" name="Rectangle 10"/>
          <p:cNvSpPr/>
          <p:nvPr/>
        </p:nvSpPr>
        <p:spPr>
          <a:xfrm>
            <a:off x="393192" y="1664208"/>
            <a:ext cx="557784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3192" y="1676095"/>
            <a:ext cx="5577840" cy="22860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 y="1676095"/>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Rice</a:t>
            </a:r>
          </a:p>
        </p:txBody>
      </p:sp>
      <p:sp>
        <p:nvSpPr>
          <p:cNvPr id="14" name="TextBox 13"/>
          <p:cNvSpPr txBox="1"/>
          <p:nvPr/>
        </p:nvSpPr>
        <p:spPr>
          <a:xfrm>
            <a:off x="2770632" y="1676095"/>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350</a:t>
            </a:r>
          </a:p>
        </p:txBody>
      </p:sp>
      <p:sp>
        <p:nvSpPr>
          <p:cNvPr id="15" name="TextBox 14"/>
          <p:cNvSpPr txBox="1"/>
          <p:nvPr/>
        </p:nvSpPr>
        <p:spPr>
          <a:xfrm>
            <a:off x="3776472" y="1676095"/>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59.5%</a:t>
            </a:r>
          </a:p>
        </p:txBody>
      </p:sp>
      <p:sp>
        <p:nvSpPr>
          <p:cNvPr id="16" name="Rectangle 15"/>
          <p:cNvSpPr/>
          <p:nvPr/>
        </p:nvSpPr>
        <p:spPr>
          <a:xfrm>
            <a:off x="393192" y="1904695"/>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3192" y="1904695"/>
            <a:ext cx="557784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 y="1912010"/>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Wheat</a:t>
            </a:r>
          </a:p>
        </p:txBody>
      </p:sp>
      <p:sp>
        <p:nvSpPr>
          <p:cNvPr id="19" name="TextBox 18"/>
          <p:cNvSpPr txBox="1"/>
          <p:nvPr/>
        </p:nvSpPr>
        <p:spPr>
          <a:xfrm>
            <a:off x="2770632" y="1912010"/>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147</a:t>
            </a:r>
          </a:p>
        </p:txBody>
      </p:sp>
      <p:sp>
        <p:nvSpPr>
          <p:cNvPr id="20" name="TextBox 19"/>
          <p:cNvSpPr txBox="1"/>
          <p:nvPr/>
        </p:nvSpPr>
        <p:spPr>
          <a:xfrm>
            <a:off x="3776472" y="1912010"/>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42.1%</a:t>
            </a:r>
          </a:p>
        </p:txBody>
      </p:sp>
      <p:sp>
        <p:nvSpPr>
          <p:cNvPr id="21" name="Rectangle 20"/>
          <p:cNvSpPr/>
          <p:nvPr/>
        </p:nvSpPr>
        <p:spPr>
          <a:xfrm>
            <a:off x="393192" y="2140610"/>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 y="2147925"/>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Maize</a:t>
            </a:r>
          </a:p>
        </p:txBody>
      </p:sp>
      <p:sp>
        <p:nvSpPr>
          <p:cNvPr id="23" name="TextBox 22"/>
          <p:cNvSpPr txBox="1"/>
          <p:nvPr/>
        </p:nvSpPr>
        <p:spPr>
          <a:xfrm>
            <a:off x="2770632" y="2147925"/>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36</a:t>
            </a:r>
          </a:p>
        </p:txBody>
      </p:sp>
      <p:sp>
        <p:nvSpPr>
          <p:cNvPr id="24" name="TextBox 23"/>
          <p:cNvSpPr txBox="1"/>
          <p:nvPr/>
        </p:nvSpPr>
        <p:spPr>
          <a:xfrm>
            <a:off x="3776472" y="2147925"/>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45.7%</a:t>
            </a:r>
          </a:p>
        </p:txBody>
      </p:sp>
      <p:sp>
        <p:nvSpPr>
          <p:cNvPr id="25" name="Rectangle 24"/>
          <p:cNvSpPr/>
          <p:nvPr/>
        </p:nvSpPr>
        <p:spPr>
          <a:xfrm>
            <a:off x="393192" y="2376525"/>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 y="2383840"/>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Cotton</a:t>
            </a:r>
          </a:p>
        </p:txBody>
      </p:sp>
      <p:sp>
        <p:nvSpPr>
          <p:cNvPr id="27" name="TextBox 26"/>
          <p:cNvSpPr txBox="1"/>
          <p:nvPr/>
        </p:nvSpPr>
        <p:spPr>
          <a:xfrm>
            <a:off x="2770632" y="2383840"/>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33</a:t>
            </a:r>
          </a:p>
        </p:txBody>
      </p:sp>
      <p:sp>
        <p:nvSpPr>
          <p:cNvPr id="28" name="TextBox 27"/>
          <p:cNvSpPr txBox="1"/>
          <p:nvPr/>
        </p:nvSpPr>
        <p:spPr>
          <a:xfrm>
            <a:off x="3776472" y="2383840"/>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38.7%</a:t>
            </a:r>
          </a:p>
        </p:txBody>
      </p:sp>
      <p:sp>
        <p:nvSpPr>
          <p:cNvPr id="29" name="Rectangle 28"/>
          <p:cNvSpPr/>
          <p:nvPr/>
        </p:nvSpPr>
        <p:spPr>
          <a:xfrm>
            <a:off x="393192" y="2612440"/>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 y="2619756"/>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Soyabean</a:t>
            </a:r>
          </a:p>
        </p:txBody>
      </p:sp>
      <p:sp>
        <p:nvSpPr>
          <p:cNvPr id="31" name="TextBox 30"/>
          <p:cNvSpPr txBox="1"/>
          <p:nvPr/>
        </p:nvSpPr>
        <p:spPr>
          <a:xfrm>
            <a:off x="2770632" y="2619756"/>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28</a:t>
            </a:r>
          </a:p>
        </p:txBody>
      </p:sp>
      <p:sp>
        <p:nvSpPr>
          <p:cNvPr id="32" name="TextBox 31"/>
          <p:cNvSpPr txBox="1"/>
          <p:nvPr/>
        </p:nvSpPr>
        <p:spPr>
          <a:xfrm>
            <a:off x="3776472" y="2619756"/>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39.5%</a:t>
            </a:r>
          </a:p>
        </p:txBody>
      </p:sp>
      <p:sp>
        <p:nvSpPr>
          <p:cNvPr id="33" name="Rectangle 32"/>
          <p:cNvSpPr/>
          <p:nvPr/>
        </p:nvSpPr>
        <p:spPr>
          <a:xfrm>
            <a:off x="393192" y="2848356"/>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3192" y="2855671"/>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Coconut</a:t>
            </a:r>
          </a:p>
        </p:txBody>
      </p:sp>
      <p:sp>
        <p:nvSpPr>
          <p:cNvPr id="35" name="TextBox 34"/>
          <p:cNvSpPr txBox="1"/>
          <p:nvPr/>
        </p:nvSpPr>
        <p:spPr>
          <a:xfrm>
            <a:off x="2770632" y="2855671"/>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19</a:t>
            </a:r>
          </a:p>
        </p:txBody>
      </p:sp>
      <p:sp>
        <p:nvSpPr>
          <p:cNvPr id="36" name="TextBox 35"/>
          <p:cNvSpPr txBox="1"/>
          <p:nvPr/>
        </p:nvSpPr>
        <p:spPr>
          <a:xfrm>
            <a:off x="3776472" y="2855671"/>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64.8%</a:t>
            </a:r>
          </a:p>
        </p:txBody>
      </p:sp>
      <p:sp>
        <p:nvSpPr>
          <p:cNvPr id="37" name="Rectangle 36"/>
          <p:cNvSpPr/>
          <p:nvPr/>
        </p:nvSpPr>
        <p:spPr>
          <a:xfrm>
            <a:off x="393192" y="3084271"/>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9632" y="1426464"/>
            <a:ext cx="2377440" cy="237744"/>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Crop</a:t>
            </a:r>
          </a:p>
        </p:txBody>
      </p:sp>
      <p:sp>
        <p:nvSpPr>
          <p:cNvPr id="39" name="TextBox 38"/>
          <p:cNvSpPr txBox="1"/>
          <p:nvPr/>
        </p:nvSpPr>
        <p:spPr>
          <a:xfrm>
            <a:off x="8577072" y="1426464"/>
            <a:ext cx="1005840" cy="237744"/>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Districts</a:t>
            </a:r>
          </a:p>
        </p:txBody>
      </p:sp>
      <p:sp>
        <p:nvSpPr>
          <p:cNvPr id="40" name="TextBox 39"/>
          <p:cNvSpPr txBox="1"/>
          <p:nvPr/>
        </p:nvSpPr>
        <p:spPr>
          <a:xfrm>
            <a:off x="9582912" y="1426464"/>
            <a:ext cx="2194560" cy="237744"/>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Share of cropped area</a:t>
            </a:r>
          </a:p>
        </p:txBody>
      </p:sp>
      <p:sp>
        <p:nvSpPr>
          <p:cNvPr id="41" name="Rectangle 40"/>
          <p:cNvSpPr/>
          <p:nvPr/>
        </p:nvSpPr>
        <p:spPr>
          <a:xfrm>
            <a:off x="6199632" y="1664208"/>
            <a:ext cx="557784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99632" y="1676095"/>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Jowar</a:t>
            </a:r>
          </a:p>
        </p:txBody>
      </p:sp>
      <p:sp>
        <p:nvSpPr>
          <p:cNvPr id="43" name="TextBox 42"/>
          <p:cNvSpPr txBox="1"/>
          <p:nvPr/>
        </p:nvSpPr>
        <p:spPr>
          <a:xfrm>
            <a:off x="8577072" y="1676095"/>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19</a:t>
            </a:r>
          </a:p>
        </p:txBody>
      </p:sp>
      <p:sp>
        <p:nvSpPr>
          <p:cNvPr id="44" name="TextBox 43"/>
          <p:cNvSpPr txBox="1"/>
          <p:nvPr/>
        </p:nvSpPr>
        <p:spPr>
          <a:xfrm>
            <a:off x="9582912" y="1676095"/>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28.5%</a:t>
            </a:r>
          </a:p>
        </p:txBody>
      </p:sp>
      <p:sp>
        <p:nvSpPr>
          <p:cNvPr id="45" name="Rectangle 44"/>
          <p:cNvSpPr/>
          <p:nvPr/>
        </p:nvSpPr>
        <p:spPr>
          <a:xfrm>
            <a:off x="6199632" y="1904695"/>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9632" y="1912010"/>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Bajra</a:t>
            </a:r>
          </a:p>
        </p:txBody>
      </p:sp>
      <p:sp>
        <p:nvSpPr>
          <p:cNvPr id="47" name="TextBox 46"/>
          <p:cNvSpPr txBox="1"/>
          <p:nvPr/>
        </p:nvSpPr>
        <p:spPr>
          <a:xfrm>
            <a:off x="8577072" y="1912010"/>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16</a:t>
            </a:r>
          </a:p>
        </p:txBody>
      </p:sp>
      <p:sp>
        <p:nvSpPr>
          <p:cNvPr id="48" name="TextBox 47"/>
          <p:cNvSpPr txBox="1"/>
          <p:nvPr/>
        </p:nvSpPr>
        <p:spPr>
          <a:xfrm>
            <a:off x="9582912" y="1912010"/>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40.4%</a:t>
            </a:r>
          </a:p>
        </p:txBody>
      </p:sp>
      <p:sp>
        <p:nvSpPr>
          <p:cNvPr id="49" name="Rectangle 48"/>
          <p:cNvSpPr/>
          <p:nvPr/>
        </p:nvSpPr>
        <p:spPr>
          <a:xfrm>
            <a:off x="6199632" y="2140610"/>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9632" y="2147925"/>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Groundnut</a:t>
            </a:r>
          </a:p>
        </p:txBody>
      </p:sp>
      <p:sp>
        <p:nvSpPr>
          <p:cNvPr id="51" name="TextBox 50"/>
          <p:cNvSpPr txBox="1"/>
          <p:nvPr/>
        </p:nvSpPr>
        <p:spPr>
          <a:xfrm>
            <a:off x="8577072" y="2147925"/>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12</a:t>
            </a:r>
          </a:p>
        </p:txBody>
      </p:sp>
      <p:sp>
        <p:nvSpPr>
          <p:cNvPr id="52" name="TextBox 51"/>
          <p:cNvSpPr txBox="1"/>
          <p:nvPr/>
        </p:nvSpPr>
        <p:spPr>
          <a:xfrm>
            <a:off x="9582912" y="2147925"/>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47.0%</a:t>
            </a:r>
          </a:p>
        </p:txBody>
      </p:sp>
      <p:sp>
        <p:nvSpPr>
          <p:cNvPr id="53" name="Rectangle 52"/>
          <p:cNvSpPr/>
          <p:nvPr/>
        </p:nvSpPr>
        <p:spPr>
          <a:xfrm>
            <a:off x="6199632" y="2376525"/>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99632" y="2383840"/>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Rapeseed and mustard</a:t>
            </a:r>
          </a:p>
        </p:txBody>
      </p:sp>
      <p:sp>
        <p:nvSpPr>
          <p:cNvPr id="55" name="TextBox 54"/>
          <p:cNvSpPr txBox="1"/>
          <p:nvPr/>
        </p:nvSpPr>
        <p:spPr>
          <a:xfrm>
            <a:off x="8577072" y="2383840"/>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10</a:t>
            </a:r>
          </a:p>
        </p:txBody>
      </p:sp>
      <p:sp>
        <p:nvSpPr>
          <p:cNvPr id="56" name="TextBox 55"/>
          <p:cNvSpPr txBox="1"/>
          <p:nvPr/>
        </p:nvSpPr>
        <p:spPr>
          <a:xfrm>
            <a:off x="9582912" y="2383840"/>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36.5%</a:t>
            </a:r>
          </a:p>
        </p:txBody>
      </p:sp>
      <p:sp>
        <p:nvSpPr>
          <p:cNvPr id="57" name="Rectangle 56"/>
          <p:cNvSpPr/>
          <p:nvPr/>
        </p:nvSpPr>
        <p:spPr>
          <a:xfrm>
            <a:off x="6199632" y="2612440"/>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9632" y="2619756"/>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Sugarcane</a:t>
            </a:r>
          </a:p>
        </p:txBody>
      </p:sp>
      <p:sp>
        <p:nvSpPr>
          <p:cNvPr id="59" name="TextBox 58"/>
          <p:cNvSpPr txBox="1"/>
          <p:nvPr/>
        </p:nvSpPr>
        <p:spPr>
          <a:xfrm>
            <a:off x="8577072" y="2619756"/>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10</a:t>
            </a:r>
          </a:p>
        </p:txBody>
      </p:sp>
      <p:sp>
        <p:nvSpPr>
          <p:cNvPr id="60" name="TextBox 59"/>
          <p:cNvSpPr txBox="1"/>
          <p:nvPr/>
        </p:nvSpPr>
        <p:spPr>
          <a:xfrm>
            <a:off x="9582912" y="2619756"/>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45.2%</a:t>
            </a:r>
          </a:p>
        </p:txBody>
      </p:sp>
      <p:sp>
        <p:nvSpPr>
          <p:cNvPr id="61" name="Rectangle 60"/>
          <p:cNvSpPr/>
          <p:nvPr/>
        </p:nvSpPr>
        <p:spPr>
          <a:xfrm>
            <a:off x="6199632" y="2848356"/>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99632" y="2855671"/>
            <a:ext cx="237744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Ragi</a:t>
            </a:r>
          </a:p>
        </p:txBody>
      </p:sp>
      <p:sp>
        <p:nvSpPr>
          <p:cNvPr id="63" name="TextBox 62"/>
          <p:cNvSpPr txBox="1"/>
          <p:nvPr/>
        </p:nvSpPr>
        <p:spPr>
          <a:xfrm>
            <a:off x="8577072" y="2855671"/>
            <a:ext cx="1005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9</a:t>
            </a:r>
          </a:p>
        </p:txBody>
      </p:sp>
      <p:sp>
        <p:nvSpPr>
          <p:cNvPr id="64" name="TextBox 63"/>
          <p:cNvSpPr txBox="1"/>
          <p:nvPr/>
        </p:nvSpPr>
        <p:spPr>
          <a:xfrm>
            <a:off x="9582912" y="2855671"/>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39.0%</a:t>
            </a:r>
          </a:p>
        </p:txBody>
      </p:sp>
      <p:sp>
        <p:nvSpPr>
          <p:cNvPr id="65" name="Rectangle 64"/>
          <p:cNvSpPr/>
          <p:nvPr/>
        </p:nvSpPr>
        <p:spPr>
          <a:xfrm>
            <a:off x="6199632" y="3084271"/>
            <a:ext cx="55778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3192" y="3163824"/>
            <a:ext cx="7315200"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Composition by quarter of the effective number of crops, percent of cropped area</a:t>
            </a:r>
          </a:p>
        </p:txBody>
      </p:sp>
      <p:sp>
        <p:nvSpPr>
          <p:cNvPr id="67" name="TextBox 66"/>
          <p:cNvSpPr txBox="1"/>
          <p:nvPr/>
        </p:nvSpPr>
        <p:spPr>
          <a:xfrm>
            <a:off x="393192" y="3438144"/>
            <a:ext cx="224028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Quarter</a:t>
            </a:r>
          </a:p>
        </p:txBody>
      </p:sp>
      <p:sp>
        <p:nvSpPr>
          <p:cNvPr id="68" name="TextBox 67"/>
          <p:cNvSpPr txBox="1"/>
          <p:nvPr/>
        </p:nvSpPr>
        <p:spPr>
          <a:xfrm>
            <a:off x="2633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cereals</a:t>
            </a:r>
          </a:p>
        </p:txBody>
      </p:sp>
      <p:sp>
        <p:nvSpPr>
          <p:cNvPr id="69" name="TextBox 68"/>
          <p:cNvSpPr txBox="1"/>
          <p:nvPr/>
        </p:nvSpPr>
        <p:spPr>
          <a:xfrm>
            <a:off x="3776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oilseeds</a:t>
            </a:r>
          </a:p>
        </p:txBody>
      </p:sp>
      <p:sp>
        <p:nvSpPr>
          <p:cNvPr id="70" name="TextBox 69"/>
          <p:cNvSpPr txBox="1"/>
          <p:nvPr/>
        </p:nvSpPr>
        <p:spPr>
          <a:xfrm>
            <a:off x="4919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pulses</a:t>
            </a:r>
          </a:p>
        </p:txBody>
      </p:sp>
      <p:sp>
        <p:nvSpPr>
          <p:cNvPr id="71" name="TextBox 70"/>
          <p:cNvSpPr txBox="1"/>
          <p:nvPr/>
        </p:nvSpPr>
        <p:spPr>
          <a:xfrm>
            <a:off x="6062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fibre crops</a:t>
            </a:r>
          </a:p>
        </p:txBody>
      </p:sp>
      <p:sp>
        <p:nvSpPr>
          <p:cNvPr id="72" name="TextBox 71"/>
          <p:cNvSpPr txBox="1"/>
          <p:nvPr/>
        </p:nvSpPr>
        <p:spPr>
          <a:xfrm>
            <a:off x="7205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spices</a:t>
            </a:r>
          </a:p>
        </p:txBody>
      </p:sp>
      <p:sp>
        <p:nvSpPr>
          <p:cNvPr id="73" name="TextBox 72"/>
          <p:cNvSpPr txBox="1"/>
          <p:nvPr/>
        </p:nvSpPr>
        <p:spPr>
          <a:xfrm>
            <a:off x="8348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sugar</a:t>
            </a:r>
          </a:p>
        </p:txBody>
      </p:sp>
      <p:sp>
        <p:nvSpPr>
          <p:cNvPr id="74" name="TextBox 73"/>
          <p:cNvSpPr txBox="1"/>
          <p:nvPr/>
        </p:nvSpPr>
        <p:spPr>
          <a:xfrm>
            <a:off x="9491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vegetables</a:t>
            </a:r>
          </a:p>
        </p:txBody>
      </p:sp>
      <p:sp>
        <p:nvSpPr>
          <p:cNvPr id="75" name="TextBox 74"/>
          <p:cNvSpPr txBox="1"/>
          <p:nvPr/>
        </p:nvSpPr>
        <p:spPr>
          <a:xfrm>
            <a:off x="10634472" y="3438144"/>
            <a:ext cx="11430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fruit</a:t>
            </a:r>
          </a:p>
        </p:txBody>
      </p:sp>
      <p:sp>
        <p:nvSpPr>
          <p:cNvPr id="76" name="Rectangle 75"/>
          <p:cNvSpPr/>
          <p:nvPr/>
        </p:nvSpPr>
        <p:spPr>
          <a:xfrm>
            <a:off x="393192" y="3694176"/>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93192" y="3706063"/>
            <a:ext cx="22402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Least diverse quarter</a:t>
            </a:r>
          </a:p>
        </p:txBody>
      </p:sp>
      <p:sp>
        <p:nvSpPr>
          <p:cNvPr id="78" name="Rectangle 77"/>
          <p:cNvSpPr/>
          <p:nvPr/>
        </p:nvSpPr>
        <p:spPr>
          <a:xfrm>
            <a:off x="2633472" y="3706063"/>
            <a:ext cx="1143000"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633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76.7</a:t>
            </a:r>
          </a:p>
        </p:txBody>
      </p:sp>
      <p:sp>
        <p:nvSpPr>
          <p:cNvPr id="80" name="TextBox 79"/>
          <p:cNvSpPr txBox="1"/>
          <p:nvPr/>
        </p:nvSpPr>
        <p:spPr>
          <a:xfrm>
            <a:off x="3776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10.3</a:t>
            </a:r>
          </a:p>
        </p:txBody>
      </p:sp>
      <p:sp>
        <p:nvSpPr>
          <p:cNvPr id="81" name="TextBox 80"/>
          <p:cNvSpPr txBox="1"/>
          <p:nvPr/>
        </p:nvSpPr>
        <p:spPr>
          <a:xfrm>
            <a:off x="4919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5.2</a:t>
            </a:r>
          </a:p>
        </p:txBody>
      </p:sp>
      <p:sp>
        <p:nvSpPr>
          <p:cNvPr id="82" name="TextBox 81"/>
          <p:cNvSpPr txBox="1"/>
          <p:nvPr/>
        </p:nvSpPr>
        <p:spPr>
          <a:xfrm>
            <a:off x="6062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a:t>
            </a:r>
          </a:p>
        </p:txBody>
      </p:sp>
      <p:sp>
        <p:nvSpPr>
          <p:cNvPr id="83" name="TextBox 82"/>
          <p:cNvSpPr txBox="1"/>
          <p:nvPr/>
        </p:nvSpPr>
        <p:spPr>
          <a:xfrm>
            <a:off x="7205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3.7</a:t>
            </a:r>
          </a:p>
        </p:txBody>
      </p:sp>
      <p:sp>
        <p:nvSpPr>
          <p:cNvPr id="84" name="TextBox 83"/>
          <p:cNvSpPr txBox="1"/>
          <p:nvPr/>
        </p:nvSpPr>
        <p:spPr>
          <a:xfrm>
            <a:off x="8348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0.9</a:t>
            </a:r>
          </a:p>
        </p:txBody>
      </p:sp>
      <p:sp>
        <p:nvSpPr>
          <p:cNvPr id="85" name="TextBox 84"/>
          <p:cNvSpPr txBox="1"/>
          <p:nvPr/>
        </p:nvSpPr>
        <p:spPr>
          <a:xfrm>
            <a:off x="9491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0.8</a:t>
            </a:r>
          </a:p>
        </p:txBody>
      </p:sp>
      <p:sp>
        <p:nvSpPr>
          <p:cNvPr id="86" name="TextBox 85"/>
          <p:cNvSpPr txBox="1"/>
          <p:nvPr/>
        </p:nvSpPr>
        <p:spPr>
          <a:xfrm>
            <a:off x="10634472" y="3706063"/>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0.3</a:t>
            </a:r>
          </a:p>
        </p:txBody>
      </p:sp>
      <p:sp>
        <p:nvSpPr>
          <p:cNvPr id="87" name="Rectangle 86"/>
          <p:cNvSpPr/>
          <p:nvPr/>
        </p:nvSpPr>
        <p:spPr>
          <a:xfrm>
            <a:off x="393192" y="3971239"/>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633472" y="3971239"/>
            <a:ext cx="114300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93192" y="3978554"/>
            <a:ext cx="22402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Second</a:t>
            </a:r>
          </a:p>
        </p:txBody>
      </p:sp>
      <p:sp>
        <p:nvSpPr>
          <p:cNvPr id="90" name="Rectangle 89"/>
          <p:cNvSpPr/>
          <p:nvPr/>
        </p:nvSpPr>
        <p:spPr>
          <a:xfrm>
            <a:off x="2633472" y="3978554"/>
            <a:ext cx="1143000"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633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70.0</a:t>
            </a:r>
          </a:p>
        </p:txBody>
      </p:sp>
      <p:sp>
        <p:nvSpPr>
          <p:cNvPr id="92" name="TextBox 91"/>
          <p:cNvSpPr txBox="1"/>
          <p:nvPr/>
        </p:nvSpPr>
        <p:spPr>
          <a:xfrm>
            <a:off x="3776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11.2</a:t>
            </a:r>
          </a:p>
        </p:txBody>
      </p:sp>
      <p:sp>
        <p:nvSpPr>
          <p:cNvPr id="93" name="TextBox 92"/>
          <p:cNvSpPr txBox="1"/>
          <p:nvPr/>
        </p:nvSpPr>
        <p:spPr>
          <a:xfrm>
            <a:off x="4919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5.6</a:t>
            </a:r>
          </a:p>
        </p:txBody>
      </p:sp>
      <p:sp>
        <p:nvSpPr>
          <p:cNvPr id="94" name="TextBox 93"/>
          <p:cNvSpPr txBox="1"/>
          <p:nvPr/>
        </p:nvSpPr>
        <p:spPr>
          <a:xfrm>
            <a:off x="6062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4.5</a:t>
            </a:r>
          </a:p>
        </p:txBody>
      </p:sp>
      <p:sp>
        <p:nvSpPr>
          <p:cNvPr id="95" name="TextBox 94"/>
          <p:cNvSpPr txBox="1"/>
          <p:nvPr/>
        </p:nvSpPr>
        <p:spPr>
          <a:xfrm>
            <a:off x="7205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1.8</a:t>
            </a:r>
          </a:p>
        </p:txBody>
      </p:sp>
      <p:sp>
        <p:nvSpPr>
          <p:cNvPr id="96" name="TextBox 95"/>
          <p:cNvSpPr txBox="1"/>
          <p:nvPr/>
        </p:nvSpPr>
        <p:spPr>
          <a:xfrm>
            <a:off x="8348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3.4</a:t>
            </a:r>
          </a:p>
        </p:txBody>
      </p:sp>
      <p:sp>
        <p:nvSpPr>
          <p:cNvPr id="97" name="TextBox 96"/>
          <p:cNvSpPr txBox="1"/>
          <p:nvPr/>
        </p:nvSpPr>
        <p:spPr>
          <a:xfrm>
            <a:off x="9491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1.7</a:t>
            </a:r>
          </a:p>
        </p:txBody>
      </p:sp>
      <p:sp>
        <p:nvSpPr>
          <p:cNvPr id="98" name="TextBox 97"/>
          <p:cNvSpPr txBox="1"/>
          <p:nvPr/>
        </p:nvSpPr>
        <p:spPr>
          <a:xfrm>
            <a:off x="10634472" y="3978554"/>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1.2</a:t>
            </a:r>
          </a:p>
        </p:txBody>
      </p:sp>
      <p:sp>
        <p:nvSpPr>
          <p:cNvPr id="99" name="Rectangle 98"/>
          <p:cNvSpPr/>
          <p:nvPr/>
        </p:nvSpPr>
        <p:spPr>
          <a:xfrm>
            <a:off x="393192" y="4243730"/>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633472" y="4243730"/>
            <a:ext cx="114300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93192" y="4251045"/>
            <a:ext cx="22402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Third</a:t>
            </a:r>
          </a:p>
        </p:txBody>
      </p:sp>
      <p:sp>
        <p:nvSpPr>
          <p:cNvPr id="102" name="Rectangle 101"/>
          <p:cNvSpPr/>
          <p:nvPr/>
        </p:nvSpPr>
        <p:spPr>
          <a:xfrm>
            <a:off x="2633472" y="4251045"/>
            <a:ext cx="1143000"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633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63.6</a:t>
            </a:r>
          </a:p>
        </p:txBody>
      </p:sp>
      <p:sp>
        <p:nvSpPr>
          <p:cNvPr id="104" name="TextBox 103"/>
          <p:cNvSpPr txBox="1"/>
          <p:nvPr/>
        </p:nvSpPr>
        <p:spPr>
          <a:xfrm>
            <a:off x="3776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13.8</a:t>
            </a:r>
          </a:p>
        </p:txBody>
      </p:sp>
      <p:sp>
        <p:nvSpPr>
          <p:cNvPr id="105" name="TextBox 104"/>
          <p:cNvSpPr txBox="1"/>
          <p:nvPr/>
        </p:nvSpPr>
        <p:spPr>
          <a:xfrm>
            <a:off x="4919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10.4</a:t>
            </a:r>
          </a:p>
        </p:txBody>
      </p:sp>
      <p:sp>
        <p:nvSpPr>
          <p:cNvPr id="106" name="TextBox 105"/>
          <p:cNvSpPr txBox="1"/>
          <p:nvPr/>
        </p:nvSpPr>
        <p:spPr>
          <a:xfrm>
            <a:off x="6062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4.1</a:t>
            </a:r>
          </a:p>
        </p:txBody>
      </p:sp>
      <p:sp>
        <p:nvSpPr>
          <p:cNvPr id="107" name="TextBox 106"/>
          <p:cNvSpPr txBox="1"/>
          <p:nvPr/>
        </p:nvSpPr>
        <p:spPr>
          <a:xfrm>
            <a:off x="7205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2.5</a:t>
            </a:r>
          </a:p>
        </p:txBody>
      </p:sp>
      <p:sp>
        <p:nvSpPr>
          <p:cNvPr id="108" name="TextBox 107"/>
          <p:cNvSpPr txBox="1"/>
          <p:nvPr/>
        </p:nvSpPr>
        <p:spPr>
          <a:xfrm>
            <a:off x="8348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a:t>
            </a:r>
          </a:p>
        </p:txBody>
      </p:sp>
      <p:sp>
        <p:nvSpPr>
          <p:cNvPr id="109" name="TextBox 108"/>
          <p:cNvSpPr txBox="1"/>
          <p:nvPr/>
        </p:nvSpPr>
        <p:spPr>
          <a:xfrm>
            <a:off x="9491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2.2</a:t>
            </a:r>
          </a:p>
        </p:txBody>
      </p:sp>
      <p:sp>
        <p:nvSpPr>
          <p:cNvPr id="110" name="TextBox 109"/>
          <p:cNvSpPr txBox="1"/>
          <p:nvPr/>
        </p:nvSpPr>
        <p:spPr>
          <a:xfrm>
            <a:off x="10634472" y="4251045"/>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a:t>
            </a:r>
          </a:p>
        </p:txBody>
      </p:sp>
      <p:sp>
        <p:nvSpPr>
          <p:cNvPr id="111" name="Rectangle 110"/>
          <p:cNvSpPr/>
          <p:nvPr/>
        </p:nvSpPr>
        <p:spPr>
          <a:xfrm>
            <a:off x="393192" y="4516221"/>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633472" y="4516221"/>
            <a:ext cx="114300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93192" y="4523536"/>
            <a:ext cx="22402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Most diverse quarter</a:t>
            </a:r>
          </a:p>
        </p:txBody>
      </p:sp>
      <p:sp>
        <p:nvSpPr>
          <p:cNvPr id="114" name="Rectangle 113"/>
          <p:cNvSpPr/>
          <p:nvPr/>
        </p:nvSpPr>
        <p:spPr>
          <a:xfrm>
            <a:off x="2633472" y="4523536"/>
            <a:ext cx="1143000"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633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49.9</a:t>
            </a:r>
          </a:p>
        </p:txBody>
      </p:sp>
      <p:sp>
        <p:nvSpPr>
          <p:cNvPr id="116" name="TextBox 115"/>
          <p:cNvSpPr txBox="1"/>
          <p:nvPr/>
        </p:nvSpPr>
        <p:spPr>
          <a:xfrm>
            <a:off x="3776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16.6</a:t>
            </a:r>
          </a:p>
        </p:txBody>
      </p:sp>
      <p:sp>
        <p:nvSpPr>
          <p:cNvPr id="117" name="TextBox 116"/>
          <p:cNvSpPr txBox="1"/>
          <p:nvPr/>
        </p:nvSpPr>
        <p:spPr>
          <a:xfrm>
            <a:off x="4919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17.3</a:t>
            </a:r>
          </a:p>
        </p:txBody>
      </p:sp>
      <p:sp>
        <p:nvSpPr>
          <p:cNvPr id="118" name="TextBox 117"/>
          <p:cNvSpPr txBox="1"/>
          <p:nvPr/>
        </p:nvSpPr>
        <p:spPr>
          <a:xfrm>
            <a:off x="6062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7.5</a:t>
            </a:r>
          </a:p>
        </p:txBody>
      </p:sp>
      <p:sp>
        <p:nvSpPr>
          <p:cNvPr id="119" name="TextBox 118"/>
          <p:cNvSpPr txBox="1"/>
          <p:nvPr/>
        </p:nvSpPr>
        <p:spPr>
          <a:xfrm>
            <a:off x="7205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2.3</a:t>
            </a:r>
          </a:p>
        </p:txBody>
      </p:sp>
      <p:sp>
        <p:nvSpPr>
          <p:cNvPr id="120" name="TextBox 119"/>
          <p:cNvSpPr txBox="1"/>
          <p:nvPr/>
        </p:nvSpPr>
        <p:spPr>
          <a:xfrm>
            <a:off x="8348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2.3</a:t>
            </a:r>
          </a:p>
        </p:txBody>
      </p:sp>
      <p:sp>
        <p:nvSpPr>
          <p:cNvPr id="121" name="TextBox 120"/>
          <p:cNvSpPr txBox="1"/>
          <p:nvPr/>
        </p:nvSpPr>
        <p:spPr>
          <a:xfrm>
            <a:off x="9491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a:t>
            </a:r>
          </a:p>
        </p:txBody>
      </p:sp>
      <p:sp>
        <p:nvSpPr>
          <p:cNvPr id="122" name="TextBox 121"/>
          <p:cNvSpPr txBox="1"/>
          <p:nvPr/>
        </p:nvSpPr>
        <p:spPr>
          <a:xfrm>
            <a:off x="10634472" y="4523536"/>
            <a:ext cx="11430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1.1</a:t>
            </a:r>
          </a:p>
        </p:txBody>
      </p:sp>
      <p:sp>
        <p:nvSpPr>
          <p:cNvPr id="123" name="Rectangle 122"/>
          <p:cNvSpPr/>
          <p:nvPr/>
        </p:nvSpPr>
        <p:spPr>
          <a:xfrm>
            <a:off x="393192" y="4788712"/>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633472" y="4788712"/>
            <a:ext cx="114300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Rice or wheat is the largest land use in 497 of 725 districts</a:t>
            </a:r>
          </a:p>
          <a:p>
            <a:pPr algn="l">
              <a:lnSpc>
                <a:spcPct val="104000"/>
              </a:lnSpc>
              <a:spcAft>
                <a:spcPts val="200"/>
              </a:spcAft>
            </a:pPr>
            <a:r>
              <a:rPr sz="1350" b="0">
                <a:solidFill>
                  <a:srgbClr val="333232"/>
                </a:solidFill>
                <a:latin typeface="Calibri"/>
              </a:rPr>
              <a:t>Where cereal area gives way it goes to pulses and oilseeds, and fruit and vegetables stay near a fiftieth of the land.</a:t>
            </a:r>
          </a:p>
        </p:txBody>
      </p:sp>
      <p:sp>
        <p:nvSpPr>
          <p:cNvPr id="128" name="TextBox 127"/>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Districts are sorted into quarters on the effective number of crops across the 725 with a cropping record. Category shares are averaged within the quarter.</a:t>
            </a:r>
          </a:p>
        </p:txBody>
      </p:sp>
      <p:sp>
        <p:nvSpPr>
          <p:cNvPr id="129" name="TextBox 128"/>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Crop diversity over two decades</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Fixed panel of 429 districts reporting in every year, 1998 to 2019</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6</a:t>
            </a:r>
          </a:p>
        </p:txBody>
      </p:sp>
      <p:pic>
        <p:nvPicPr>
          <p:cNvPr id="7" name="Picture 6" descr="f13_trend_wide.png"/>
          <p:cNvPicPr>
            <a:picLocks noChangeAspect="1"/>
          </p:cNvPicPr>
          <p:nvPr/>
        </p:nvPicPr>
        <p:blipFill>
          <a:blip r:embed="rId3"/>
          <a:stretch>
            <a:fillRect/>
          </a:stretch>
        </p:blipFill>
        <p:spPr>
          <a:xfrm>
            <a:off x="1833599" y="1280160"/>
            <a:ext cx="8503464" cy="2651760"/>
          </a:xfrm>
          <a:prstGeom prst="rect">
            <a:avLst/>
          </a:prstGeom>
        </p:spPr>
      </p:pic>
      <p:sp>
        <p:nvSpPr>
          <p:cNvPr id="8" name="Rectangle 7"/>
          <p:cNvSpPr/>
          <p:nvPr/>
        </p:nvSpPr>
        <p:spPr>
          <a:xfrm>
            <a:off x="393192" y="4041648"/>
            <a:ext cx="3587496" cy="73152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150" b="1">
                <a:solidFill>
                  <a:srgbClr val="7F8080"/>
                </a:solidFill>
                <a:latin typeface="Calibri"/>
              </a:rPr>
              <a:t>Effective number of crops</a:t>
            </a:r>
          </a:p>
          <a:p>
            <a:pPr algn="l">
              <a:lnSpc>
                <a:spcPct val="106000"/>
              </a:lnSpc>
              <a:spcAft>
                <a:spcPts val="0"/>
              </a:spcAft>
            </a:pPr>
            <a:r>
              <a:rPr sz="1200" b="0">
                <a:solidFill>
                  <a:srgbClr val="333232"/>
                </a:solidFill>
                <a:latin typeface="Calibri"/>
              </a:rPr>
              <a:t>165 districts up, 264 down, median -0.19</a:t>
            </a:r>
          </a:p>
        </p:txBody>
      </p:sp>
      <p:sp>
        <p:nvSpPr>
          <p:cNvPr id="9" name="Rectangle 8"/>
          <p:cNvSpPr/>
          <p:nvPr/>
        </p:nvSpPr>
        <p:spPr>
          <a:xfrm>
            <a:off x="4291584" y="4041648"/>
            <a:ext cx="3587496" cy="73152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150" b="1">
                <a:solidFill>
                  <a:srgbClr val="7F8080"/>
                </a:solidFill>
                <a:latin typeface="Calibri"/>
              </a:rPr>
              <a:t>Crops grown in an average year</a:t>
            </a:r>
          </a:p>
          <a:p>
            <a:pPr algn="l">
              <a:lnSpc>
                <a:spcPct val="106000"/>
              </a:lnSpc>
              <a:spcAft>
                <a:spcPts val="0"/>
              </a:spcAft>
            </a:pPr>
            <a:r>
              <a:rPr sz="1200" b="0">
                <a:solidFill>
                  <a:srgbClr val="333232"/>
                </a:solidFill>
                <a:latin typeface="Calibri"/>
              </a:rPr>
              <a:t>199 up, 226 down, median -0.29</a:t>
            </a:r>
          </a:p>
        </p:txBody>
      </p:sp>
      <p:sp>
        <p:nvSpPr>
          <p:cNvPr id="10" name="Rectangle 9"/>
          <p:cNvSpPr/>
          <p:nvPr/>
        </p:nvSpPr>
        <p:spPr>
          <a:xfrm>
            <a:off x="8189976" y="4041648"/>
            <a:ext cx="3587496" cy="73152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150" b="1">
                <a:solidFill>
                  <a:srgbClr val="7F8080"/>
                </a:solidFill>
                <a:latin typeface="Calibri"/>
              </a:rPr>
              <a:t>Evenness</a:t>
            </a:r>
          </a:p>
          <a:p>
            <a:pPr algn="l">
              <a:lnSpc>
                <a:spcPct val="106000"/>
              </a:lnSpc>
              <a:spcAft>
                <a:spcPts val="0"/>
              </a:spcAft>
            </a:pPr>
            <a:r>
              <a:rPr sz="1200" b="0">
                <a:solidFill>
                  <a:srgbClr val="333232"/>
                </a:solidFill>
                <a:latin typeface="Calibri"/>
              </a:rPr>
              <a:t>200 up, 229 down, median -0.004</a:t>
            </a:r>
          </a:p>
        </p:txBody>
      </p:sp>
      <p:sp>
        <p:nvSpPr>
          <p:cNvPr id="11" name="Rectangle 10"/>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The effective number of crops held at about 5.4 across two decades</a:t>
            </a:r>
          </a:p>
          <a:p>
            <a:pPr algn="l">
              <a:lnSpc>
                <a:spcPct val="104000"/>
              </a:lnSpc>
              <a:spcAft>
                <a:spcPts val="200"/>
              </a:spcAft>
            </a:pPr>
            <a:r>
              <a:rPr sz="1350" b="0">
                <a:solidFill>
                  <a:srgbClr val="333232"/>
                </a:solidFill>
                <a:latin typeface="Calibri"/>
              </a:rPr>
              <a:t>Crops grown in an average year rose from 21.2 to 24.9 and evenness fell from 0.265 to 0.224, so the added crops sit on small patches.</a:t>
            </a:r>
          </a:p>
        </p:txBody>
      </p:sp>
      <p:sp>
        <p:nvSpPr>
          <p:cNvPr id="14" name="TextBox 13"/>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The panel holds the same 429 districts in every year, unweighted across districts. Each district's 2013 to 2019 mean is compared against its 1998 to 2004 mean.</a:t>
            </a:r>
          </a:p>
        </p:txBody>
      </p:sp>
      <p:sp>
        <p:nvSpPr>
          <p:cNvPr id="15" name="TextBox 14"/>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Crop diversity against irrigation</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Effective number of crops by irrigation share of sown area, 606 districts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7</a:t>
            </a:r>
          </a:p>
        </p:txBody>
      </p:sp>
      <p:pic>
        <p:nvPicPr>
          <p:cNvPr id="7" name="Picture 6" descr="f5_irrigation_shape.png"/>
          <p:cNvPicPr>
            <a:picLocks noChangeAspect="1"/>
          </p:cNvPicPr>
          <p:nvPr/>
        </p:nvPicPr>
        <p:blipFill>
          <a:blip r:embed="rId3"/>
          <a:stretch>
            <a:fillRect/>
          </a:stretch>
        </p:blipFill>
        <p:spPr>
          <a:xfrm>
            <a:off x="693868" y="1417320"/>
            <a:ext cx="4935338" cy="3017520"/>
          </a:xfrm>
          <a:prstGeom prst="rect">
            <a:avLst/>
          </a:prstGeom>
        </p:spPr>
      </p:pic>
      <p:sp>
        <p:nvSpPr>
          <p:cNvPr id="8" name="TextBox 7"/>
          <p:cNvSpPr txBox="1"/>
          <p:nvPr/>
        </p:nvSpPr>
        <p:spPr>
          <a:xfrm>
            <a:off x="6240779" y="1298448"/>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Decile</a:t>
            </a:r>
          </a:p>
        </p:txBody>
      </p:sp>
      <p:sp>
        <p:nvSpPr>
          <p:cNvPr id="9" name="TextBox 8"/>
          <p:cNvSpPr txBox="1"/>
          <p:nvPr/>
        </p:nvSpPr>
        <p:spPr>
          <a:xfrm>
            <a:off x="6926579" y="1298448"/>
            <a:ext cx="77724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Districts</a:t>
            </a:r>
          </a:p>
        </p:txBody>
      </p:sp>
      <p:sp>
        <p:nvSpPr>
          <p:cNvPr id="10" name="TextBox 9"/>
          <p:cNvSpPr txBox="1"/>
          <p:nvPr/>
        </p:nvSpPr>
        <p:spPr>
          <a:xfrm>
            <a:off x="7703819" y="1298448"/>
            <a:ext cx="896112"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Irrigation</a:t>
            </a:r>
          </a:p>
        </p:txBody>
      </p:sp>
      <p:sp>
        <p:nvSpPr>
          <p:cNvPr id="11" name="TextBox 10"/>
          <p:cNvSpPr txBox="1"/>
          <p:nvPr/>
        </p:nvSpPr>
        <p:spPr>
          <a:xfrm>
            <a:off x="8599932" y="1298448"/>
            <a:ext cx="109728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Effective crops</a:t>
            </a:r>
          </a:p>
        </p:txBody>
      </p:sp>
      <p:sp>
        <p:nvSpPr>
          <p:cNvPr id="12" name="TextBox 11"/>
          <p:cNvSpPr txBox="1"/>
          <p:nvPr/>
        </p:nvSpPr>
        <p:spPr>
          <a:xfrm>
            <a:off x="9697211" y="1298448"/>
            <a:ext cx="105156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Crops grown</a:t>
            </a:r>
          </a:p>
        </p:txBody>
      </p:sp>
      <p:sp>
        <p:nvSpPr>
          <p:cNvPr id="13" name="TextBox 12"/>
          <p:cNvSpPr txBox="1"/>
          <p:nvPr/>
        </p:nvSpPr>
        <p:spPr>
          <a:xfrm>
            <a:off x="10748772" y="1298448"/>
            <a:ext cx="10287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Cereal share</a:t>
            </a:r>
          </a:p>
        </p:txBody>
      </p:sp>
      <p:sp>
        <p:nvSpPr>
          <p:cNvPr id="14" name="Rectangle 13"/>
          <p:cNvSpPr/>
          <p:nvPr/>
        </p:nvSpPr>
        <p:spPr>
          <a:xfrm>
            <a:off x="6240779" y="1554480"/>
            <a:ext cx="5536692"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0779" y="1566367"/>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a:t>
            </a:r>
          </a:p>
        </p:txBody>
      </p:sp>
      <p:sp>
        <p:nvSpPr>
          <p:cNvPr id="16" name="TextBox 15"/>
          <p:cNvSpPr txBox="1"/>
          <p:nvPr/>
        </p:nvSpPr>
        <p:spPr>
          <a:xfrm>
            <a:off x="6926579" y="1566367"/>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17" name="TextBox 16"/>
          <p:cNvSpPr txBox="1"/>
          <p:nvPr/>
        </p:nvSpPr>
        <p:spPr>
          <a:xfrm>
            <a:off x="7703819" y="1566367"/>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0.165</a:t>
            </a:r>
          </a:p>
        </p:txBody>
      </p:sp>
      <p:sp>
        <p:nvSpPr>
          <p:cNvPr id="18" name="TextBox 17"/>
          <p:cNvSpPr txBox="1"/>
          <p:nvPr/>
        </p:nvSpPr>
        <p:spPr>
          <a:xfrm>
            <a:off x="8599932" y="1566367"/>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4.11</a:t>
            </a:r>
          </a:p>
        </p:txBody>
      </p:sp>
      <p:sp>
        <p:nvSpPr>
          <p:cNvPr id="19" name="TextBox 18"/>
          <p:cNvSpPr txBox="1"/>
          <p:nvPr/>
        </p:nvSpPr>
        <p:spPr>
          <a:xfrm>
            <a:off x="9697211" y="1566367"/>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19.1</a:t>
            </a:r>
          </a:p>
        </p:txBody>
      </p:sp>
      <p:sp>
        <p:nvSpPr>
          <p:cNvPr id="20" name="TextBox 19"/>
          <p:cNvSpPr txBox="1"/>
          <p:nvPr/>
        </p:nvSpPr>
        <p:spPr>
          <a:xfrm>
            <a:off x="10748772" y="1566367"/>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0.718</a:t>
            </a:r>
          </a:p>
        </p:txBody>
      </p:sp>
      <p:sp>
        <p:nvSpPr>
          <p:cNvPr id="21" name="Rectangle 20"/>
          <p:cNvSpPr/>
          <p:nvPr/>
        </p:nvSpPr>
        <p:spPr>
          <a:xfrm>
            <a:off x="6240779" y="1831543"/>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79" y="1838858"/>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a:t>
            </a:r>
          </a:p>
        </p:txBody>
      </p:sp>
      <p:sp>
        <p:nvSpPr>
          <p:cNvPr id="23" name="TextBox 22"/>
          <p:cNvSpPr txBox="1"/>
          <p:nvPr/>
        </p:nvSpPr>
        <p:spPr>
          <a:xfrm>
            <a:off x="6926579" y="1838858"/>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24" name="TextBox 23"/>
          <p:cNvSpPr txBox="1"/>
          <p:nvPr/>
        </p:nvSpPr>
        <p:spPr>
          <a:xfrm>
            <a:off x="7703819" y="1838858"/>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0.300</a:t>
            </a:r>
          </a:p>
        </p:txBody>
      </p:sp>
      <p:sp>
        <p:nvSpPr>
          <p:cNvPr id="25" name="TextBox 24"/>
          <p:cNvSpPr txBox="1"/>
          <p:nvPr/>
        </p:nvSpPr>
        <p:spPr>
          <a:xfrm>
            <a:off x="8599932" y="1838858"/>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4.99</a:t>
            </a:r>
          </a:p>
        </p:txBody>
      </p:sp>
      <p:sp>
        <p:nvSpPr>
          <p:cNvPr id="26" name="TextBox 25"/>
          <p:cNvSpPr txBox="1"/>
          <p:nvPr/>
        </p:nvSpPr>
        <p:spPr>
          <a:xfrm>
            <a:off x="9697211" y="1838858"/>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21.2</a:t>
            </a:r>
          </a:p>
        </p:txBody>
      </p:sp>
      <p:sp>
        <p:nvSpPr>
          <p:cNvPr id="27" name="TextBox 26"/>
          <p:cNvSpPr txBox="1"/>
          <p:nvPr/>
        </p:nvSpPr>
        <p:spPr>
          <a:xfrm>
            <a:off x="10748772" y="1838858"/>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0.669</a:t>
            </a:r>
          </a:p>
        </p:txBody>
      </p:sp>
      <p:sp>
        <p:nvSpPr>
          <p:cNvPr id="28" name="Rectangle 27"/>
          <p:cNvSpPr/>
          <p:nvPr/>
        </p:nvSpPr>
        <p:spPr>
          <a:xfrm>
            <a:off x="6240779" y="2104034"/>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0779" y="2111349"/>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a:t>
            </a:r>
          </a:p>
        </p:txBody>
      </p:sp>
      <p:sp>
        <p:nvSpPr>
          <p:cNvPr id="30" name="TextBox 29"/>
          <p:cNvSpPr txBox="1"/>
          <p:nvPr/>
        </p:nvSpPr>
        <p:spPr>
          <a:xfrm>
            <a:off x="6926579" y="2111349"/>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60</a:t>
            </a:r>
          </a:p>
        </p:txBody>
      </p:sp>
      <p:sp>
        <p:nvSpPr>
          <p:cNvPr id="31" name="TextBox 30"/>
          <p:cNvSpPr txBox="1"/>
          <p:nvPr/>
        </p:nvSpPr>
        <p:spPr>
          <a:xfrm>
            <a:off x="7703819" y="2111349"/>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0.385</a:t>
            </a:r>
          </a:p>
        </p:txBody>
      </p:sp>
      <p:sp>
        <p:nvSpPr>
          <p:cNvPr id="32" name="TextBox 31"/>
          <p:cNvSpPr txBox="1"/>
          <p:nvPr/>
        </p:nvSpPr>
        <p:spPr>
          <a:xfrm>
            <a:off x="8599932" y="2111349"/>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5.29</a:t>
            </a:r>
          </a:p>
        </p:txBody>
      </p:sp>
      <p:sp>
        <p:nvSpPr>
          <p:cNvPr id="33" name="TextBox 32"/>
          <p:cNvSpPr txBox="1"/>
          <p:nvPr/>
        </p:nvSpPr>
        <p:spPr>
          <a:xfrm>
            <a:off x="9697211" y="2111349"/>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21.9</a:t>
            </a:r>
          </a:p>
        </p:txBody>
      </p:sp>
      <p:sp>
        <p:nvSpPr>
          <p:cNvPr id="34" name="TextBox 33"/>
          <p:cNvSpPr txBox="1"/>
          <p:nvPr/>
        </p:nvSpPr>
        <p:spPr>
          <a:xfrm>
            <a:off x="10748772" y="2111349"/>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0.617</a:t>
            </a:r>
          </a:p>
        </p:txBody>
      </p:sp>
      <p:sp>
        <p:nvSpPr>
          <p:cNvPr id="35" name="Rectangle 34"/>
          <p:cNvSpPr/>
          <p:nvPr/>
        </p:nvSpPr>
        <p:spPr>
          <a:xfrm>
            <a:off x="6240779" y="2376525"/>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40779" y="2383840"/>
            <a:ext cx="5536692"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79" y="2383840"/>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a:t>
            </a:r>
          </a:p>
        </p:txBody>
      </p:sp>
      <p:sp>
        <p:nvSpPr>
          <p:cNvPr id="38" name="TextBox 37"/>
          <p:cNvSpPr txBox="1"/>
          <p:nvPr/>
        </p:nvSpPr>
        <p:spPr>
          <a:xfrm>
            <a:off x="6926579" y="2383840"/>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39" name="TextBox 38"/>
          <p:cNvSpPr txBox="1"/>
          <p:nvPr/>
        </p:nvSpPr>
        <p:spPr>
          <a:xfrm>
            <a:off x="7703819" y="2383840"/>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0.444</a:t>
            </a:r>
          </a:p>
        </p:txBody>
      </p:sp>
      <p:sp>
        <p:nvSpPr>
          <p:cNvPr id="40" name="TextBox 39"/>
          <p:cNvSpPr txBox="1"/>
          <p:nvPr/>
        </p:nvSpPr>
        <p:spPr>
          <a:xfrm>
            <a:off x="8599932" y="2383840"/>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5.86</a:t>
            </a:r>
          </a:p>
        </p:txBody>
      </p:sp>
      <p:sp>
        <p:nvSpPr>
          <p:cNvPr id="41" name="TextBox 40"/>
          <p:cNvSpPr txBox="1"/>
          <p:nvPr/>
        </p:nvSpPr>
        <p:spPr>
          <a:xfrm>
            <a:off x="9697211" y="2383840"/>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21.1</a:t>
            </a:r>
          </a:p>
        </p:txBody>
      </p:sp>
      <p:sp>
        <p:nvSpPr>
          <p:cNvPr id="42" name="TextBox 41"/>
          <p:cNvSpPr txBox="1"/>
          <p:nvPr/>
        </p:nvSpPr>
        <p:spPr>
          <a:xfrm>
            <a:off x="10748772" y="2383840"/>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0.638</a:t>
            </a:r>
          </a:p>
        </p:txBody>
      </p:sp>
      <p:sp>
        <p:nvSpPr>
          <p:cNvPr id="43" name="Rectangle 42"/>
          <p:cNvSpPr/>
          <p:nvPr/>
        </p:nvSpPr>
        <p:spPr>
          <a:xfrm>
            <a:off x="6240779" y="2649016"/>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40779" y="2649016"/>
            <a:ext cx="5536692"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0779" y="2656332"/>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a:t>
            </a:r>
          </a:p>
        </p:txBody>
      </p:sp>
      <p:sp>
        <p:nvSpPr>
          <p:cNvPr id="46" name="TextBox 45"/>
          <p:cNvSpPr txBox="1"/>
          <p:nvPr/>
        </p:nvSpPr>
        <p:spPr>
          <a:xfrm>
            <a:off x="6926579" y="2656332"/>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60</a:t>
            </a:r>
          </a:p>
        </p:txBody>
      </p:sp>
      <p:sp>
        <p:nvSpPr>
          <p:cNvPr id="47" name="TextBox 46"/>
          <p:cNvSpPr txBox="1"/>
          <p:nvPr/>
        </p:nvSpPr>
        <p:spPr>
          <a:xfrm>
            <a:off x="7703819" y="2656332"/>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0.502</a:t>
            </a:r>
          </a:p>
        </p:txBody>
      </p:sp>
      <p:sp>
        <p:nvSpPr>
          <p:cNvPr id="48" name="TextBox 47"/>
          <p:cNvSpPr txBox="1"/>
          <p:nvPr/>
        </p:nvSpPr>
        <p:spPr>
          <a:xfrm>
            <a:off x="8599932" y="2656332"/>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5.01</a:t>
            </a:r>
          </a:p>
        </p:txBody>
      </p:sp>
      <p:sp>
        <p:nvSpPr>
          <p:cNvPr id="49" name="TextBox 48"/>
          <p:cNvSpPr txBox="1"/>
          <p:nvPr/>
        </p:nvSpPr>
        <p:spPr>
          <a:xfrm>
            <a:off x="9697211" y="2656332"/>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20.5</a:t>
            </a:r>
          </a:p>
        </p:txBody>
      </p:sp>
      <p:sp>
        <p:nvSpPr>
          <p:cNvPr id="50" name="TextBox 49"/>
          <p:cNvSpPr txBox="1"/>
          <p:nvPr/>
        </p:nvSpPr>
        <p:spPr>
          <a:xfrm>
            <a:off x="10748772" y="2656332"/>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0.618</a:t>
            </a:r>
          </a:p>
        </p:txBody>
      </p:sp>
      <p:sp>
        <p:nvSpPr>
          <p:cNvPr id="51" name="Rectangle 50"/>
          <p:cNvSpPr/>
          <p:nvPr/>
        </p:nvSpPr>
        <p:spPr>
          <a:xfrm>
            <a:off x="6240779" y="2921508"/>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0779" y="2928823"/>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a:t>
            </a:r>
          </a:p>
        </p:txBody>
      </p:sp>
      <p:sp>
        <p:nvSpPr>
          <p:cNvPr id="53" name="TextBox 52"/>
          <p:cNvSpPr txBox="1"/>
          <p:nvPr/>
        </p:nvSpPr>
        <p:spPr>
          <a:xfrm>
            <a:off x="6926579" y="2928823"/>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54" name="TextBox 53"/>
          <p:cNvSpPr txBox="1"/>
          <p:nvPr/>
        </p:nvSpPr>
        <p:spPr>
          <a:xfrm>
            <a:off x="7703819" y="2928823"/>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0.563</a:t>
            </a:r>
          </a:p>
        </p:txBody>
      </p:sp>
      <p:sp>
        <p:nvSpPr>
          <p:cNvPr id="55" name="TextBox 54"/>
          <p:cNvSpPr txBox="1"/>
          <p:nvPr/>
        </p:nvSpPr>
        <p:spPr>
          <a:xfrm>
            <a:off x="8599932" y="2928823"/>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5.63</a:t>
            </a:r>
          </a:p>
        </p:txBody>
      </p:sp>
      <p:sp>
        <p:nvSpPr>
          <p:cNvPr id="56" name="TextBox 55"/>
          <p:cNvSpPr txBox="1"/>
          <p:nvPr/>
        </p:nvSpPr>
        <p:spPr>
          <a:xfrm>
            <a:off x="9697211" y="2928823"/>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22.1</a:t>
            </a:r>
          </a:p>
        </p:txBody>
      </p:sp>
      <p:sp>
        <p:nvSpPr>
          <p:cNvPr id="57" name="TextBox 56"/>
          <p:cNvSpPr txBox="1"/>
          <p:nvPr/>
        </p:nvSpPr>
        <p:spPr>
          <a:xfrm>
            <a:off x="10748772" y="2928823"/>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0.587</a:t>
            </a:r>
          </a:p>
        </p:txBody>
      </p:sp>
      <p:sp>
        <p:nvSpPr>
          <p:cNvPr id="58" name="Rectangle 57"/>
          <p:cNvSpPr/>
          <p:nvPr/>
        </p:nvSpPr>
        <p:spPr>
          <a:xfrm>
            <a:off x="6240779" y="3193999"/>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40779" y="3201314"/>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7</a:t>
            </a:r>
          </a:p>
        </p:txBody>
      </p:sp>
      <p:sp>
        <p:nvSpPr>
          <p:cNvPr id="60" name="TextBox 59"/>
          <p:cNvSpPr txBox="1"/>
          <p:nvPr/>
        </p:nvSpPr>
        <p:spPr>
          <a:xfrm>
            <a:off x="6926579" y="3201314"/>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60</a:t>
            </a:r>
          </a:p>
        </p:txBody>
      </p:sp>
      <p:sp>
        <p:nvSpPr>
          <p:cNvPr id="61" name="TextBox 60"/>
          <p:cNvSpPr txBox="1"/>
          <p:nvPr/>
        </p:nvSpPr>
        <p:spPr>
          <a:xfrm>
            <a:off x="7703819" y="3201314"/>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0.640</a:t>
            </a:r>
          </a:p>
        </p:txBody>
      </p:sp>
      <p:sp>
        <p:nvSpPr>
          <p:cNvPr id="62" name="TextBox 61"/>
          <p:cNvSpPr txBox="1"/>
          <p:nvPr/>
        </p:nvSpPr>
        <p:spPr>
          <a:xfrm>
            <a:off x="8599932" y="3201314"/>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5.24</a:t>
            </a:r>
          </a:p>
        </p:txBody>
      </p:sp>
      <p:sp>
        <p:nvSpPr>
          <p:cNvPr id="63" name="TextBox 62"/>
          <p:cNvSpPr txBox="1"/>
          <p:nvPr/>
        </p:nvSpPr>
        <p:spPr>
          <a:xfrm>
            <a:off x="9697211" y="3201314"/>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21.5</a:t>
            </a:r>
          </a:p>
        </p:txBody>
      </p:sp>
      <p:sp>
        <p:nvSpPr>
          <p:cNvPr id="64" name="TextBox 63"/>
          <p:cNvSpPr txBox="1"/>
          <p:nvPr/>
        </p:nvSpPr>
        <p:spPr>
          <a:xfrm>
            <a:off x="10748772" y="3201314"/>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0.574</a:t>
            </a:r>
          </a:p>
        </p:txBody>
      </p:sp>
      <p:sp>
        <p:nvSpPr>
          <p:cNvPr id="65" name="Rectangle 64"/>
          <p:cNvSpPr/>
          <p:nvPr/>
        </p:nvSpPr>
        <p:spPr>
          <a:xfrm>
            <a:off x="6240779" y="3466490"/>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40779" y="3473805"/>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a:t>
            </a:r>
          </a:p>
        </p:txBody>
      </p:sp>
      <p:sp>
        <p:nvSpPr>
          <p:cNvPr id="67" name="TextBox 66"/>
          <p:cNvSpPr txBox="1"/>
          <p:nvPr/>
        </p:nvSpPr>
        <p:spPr>
          <a:xfrm>
            <a:off x="6926579" y="3473805"/>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68" name="TextBox 67"/>
          <p:cNvSpPr txBox="1"/>
          <p:nvPr/>
        </p:nvSpPr>
        <p:spPr>
          <a:xfrm>
            <a:off x="7703819" y="3473805"/>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0.718</a:t>
            </a:r>
          </a:p>
        </p:txBody>
      </p:sp>
      <p:sp>
        <p:nvSpPr>
          <p:cNvPr id="69" name="TextBox 68"/>
          <p:cNvSpPr txBox="1"/>
          <p:nvPr/>
        </p:nvSpPr>
        <p:spPr>
          <a:xfrm>
            <a:off x="8599932" y="3473805"/>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4.96</a:t>
            </a:r>
          </a:p>
        </p:txBody>
      </p:sp>
      <p:sp>
        <p:nvSpPr>
          <p:cNvPr id="70" name="TextBox 69"/>
          <p:cNvSpPr txBox="1"/>
          <p:nvPr/>
        </p:nvSpPr>
        <p:spPr>
          <a:xfrm>
            <a:off x="9697211" y="3473805"/>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24.3</a:t>
            </a:r>
          </a:p>
        </p:txBody>
      </p:sp>
      <p:sp>
        <p:nvSpPr>
          <p:cNvPr id="71" name="TextBox 70"/>
          <p:cNvSpPr txBox="1"/>
          <p:nvPr/>
        </p:nvSpPr>
        <p:spPr>
          <a:xfrm>
            <a:off x="10748772" y="3473805"/>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0.604</a:t>
            </a:r>
          </a:p>
        </p:txBody>
      </p:sp>
      <p:sp>
        <p:nvSpPr>
          <p:cNvPr id="72" name="Rectangle 71"/>
          <p:cNvSpPr/>
          <p:nvPr/>
        </p:nvSpPr>
        <p:spPr>
          <a:xfrm>
            <a:off x="6240779" y="3738981"/>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40779" y="3746296"/>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9</a:t>
            </a:r>
          </a:p>
        </p:txBody>
      </p:sp>
      <p:sp>
        <p:nvSpPr>
          <p:cNvPr id="74" name="TextBox 73"/>
          <p:cNvSpPr txBox="1"/>
          <p:nvPr/>
        </p:nvSpPr>
        <p:spPr>
          <a:xfrm>
            <a:off x="6926579" y="3746296"/>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60</a:t>
            </a:r>
          </a:p>
        </p:txBody>
      </p:sp>
      <p:sp>
        <p:nvSpPr>
          <p:cNvPr id="75" name="TextBox 74"/>
          <p:cNvSpPr txBox="1"/>
          <p:nvPr/>
        </p:nvSpPr>
        <p:spPr>
          <a:xfrm>
            <a:off x="7703819" y="3746296"/>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0.826</a:t>
            </a:r>
          </a:p>
        </p:txBody>
      </p:sp>
      <p:sp>
        <p:nvSpPr>
          <p:cNvPr id="76" name="TextBox 75"/>
          <p:cNvSpPr txBox="1"/>
          <p:nvPr/>
        </p:nvSpPr>
        <p:spPr>
          <a:xfrm>
            <a:off x="8599932" y="3746296"/>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4.54</a:t>
            </a:r>
          </a:p>
        </p:txBody>
      </p:sp>
      <p:sp>
        <p:nvSpPr>
          <p:cNvPr id="77" name="TextBox 76"/>
          <p:cNvSpPr txBox="1"/>
          <p:nvPr/>
        </p:nvSpPr>
        <p:spPr>
          <a:xfrm>
            <a:off x="9697211" y="3746296"/>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22.0</a:t>
            </a:r>
          </a:p>
        </p:txBody>
      </p:sp>
      <p:sp>
        <p:nvSpPr>
          <p:cNvPr id="78" name="TextBox 77"/>
          <p:cNvSpPr txBox="1"/>
          <p:nvPr/>
        </p:nvSpPr>
        <p:spPr>
          <a:xfrm>
            <a:off x="10748772" y="3746296"/>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0.772</a:t>
            </a:r>
          </a:p>
        </p:txBody>
      </p:sp>
      <p:sp>
        <p:nvSpPr>
          <p:cNvPr id="79" name="Rectangle 78"/>
          <p:cNvSpPr/>
          <p:nvPr/>
        </p:nvSpPr>
        <p:spPr>
          <a:xfrm>
            <a:off x="6240779" y="4011472"/>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240779" y="4018787"/>
            <a:ext cx="5536692"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40779" y="4018787"/>
            <a:ext cx="6858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10</a:t>
            </a:r>
          </a:p>
        </p:txBody>
      </p:sp>
      <p:sp>
        <p:nvSpPr>
          <p:cNvPr id="82" name="TextBox 81"/>
          <p:cNvSpPr txBox="1"/>
          <p:nvPr/>
        </p:nvSpPr>
        <p:spPr>
          <a:xfrm>
            <a:off x="6926579" y="4018787"/>
            <a:ext cx="7772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61</a:t>
            </a:r>
          </a:p>
        </p:txBody>
      </p:sp>
      <p:sp>
        <p:nvSpPr>
          <p:cNvPr id="83" name="TextBox 82"/>
          <p:cNvSpPr txBox="1"/>
          <p:nvPr/>
        </p:nvSpPr>
        <p:spPr>
          <a:xfrm>
            <a:off x="7703819" y="4018787"/>
            <a:ext cx="89611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0.922</a:t>
            </a:r>
          </a:p>
        </p:txBody>
      </p:sp>
      <p:sp>
        <p:nvSpPr>
          <p:cNvPr id="84" name="TextBox 83"/>
          <p:cNvSpPr txBox="1"/>
          <p:nvPr/>
        </p:nvSpPr>
        <p:spPr>
          <a:xfrm>
            <a:off x="8599932" y="4018787"/>
            <a:ext cx="10972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3.71</a:t>
            </a:r>
          </a:p>
        </p:txBody>
      </p:sp>
      <p:sp>
        <p:nvSpPr>
          <p:cNvPr id="85" name="TextBox 84"/>
          <p:cNvSpPr txBox="1"/>
          <p:nvPr/>
        </p:nvSpPr>
        <p:spPr>
          <a:xfrm>
            <a:off x="9697211" y="4018787"/>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18.0</a:t>
            </a:r>
          </a:p>
        </p:txBody>
      </p:sp>
      <p:sp>
        <p:nvSpPr>
          <p:cNvPr id="86" name="TextBox 85"/>
          <p:cNvSpPr txBox="1"/>
          <p:nvPr/>
        </p:nvSpPr>
        <p:spPr>
          <a:xfrm>
            <a:off x="10748772" y="4018787"/>
            <a:ext cx="102870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0.793</a:t>
            </a:r>
          </a:p>
        </p:txBody>
      </p:sp>
      <p:sp>
        <p:nvSpPr>
          <p:cNvPr id="87" name="Rectangle 86"/>
          <p:cNvSpPr/>
          <p:nvPr/>
        </p:nvSpPr>
        <p:spPr>
          <a:xfrm>
            <a:off x="6240779" y="4283964"/>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240779" y="4283964"/>
            <a:ext cx="5536692"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40779" y="4343400"/>
            <a:ext cx="5536692" cy="475488"/>
          </a:xfrm>
          <a:prstGeom prst="rect">
            <a:avLst/>
          </a:prstGeom>
          <a:noFill/>
          <a:ln>
            <a:noFill/>
          </a:ln>
        </p:spPr>
        <p:txBody>
          <a:bodyPr wrap="square" lIns="18288" rIns="18288" tIns="18288" bIns="18288">
            <a:spAutoFit/>
          </a:bodyPr>
          <a:lstStyle/>
          <a:p>
            <a:pPr algn="l">
              <a:lnSpc>
                <a:spcPct val="106000"/>
              </a:lnSpc>
              <a:spcAft>
                <a:spcPts val="0"/>
              </a:spcAft>
            </a:pPr>
            <a:r>
              <a:rPr sz="1150" b="0">
                <a:solidFill>
                  <a:srgbClr val="7F8080"/>
                </a:solidFill>
                <a:latin typeface="Calibri"/>
              </a:rPr>
              <a:t>Deciles are of the irrigation share of sown area across the 606 districts, 1 = driest and 10 = wettest, about 61 districts each.</a:t>
            </a:r>
          </a:p>
        </p:txBody>
      </p:sp>
      <p:sp>
        <p:nvSpPr>
          <p:cNvPr id="90" name="Rectangle 89"/>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The effective number of crops rises with the irrigation share of sown area and then falls</a:t>
            </a:r>
          </a:p>
          <a:p>
            <a:pPr algn="l">
              <a:lnSpc>
                <a:spcPct val="104000"/>
              </a:lnSpc>
              <a:spcAft>
                <a:spcPts val="200"/>
              </a:spcAft>
            </a:pPr>
            <a:r>
              <a:rPr sz="1350" b="0">
                <a:solidFill>
                  <a:srgbClr val="333232"/>
                </a:solidFill>
                <a:latin typeface="Calibri"/>
              </a:rPr>
              <a:t>Districts in the wettest tenth average 3.71 effective crops against 5.86 in the fourth tenth.</a:t>
            </a:r>
          </a:p>
        </p:txBody>
      </p:sp>
      <p:sp>
        <p:nvSpPr>
          <p:cNvPr id="93" name="TextBox 92"/>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The fitted curve carries no state fixed effects and turns at 51 percent of sown area. State fixed effects move it to 28 percent, and across the eight samples it runs 25 to 51 percent.</a:t>
            </a:r>
          </a:p>
        </p:txBody>
      </p:sp>
      <p:sp>
        <p:nvSpPr>
          <p:cNvPr id="94" name="TextBox 93"/>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Thirteen candidate explanations</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Association with the effective number of crops, before and after adjustment. One star is p below 0.10, two below 0.05, three below 0.01</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8</a:t>
            </a:r>
          </a:p>
        </p:txBody>
      </p:sp>
      <p:sp>
        <p:nvSpPr>
          <p:cNvPr id="7" name="TextBox 6"/>
          <p:cNvSpPr txBox="1"/>
          <p:nvPr/>
        </p:nvSpPr>
        <p:spPr>
          <a:xfrm>
            <a:off x="1856232" y="1298448"/>
            <a:ext cx="269748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Candidate</a:t>
            </a:r>
          </a:p>
        </p:txBody>
      </p:sp>
      <p:sp>
        <p:nvSpPr>
          <p:cNvPr id="8" name="TextBox 7"/>
          <p:cNvSpPr txBox="1"/>
          <p:nvPr/>
        </p:nvSpPr>
        <p:spPr>
          <a:xfrm>
            <a:off x="4553712" y="1298448"/>
            <a:ext cx="6858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Districts</a:t>
            </a:r>
          </a:p>
        </p:txBody>
      </p:sp>
      <p:sp>
        <p:nvSpPr>
          <p:cNvPr id="9" name="TextBox 8"/>
          <p:cNvSpPr txBox="1"/>
          <p:nvPr/>
        </p:nvSpPr>
        <p:spPr>
          <a:xfrm>
            <a:off x="5239512" y="1298448"/>
            <a:ext cx="96012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Unadjusted</a:t>
            </a:r>
          </a:p>
        </p:txBody>
      </p:sp>
      <p:sp>
        <p:nvSpPr>
          <p:cNvPr id="10" name="TextBox 9"/>
          <p:cNvSpPr txBox="1"/>
          <p:nvPr/>
        </p:nvSpPr>
        <p:spPr>
          <a:xfrm>
            <a:off x="6199632" y="1298448"/>
            <a:ext cx="91440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Adjusted</a:t>
            </a:r>
          </a:p>
        </p:txBody>
      </p:sp>
      <p:sp>
        <p:nvSpPr>
          <p:cNvPr id="11" name="TextBox 10"/>
          <p:cNvSpPr txBox="1"/>
          <p:nvPr/>
        </p:nvSpPr>
        <p:spPr>
          <a:xfrm>
            <a:off x="7114032" y="1298448"/>
            <a:ext cx="466344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Where it comes from</a:t>
            </a:r>
          </a:p>
        </p:txBody>
      </p:sp>
      <p:sp>
        <p:nvSpPr>
          <p:cNvPr id="12" name="Rectangle 11"/>
          <p:cNvSpPr/>
          <p:nvPr/>
        </p:nvSpPr>
        <p:spPr>
          <a:xfrm>
            <a:off x="393192" y="1554480"/>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56232" y="1566367"/>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irrigation share of sown area</a:t>
            </a:r>
          </a:p>
        </p:txBody>
      </p:sp>
      <p:sp>
        <p:nvSpPr>
          <p:cNvPr id="14" name="TextBox 13"/>
          <p:cNvSpPr txBox="1"/>
          <p:nvPr/>
        </p:nvSpPr>
        <p:spPr>
          <a:xfrm>
            <a:off x="4553712" y="1566367"/>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606</a:t>
            </a:r>
          </a:p>
        </p:txBody>
      </p:sp>
      <p:sp>
        <p:nvSpPr>
          <p:cNvPr id="15" name="TextBox 14"/>
          <p:cNvSpPr txBox="1"/>
          <p:nvPr/>
        </p:nvSpPr>
        <p:spPr>
          <a:xfrm>
            <a:off x="5239512" y="1566367"/>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-0.753**</a:t>
            </a:r>
          </a:p>
        </p:txBody>
      </p:sp>
      <p:sp>
        <p:nvSpPr>
          <p:cNvPr id="16" name="TextBox 15"/>
          <p:cNvSpPr txBox="1"/>
          <p:nvPr/>
        </p:nvSpPr>
        <p:spPr>
          <a:xfrm>
            <a:off x="6199632" y="1566367"/>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+3.901***</a:t>
            </a:r>
          </a:p>
        </p:txBody>
      </p:sp>
      <p:sp>
        <p:nvSpPr>
          <p:cNvPr id="17" name="TextBox 16"/>
          <p:cNvSpPr txBox="1"/>
          <p:nvPr/>
        </p:nvSpPr>
        <p:spPr>
          <a:xfrm>
            <a:off x="7114032" y="1566367"/>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the shape on the previous page</a:t>
            </a:r>
          </a:p>
        </p:txBody>
      </p:sp>
      <p:sp>
        <p:nvSpPr>
          <p:cNvPr id="18" name="Rectangle 17"/>
          <p:cNvSpPr/>
          <p:nvPr/>
        </p:nvSpPr>
        <p:spPr>
          <a:xfrm>
            <a:off x="1856232" y="1808683"/>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56232" y="1815998"/>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canal village share</a:t>
            </a:r>
          </a:p>
        </p:txBody>
      </p:sp>
      <p:sp>
        <p:nvSpPr>
          <p:cNvPr id="20" name="TextBox 19"/>
          <p:cNvSpPr txBox="1"/>
          <p:nvPr/>
        </p:nvSpPr>
        <p:spPr>
          <a:xfrm>
            <a:off x="4553712" y="1815998"/>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21" name="TextBox 20"/>
          <p:cNvSpPr txBox="1"/>
          <p:nvPr/>
        </p:nvSpPr>
        <p:spPr>
          <a:xfrm>
            <a:off x="5239512" y="1815998"/>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-1.265***</a:t>
            </a:r>
          </a:p>
        </p:txBody>
      </p:sp>
      <p:sp>
        <p:nvSpPr>
          <p:cNvPr id="22" name="TextBox 21"/>
          <p:cNvSpPr txBox="1"/>
          <p:nvPr/>
        </p:nvSpPr>
        <p:spPr>
          <a:xfrm>
            <a:off x="6199632" y="1815998"/>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-0.246</a:t>
            </a:r>
          </a:p>
        </p:txBody>
      </p:sp>
      <p:sp>
        <p:nvSpPr>
          <p:cNvPr id="23" name="TextBox 22"/>
          <p:cNvSpPr txBox="1"/>
          <p:nvPr/>
        </p:nvSpPr>
        <p:spPr>
          <a:xfrm>
            <a:off x="7114032" y="1815998"/>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command-area rotations</a:t>
            </a:r>
          </a:p>
        </p:txBody>
      </p:sp>
      <p:sp>
        <p:nvSpPr>
          <p:cNvPr id="24" name="Rectangle 23"/>
          <p:cNvSpPr/>
          <p:nvPr/>
        </p:nvSpPr>
        <p:spPr>
          <a:xfrm>
            <a:off x="1856232" y="2058314"/>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56232" y="2065629"/>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mean holding size, log hectares</a:t>
            </a:r>
          </a:p>
        </p:txBody>
      </p:sp>
      <p:sp>
        <p:nvSpPr>
          <p:cNvPr id="26" name="TextBox 25"/>
          <p:cNvSpPr txBox="1"/>
          <p:nvPr/>
        </p:nvSpPr>
        <p:spPr>
          <a:xfrm>
            <a:off x="4553712" y="2065629"/>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27" name="TextBox 26"/>
          <p:cNvSpPr txBox="1"/>
          <p:nvPr/>
        </p:nvSpPr>
        <p:spPr>
          <a:xfrm>
            <a:off x="5239512" y="2065629"/>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+0.339***</a:t>
            </a:r>
          </a:p>
        </p:txBody>
      </p:sp>
      <p:sp>
        <p:nvSpPr>
          <p:cNvPr id="28" name="TextBox 27"/>
          <p:cNvSpPr txBox="1"/>
          <p:nvPr/>
        </p:nvSpPr>
        <p:spPr>
          <a:xfrm>
            <a:off x="6199632" y="2065629"/>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+0.019</a:t>
            </a:r>
          </a:p>
        </p:txBody>
      </p:sp>
      <p:sp>
        <p:nvSpPr>
          <p:cNvPr id="29" name="TextBox 28"/>
          <p:cNvSpPr txBox="1"/>
          <p:nvPr/>
        </p:nvSpPr>
        <p:spPr>
          <a:xfrm>
            <a:off x="7114032" y="2065629"/>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small farms spreading risk</a:t>
            </a:r>
          </a:p>
        </p:txBody>
      </p:sp>
      <p:sp>
        <p:nvSpPr>
          <p:cNvPr id="30" name="Rectangle 29"/>
          <p:cNvSpPr/>
          <p:nvPr/>
        </p:nvSpPr>
        <p:spPr>
          <a:xfrm>
            <a:off x="1856232" y="2307945"/>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56232" y="2315260"/>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cultivator share of agricultural workers</a:t>
            </a:r>
          </a:p>
        </p:txBody>
      </p:sp>
      <p:sp>
        <p:nvSpPr>
          <p:cNvPr id="32" name="TextBox 31"/>
          <p:cNvSpPr txBox="1"/>
          <p:nvPr/>
        </p:nvSpPr>
        <p:spPr>
          <a:xfrm>
            <a:off x="4553712" y="2315260"/>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33" name="TextBox 32"/>
          <p:cNvSpPr txBox="1"/>
          <p:nvPr/>
        </p:nvSpPr>
        <p:spPr>
          <a:xfrm>
            <a:off x="5239512" y="2315260"/>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-1.134***</a:t>
            </a:r>
          </a:p>
        </p:txBody>
      </p:sp>
      <p:sp>
        <p:nvSpPr>
          <p:cNvPr id="34" name="TextBox 33"/>
          <p:cNvSpPr txBox="1"/>
          <p:nvPr/>
        </p:nvSpPr>
        <p:spPr>
          <a:xfrm>
            <a:off x="6199632" y="2315260"/>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-0.060</a:t>
            </a:r>
          </a:p>
        </p:txBody>
      </p:sp>
      <p:sp>
        <p:nvSpPr>
          <p:cNvPr id="35" name="TextBox 34"/>
          <p:cNvSpPr txBox="1"/>
          <p:nvPr/>
        </p:nvSpPr>
        <p:spPr>
          <a:xfrm>
            <a:off x="7114032" y="2315260"/>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labour supply and crop choice</a:t>
            </a:r>
          </a:p>
        </p:txBody>
      </p:sp>
      <p:sp>
        <p:nvSpPr>
          <p:cNvPr id="36" name="Rectangle 35"/>
          <p:cNvSpPr/>
          <p:nvPr/>
        </p:nvSpPr>
        <p:spPr>
          <a:xfrm>
            <a:off x="1856232" y="2557576"/>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856232" y="2564892"/>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landless share</a:t>
            </a:r>
          </a:p>
        </p:txBody>
      </p:sp>
      <p:sp>
        <p:nvSpPr>
          <p:cNvPr id="38" name="TextBox 37"/>
          <p:cNvSpPr txBox="1"/>
          <p:nvPr/>
        </p:nvSpPr>
        <p:spPr>
          <a:xfrm>
            <a:off x="4553712" y="2564892"/>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592</a:t>
            </a:r>
          </a:p>
        </p:txBody>
      </p:sp>
      <p:sp>
        <p:nvSpPr>
          <p:cNvPr id="39" name="TextBox 38"/>
          <p:cNvSpPr txBox="1"/>
          <p:nvPr/>
        </p:nvSpPr>
        <p:spPr>
          <a:xfrm>
            <a:off x="5239512" y="2564892"/>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-0.204</a:t>
            </a:r>
          </a:p>
        </p:txBody>
      </p:sp>
      <p:sp>
        <p:nvSpPr>
          <p:cNvPr id="40" name="TextBox 39"/>
          <p:cNvSpPr txBox="1"/>
          <p:nvPr/>
        </p:nvSpPr>
        <p:spPr>
          <a:xfrm>
            <a:off x="6199632" y="2564892"/>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-0.939</a:t>
            </a:r>
          </a:p>
        </p:txBody>
      </p:sp>
      <p:sp>
        <p:nvSpPr>
          <p:cNvPr id="41" name="TextBox 40"/>
          <p:cNvSpPr txBox="1"/>
          <p:nvPr/>
        </p:nvSpPr>
        <p:spPr>
          <a:xfrm>
            <a:off x="7114032" y="2564892"/>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rural deprivation records</a:t>
            </a:r>
          </a:p>
        </p:txBody>
      </p:sp>
      <p:sp>
        <p:nvSpPr>
          <p:cNvPr id="42" name="Rectangle 41"/>
          <p:cNvSpPr/>
          <p:nvPr/>
        </p:nvSpPr>
        <p:spPr>
          <a:xfrm>
            <a:off x="1856232" y="2807208"/>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56232" y="2814523"/>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mandi village share</a:t>
            </a:r>
          </a:p>
        </p:txBody>
      </p:sp>
      <p:sp>
        <p:nvSpPr>
          <p:cNvPr id="44" name="TextBox 43"/>
          <p:cNvSpPr txBox="1"/>
          <p:nvPr/>
        </p:nvSpPr>
        <p:spPr>
          <a:xfrm>
            <a:off x="4553712" y="2814523"/>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45" name="TextBox 44"/>
          <p:cNvSpPr txBox="1"/>
          <p:nvPr/>
        </p:nvSpPr>
        <p:spPr>
          <a:xfrm>
            <a:off x="5239512" y="2814523"/>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-1.931</a:t>
            </a:r>
          </a:p>
        </p:txBody>
      </p:sp>
      <p:sp>
        <p:nvSpPr>
          <p:cNvPr id="46" name="TextBox 45"/>
          <p:cNvSpPr txBox="1"/>
          <p:nvPr/>
        </p:nvSpPr>
        <p:spPr>
          <a:xfrm>
            <a:off x="6199632" y="2814523"/>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-0.142</a:t>
            </a:r>
          </a:p>
        </p:txBody>
      </p:sp>
      <p:sp>
        <p:nvSpPr>
          <p:cNvPr id="47" name="TextBox 46"/>
          <p:cNvSpPr txBox="1"/>
          <p:nvPr/>
        </p:nvSpPr>
        <p:spPr>
          <a:xfrm>
            <a:off x="7114032" y="2814523"/>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assured procurement</a:t>
            </a:r>
          </a:p>
        </p:txBody>
      </p:sp>
      <p:sp>
        <p:nvSpPr>
          <p:cNvPr id="48" name="Rectangle 47"/>
          <p:cNvSpPr/>
          <p:nvPr/>
        </p:nvSpPr>
        <p:spPr>
          <a:xfrm>
            <a:off x="1856232" y="3056839"/>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56232" y="3064154"/>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weekly haat village share</a:t>
            </a:r>
          </a:p>
        </p:txBody>
      </p:sp>
      <p:sp>
        <p:nvSpPr>
          <p:cNvPr id="50" name="TextBox 49"/>
          <p:cNvSpPr txBox="1"/>
          <p:nvPr/>
        </p:nvSpPr>
        <p:spPr>
          <a:xfrm>
            <a:off x="4553712" y="3064154"/>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51" name="TextBox 50"/>
          <p:cNvSpPr txBox="1"/>
          <p:nvPr/>
        </p:nvSpPr>
        <p:spPr>
          <a:xfrm>
            <a:off x="5239512" y="3064154"/>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-0.148</a:t>
            </a:r>
          </a:p>
        </p:txBody>
      </p:sp>
      <p:sp>
        <p:nvSpPr>
          <p:cNvPr id="52" name="TextBox 51"/>
          <p:cNvSpPr txBox="1"/>
          <p:nvPr/>
        </p:nvSpPr>
        <p:spPr>
          <a:xfrm>
            <a:off x="6199632" y="3064154"/>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+0.857</a:t>
            </a:r>
          </a:p>
        </p:txBody>
      </p:sp>
      <p:sp>
        <p:nvSpPr>
          <p:cNvPr id="53" name="TextBox 52"/>
          <p:cNvSpPr txBox="1"/>
          <p:nvPr/>
        </p:nvSpPr>
        <p:spPr>
          <a:xfrm>
            <a:off x="7114032" y="3064154"/>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smallholder selling points</a:t>
            </a:r>
          </a:p>
        </p:txBody>
      </p:sp>
      <p:sp>
        <p:nvSpPr>
          <p:cNvPr id="54" name="Rectangle 53"/>
          <p:cNvSpPr/>
          <p:nvPr/>
        </p:nvSpPr>
        <p:spPr>
          <a:xfrm>
            <a:off x="1856232" y="3306470"/>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856232" y="3313785"/>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regular market village share</a:t>
            </a:r>
          </a:p>
        </p:txBody>
      </p:sp>
      <p:sp>
        <p:nvSpPr>
          <p:cNvPr id="56" name="TextBox 55"/>
          <p:cNvSpPr txBox="1"/>
          <p:nvPr/>
        </p:nvSpPr>
        <p:spPr>
          <a:xfrm>
            <a:off x="4553712" y="3313785"/>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57" name="TextBox 56"/>
          <p:cNvSpPr txBox="1"/>
          <p:nvPr/>
        </p:nvSpPr>
        <p:spPr>
          <a:xfrm>
            <a:off x="5239512" y="3313785"/>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-2.307***</a:t>
            </a:r>
          </a:p>
        </p:txBody>
      </p:sp>
      <p:sp>
        <p:nvSpPr>
          <p:cNvPr id="58" name="TextBox 57"/>
          <p:cNvSpPr txBox="1"/>
          <p:nvPr/>
        </p:nvSpPr>
        <p:spPr>
          <a:xfrm>
            <a:off x="6199632" y="3313785"/>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-0.716</a:t>
            </a:r>
          </a:p>
        </p:txBody>
      </p:sp>
      <p:sp>
        <p:nvSpPr>
          <p:cNvPr id="59" name="TextBox 58"/>
          <p:cNvSpPr txBox="1"/>
          <p:nvPr/>
        </p:nvSpPr>
        <p:spPr>
          <a:xfrm>
            <a:off x="7114032" y="3313785"/>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daily retail demand</a:t>
            </a:r>
          </a:p>
        </p:txBody>
      </p:sp>
      <p:sp>
        <p:nvSpPr>
          <p:cNvPr id="60" name="Rectangle 59"/>
          <p:cNvSpPr/>
          <p:nvPr/>
        </p:nvSpPr>
        <p:spPr>
          <a:xfrm>
            <a:off x="1856232" y="3556101"/>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856232" y="3563416"/>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producer organisation village share</a:t>
            </a:r>
          </a:p>
        </p:txBody>
      </p:sp>
      <p:sp>
        <p:nvSpPr>
          <p:cNvPr id="62" name="TextBox 61"/>
          <p:cNvSpPr txBox="1"/>
          <p:nvPr/>
        </p:nvSpPr>
        <p:spPr>
          <a:xfrm>
            <a:off x="4553712" y="3563416"/>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606</a:t>
            </a:r>
          </a:p>
        </p:txBody>
      </p:sp>
      <p:sp>
        <p:nvSpPr>
          <p:cNvPr id="63" name="TextBox 62"/>
          <p:cNvSpPr txBox="1"/>
          <p:nvPr/>
        </p:nvSpPr>
        <p:spPr>
          <a:xfrm>
            <a:off x="5239512" y="3563416"/>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+2.188***</a:t>
            </a:r>
          </a:p>
        </p:txBody>
      </p:sp>
      <p:sp>
        <p:nvSpPr>
          <p:cNvPr id="64" name="TextBox 63"/>
          <p:cNvSpPr txBox="1"/>
          <p:nvPr/>
        </p:nvSpPr>
        <p:spPr>
          <a:xfrm>
            <a:off x="6199632" y="3563416"/>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+1.905**</a:t>
            </a:r>
          </a:p>
        </p:txBody>
      </p:sp>
      <p:sp>
        <p:nvSpPr>
          <p:cNvPr id="65" name="TextBox 64"/>
          <p:cNvSpPr txBox="1"/>
          <p:nvPr/>
        </p:nvSpPr>
        <p:spPr>
          <a:xfrm>
            <a:off x="7114032" y="3563416"/>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collective aggregation</a:t>
            </a:r>
          </a:p>
        </p:txBody>
      </p:sp>
      <p:sp>
        <p:nvSpPr>
          <p:cNvPr id="66" name="Rectangle 65"/>
          <p:cNvSpPr/>
          <p:nvPr/>
        </p:nvSpPr>
        <p:spPr>
          <a:xfrm>
            <a:off x="1856232" y="3805732"/>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56232" y="3813048"/>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cold storage village share</a:t>
            </a:r>
          </a:p>
        </p:txBody>
      </p:sp>
      <p:sp>
        <p:nvSpPr>
          <p:cNvPr id="68" name="TextBox 67"/>
          <p:cNvSpPr txBox="1"/>
          <p:nvPr/>
        </p:nvSpPr>
        <p:spPr>
          <a:xfrm>
            <a:off x="4553712" y="3813048"/>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69" name="TextBox 68"/>
          <p:cNvSpPr txBox="1"/>
          <p:nvPr/>
        </p:nvSpPr>
        <p:spPr>
          <a:xfrm>
            <a:off x="5239512" y="3813048"/>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+6.308***</a:t>
            </a:r>
          </a:p>
        </p:txBody>
      </p:sp>
      <p:sp>
        <p:nvSpPr>
          <p:cNvPr id="70" name="TextBox 69"/>
          <p:cNvSpPr txBox="1"/>
          <p:nvPr/>
        </p:nvSpPr>
        <p:spPr>
          <a:xfrm>
            <a:off x="6199632" y="3813048"/>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+1.335</a:t>
            </a:r>
          </a:p>
        </p:txBody>
      </p:sp>
      <p:sp>
        <p:nvSpPr>
          <p:cNvPr id="71" name="TextBox 70"/>
          <p:cNvSpPr txBox="1"/>
          <p:nvPr/>
        </p:nvSpPr>
        <p:spPr>
          <a:xfrm>
            <a:off x="7114032" y="3813048"/>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perishables need cold</a:t>
            </a:r>
          </a:p>
        </p:txBody>
      </p:sp>
      <p:sp>
        <p:nvSpPr>
          <p:cNvPr id="72" name="Rectangle 71"/>
          <p:cNvSpPr/>
          <p:nvPr/>
        </p:nvSpPr>
        <p:spPr>
          <a:xfrm>
            <a:off x="1856232" y="4055364"/>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856232" y="4062679"/>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SC population share</a:t>
            </a:r>
          </a:p>
        </p:txBody>
      </p:sp>
      <p:sp>
        <p:nvSpPr>
          <p:cNvPr id="74" name="TextBox 73"/>
          <p:cNvSpPr txBox="1"/>
          <p:nvPr/>
        </p:nvSpPr>
        <p:spPr>
          <a:xfrm>
            <a:off x="4553712" y="4062679"/>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75" name="TextBox 74"/>
          <p:cNvSpPr txBox="1"/>
          <p:nvPr/>
        </p:nvSpPr>
        <p:spPr>
          <a:xfrm>
            <a:off x="5239512" y="4062679"/>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+1.368</a:t>
            </a:r>
          </a:p>
        </p:txBody>
      </p:sp>
      <p:sp>
        <p:nvSpPr>
          <p:cNvPr id="76" name="TextBox 75"/>
          <p:cNvSpPr txBox="1"/>
          <p:nvPr/>
        </p:nvSpPr>
        <p:spPr>
          <a:xfrm>
            <a:off x="6199632" y="4062679"/>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+1.233</a:t>
            </a:r>
          </a:p>
        </p:txBody>
      </p:sp>
      <p:sp>
        <p:nvSpPr>
          <p:cNvPr id="77" name="TextBox 76"/>
          <p:cNvSpPr txBox="1"/>
          <p:nvPr/>
        </p:nvSpPr>
        <p:spPr>
          <a:xfrm>
            <a:off x="7114032" y="4062679"/>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caste and land access</a:t>
            </a:r>
          </a:p>
        </p:txBody>
      </p:sp>
      <p:sp>
        <p:nvSpPr>
          <p:cNvPr id="78" name="Rectangle 77"/>
          <p:cNvSpPr/>
          <p:nvPr/>
        </p:nvSpPr>
        <p:spPr>
          <a:xfrm>
            <a:off x="1856232" y="4304995"/>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856232" y="4312310"/>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ST population share</a:t>
            </a:r>
          </a:p>
        </p:txBody>
      </p:sp>
      <p:sp>
        <p:nvSpPr>
          <p:cNvPr id="80" name="TextBox 79"/>
          <p:cNvSpPr txBox="1"/>
          <p:nvPr/>
        </p:nvSpPr>
        <p:spPr>
          <a:xfrm>
            <a:off x="4553712" y="4312310"/>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81" name="TextBox 80"/>
          <p:cNvSpPr txBox="1"/>
          <p:nvPr/>
        </p:nvSpPr>
        <p:spPr>
          <a:xfrm>
            <a:off x="5239512" y="4312310"/>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-0.350</a:t>
            </a:r>
          </a:p>
        </p:txBody>
      </p:sp>
      <p:sp>
        <p:nvSpPr>
          <p:cNvPr id="82" name="TextBox 81"/>
          <p:cNvSpPr txBox="1"/>
          <p:nvPr/>
        </p:nvSpPr>
        <p:spPr>
          <a:xfrm>
            <a:off x="6199632" y="4312310"/>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+0.730</a:t>
            </a:r>
          </a:p>
        </p:txBody>
      </p:sp>
      <p:sp>
        <p:nvSpPr>
          <p:cNvPr id="83" name="TextBox 82"/>
          <p:cNvSpPr txBox="1"/>
          <p:nvPr/>
        </p:nvSpPr>
        <p:spPr>
          <a:xfrm>
            <a:off x="7114032" y="4312310"/>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forest-fringe cropping</a:t>
            </a:r>
          </a:p>
        </p:txBody>
      </p:sp>
      <p:sp>
        <p:nvSpPr>
          <p:cNvPr id="84" name="Rectangle 83"/>
          <p:cNvSpPr/>
          <p:nvPr/>
        </p:nvSpPr>
        <p:spPr>
          <a:xfrm>
            <a:off x="1856232" y="4554626"/>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856232" y="4561941"/>
            <a:ext cx="269748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cropping intensity</a:t>
            </a:r>
          </a:p>
        </p:txBody>
      </p:sp>
      <p:sp>
        <p:nvSpPr>
          <p:cNvPr id="86" name="TextBox 85"/>
          <p:cNvSpPr txBox="1"/>
          <p:nvPr/>
        </p:nvSpPr>
        <p:spPr>
          <a:xfrm>
            <a:off x="4553712" y="4561941"/>
            <a:ext cx="6858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606</a:t>
            </a:r>
          </a:p>
        </p:txBody>
      </p:sp>
      <p:sp>
        <p:nvSpPr>
          <p:cNvPr id="87" name="TextBox 86"/>
          <p:cNvSpPr txBox="1"/>
          <p:nvPr/>
        </p:nvSpPr>
        <p:spPr>
          <a:xfrm>
            <a:off x="5239512" y="4561941"/>
            <a:ext cx="96012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+0.845**</a:t>
            </a:r>
          </a:p>
        </p:txBody>
      </p:sp>
      <p:sp>
        <p:nvSpPr>
          <p:cNvPr id="88" name="TextBox 87"/>
          <p:cNvSpPr txBox="1"/>
          <p:nvPr/>
        </p:nvSpPr>
        <p:spPr>
          <a:xfrm>
            <a:off x="6199632" y="4561941"/>
            <a:ext cx="914400" cy="24231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333232"/>
                </a:solidFill>
                <a:latin typeface="Calibri"/>
              </a:rPr>
              <a:t>+2.265***</a:t>
            </a:r>
          </a:p>
        </p:txBody>
      </p:sp>
      <p:sp>
        <p:nvSpPr>
          <p:cNvPr id="89" name="TextBox 88"/>
          <p:cNvSpPr txBox="1"/>
          <p:nvPr/>
        </p:nvSpPr>
        <p:spPr>
          <a:xfrm>
            <a:off x="7114032" y="4561941"/>
            <a:ext cx="4663440" cy="24231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333232"/>
                </a:solidFill>
                <a:latin typeface="Calibri"/>
              </a:rPr>
              <a:t>an accounting identity as much as a lever</a:t>
            </a:r>
          </a:p>
        </p:txBody>
      </p:sp>
      <p:sp>
        <p:nvSpPr>
          <p:cNvPr id="90" name="Rectangle 89"/>
          <p:cNvSpPr/>
          <p:nvPr/>
        </p:nvSpPr>
        <p:spPr>
          <a:xfrm>
            <a:off x="1856232" y="4804257"/>
            <a:ext cx="99212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3192" y="1566367"/>
            <a:ext cx="1417320" cy="491947"/>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Water</a:t>
            </a:r>
          </a:p>
        </p:txBody>
      </p:sp>
      <p:sp>
        <p:nvSpPr>
          <p:cNvPr id="92" name="TextBox 91"/>
          <p:cNvSpPr txBox="1"/>
          <p:nvPr/>
        </p:nvSpPr>
        <p:spPr>
          <a:xfrm>
            <a:off x="393192" y="2065629"/>
            <a:ext cx="1417320" cy="741578"/>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Agrarian structure</a:t>
            </a:r>
          </a:p>
        </p:txBody>
      </p:sp>
      <p:sp>
        <p:nvSpPr>
          <p:cNvPr id="93" name="Rectangle 92"/>
          <p:cNvSpPr/>
          <p:nvPr/>
        </p:nvSpPr>
        <p:spPr>
          <a:xfrm>
            <a:off x="393192" y="2058314"/>
            <a:ext cx="11384280" cy="7315"/>
          </a:xfrm>
          <a:prstGeom prst="rect">
            <a:avLst/>
          </a:prstGeom>
          <a:solidFill>
            <a:srgbClr val="7F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93192" y="2814523"/>
            <a:ext cx="1417320" cy="1240840"/>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Markets and infrastructure</a:t>
            </a:r>
          </a:p>
        </p:txBody>
      </p:sp>
      <p:sp>
        <p:nvSpPr>
          <p:cNvPr id="95" name="Rectangle 94"/>
          <p:cNvSpPr/>
          <p:nvPr/>
        </p:nvSpPr>
        <p:spPr>
          <a:xfrm>
            <a:off x="393192" y="2807208"/>
            <a:ext cx="11384280" cy="7315"/>
          </a:xfrm>
          <a:prstGeom prst="rect">
            <a:avLst/>
          </a:prstGeom>
          <a:solidFill>
            <a:srgbClr val="7F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93192" y="4062679"/>
            <a:ext cx="1417320" cy="741578"/>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Population and land use</a:t>
            </a:r>
          </a:p>
        </p:txBody>
      </p:sp>
      <p:sp>
        <p:nvSpPr>
          <p:cNvPr id="97" name="Rectangle 96"/>
          <p:cNvSpPr/>
          <p:nvPr/>
        </p:nvSpPr>
        <p:spPr>
          <a:xfrm>
            <a:off x="393192" y="4055363"/>
            <a:ext cx="11384280" cy="7315"/>
          </a:xfrm>
          <a:prstGeom prst="rect">
            <a:avLst/>
          </a:prstGeom>
          <a:solidFill>
            <a:srgbClr val="7F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Three of the thirteen candidates keep a significant coefficient after adjustment</a:t>
            </a:r>
          </a:p>
          <a:p>
            <a:pPr algn="l">
              <a:lnSpc>
                <a:spcPct val="104000"/>
              </a:lnSpc>
              <a:spcAft>
                <a:spcPts val="200"/>
              </a:spcAft>
            </a:pPr>
            <a:r>
              <a:rPr sz="1350" b="0">
                <a:solidFill>
                  <a:srgbClr val="333232"/>
                </a:solidFill>
                <a:latin typeface="Calibri"/>
              </a:rPr>
              <a:t>The irrigation share of sown area, producer organisation coverage and cropping intensity.</a:t>
            </a:r>
          </a:p>
        </p:txBody>
      </p:sp>
      <p:sp>
        <p:nvSpPr>
          <p:cNvPr id="101" name="TextBox 100"/>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Adjusted models add state fixed effects, log mean holding size and the irrigation share of sown area with its square. Cropping intensity matches published state figures at 0.65.</a:t>
            </a:r>
          </a:p>
        </p:txBody>
      </p:sp>
      <p:sp>
        <p:nvSpPr>
          <p:cNvPr id="102" name="TextBox 101"/>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The five hypotheses and what would falsify each</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Set down before the estimates, with the test each one gets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9</a:t>
            </a:r>
          </a:p>
        </p:txBody>
      </p:sp>
      <p:sp>
        <p:nvSpPr>
          <p:cNvPr id="7" name="TextBox 6"/>
          <p:cNvSpPr txBox="1"/>
          <p:nvPr/>
        </p:nvSpPr>
        <p:spPr>
          <a:xfrm>
            <a:off x="393192" y="1316736"/>
            <a:ext cx="160020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Hypothesis</a:t>
            </a:r>
          </a:p>
        </p:txBody>
      </p:sp>
      <p:sp>
        <p:nvSpPr>
          <p:cNvPr id="8" name="TextBox 7"/>
          <p:cNvSpPr txBox="1"/>
          <p:nvPr/>
        </p:nvSpPr>
        <p:spPr>
          <a:xfrm>
            <a:off x="1993392" y="1316736"/>
            <a:ext cx="342900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Mechanism</a:t>
            </a:r>
          </a:p>
        </p:txBody>
      </p:sp>
      <p:sp>
        <p:nvSpPr>
          <p:cNvPr id="9" name="TextBox 8"/>
          <p:cNvSpPr txBox="1"/>
          <p:nvPr/>
        </p:nvSpPr>
        <p:spPr>
          <a:xfrm>
            <a:off x="5422392" y="1316736"/>
            <a:ext cx="329184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What would confirm it</a:t>
            </a:r>
          </a:p>
        </p:txBody>
      </p:sp>
      <p:sp>
        <p:nvSpPr>
          <p:cNvPr id="10" name="TextBox 9"/>
          <p:cNvSpPr txBox="1"/>
          <p:nvPr/>
        </p:nvSpPr>
        <p:spPr>
          <a:xfrm>
            <a:off x="8714232" y="1316736"/>
            <a:ext cx="3063240" cy="274320"/>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What would falsify it</a:t>
            </a:r>
          </a:p>
        </p:txBody>
      </p:sp>
      <p:sp>
        <p:nvSpPr>
          <p:cNvPr id="11" name="Rectangle 10"/>
          <p:cNvSpPr/>
          <p:nvPr/>
        </p:nvSpPr>
        <p:spPr>
          <a:xfrm>
            <a:off x="393192" y="1591056"/>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1602943"/>
            <a:ext cx="16002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H1 Water quantity</a:t>
            </a:r>
          </a:p>
        </p:txBody>
      </p:sp>
      <p:sp>
        <p:nvSpPr>
          <p:cNvPr id="13" name="TextBox 12"/>
          <p:cNvSpPr txBox="1"/>
          <p:nvPr/>
        </p:nvSpPr>
        <p:spPr>
          <a:xfrm>
            <a:off x="1993392" y="1602943"/>
            <a:ext cx="34290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Irrigation lifts the constraint on what can be grown at low levels, and at high levels it pays for one assured package</a:t>
            </a:r>
          </a:p>
        </p:txBody>
      </p:sp>
      <p:sp>
        <p:nvSpPr>
          <p:cNvPr id="14" name="TextBox 13"/>
          <p:cNvSpPr txBox="1"/>
          <p:nvPr/>
        </p:nvSpPr>
        <p:spPr>
          <a:xfrm>
            <a:off x="5422392" y="1602943"/>
            <a:ext cx="32918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negative squared term on the irrigation share of sown area that holds across sample and index choice</a:t>
            </a:r>
          </a:p>
        </p:txBody>
      </p:sp>
      <p:sp>
        <p:nvSpPr>
          <p:cNvPr id="15" name="TextBox 14"/>
          <p:cNvSpPr txBox="1"/>
          <p:nvPr/>
        </p:nvSpPr>
        <p:spPr>
          <a:xfrm>
            <a:off x="8714232" y="1602943"/>
            <a:ext cx="30632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null or positive squared term, or a sign that depends on which index is used</a:t>
            </a:r>
          </a:p>
        </p:txBody>
      </p:sp>
      <p:sp>
        <p:nvSpPr>
          <p:cNvPr id="16" name="Rectangle 15"/>
          <p:cNvSpPr/>
          <p:nvPr/>
        </p:nvSpPr>
        <p:spPr>
          <a:xfrm>
            <a:off x="393192" y="2206447"/>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2213762"/>
            <a:ext cx="16002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H2 Water type</a:t>
            </a:r>
          </a:p>
        </p:txBody>
      </p:sp>
      <p:sp>
        <p:nvSpPr>
          <p:cNvPr id="18" name="TextBox 17"/>
          <p:cNvSpPr txBox="1"/>
          <p:nvPr/>
        </p:nvSpPr>
        <p:spPr>
          <a:xfrm>
            <a:off x="1993392" y="2213762"/>
            <a:ext cx="34290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Canal water arrives on a rotation the system sets and groundwater arrives when the cultivator chooses, so fewer crops fit the canal calendar</a:t>
            </a:r>
          </a:p>
        </p:txBody>
      </p:sp>
      <p:sp>
        <p:nvSpPr>
          <p:cNvPr id="19" name="TextBox 18"/>
          <p:cNvSpPr txBox="1"/>
          <p:nvPr/>
        </p:nvSpPr>
        <p:spPr>
          <a:xfrm>
            <a:off x="5422392" y="2213762"/>
            <a:ext cx="32918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Source coefficients that stay large with the level of irrigation held constant</a:t>
            </a:r>
          </a:p>
        </p:txBody>
      </p:sp>
      <p:sp>
        <p:nvSpPr>
          <p:cNvPr id="20" name="TextBox 19"/>
          <p:cNvSpPr txBox="1"/>
          <p:nvPr/>
        </p:nvSpPr>
        <p:spPr>
          <a:xfrm>
            <a:off x="8714232" y="2213762"/>
            <a:ext cx="30632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Null source coefficients once the level of irrigation is in</a:t>
            </a:r>
          </a:p>
        </p:txBody>
      </p:sp>
      <p:sp>
        <p:nvSpPr>
          <p:cNvPr id="21" name="Rectangle 20"/>
          <p:cNvSpPr/>
          <p:nvPr/>
        </p:nvSpPr>
        <p:spPr>
          <a:xfrm>
            <a:off x="393192" y="2817266"/>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 y="2824581"/>
            <a:ext cx="16002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H3 Somewhere to sell</a:t>
            </a:r>
          </a:p>
        </p:txBody>
      </p:sp>
      <p:sp>
        <p:nvSpPr>
          <p:cNvPr id="23" name="TextBox 22"/>
          <p:cNvSpPr txBox="1"/>
          <p:nvPr/>
        </p:nvSpPr>
        <p:spPr>
          <a:xfrm>
            <a:off x="1993392" y="2824581"/>
            <a:ext cx="34290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weekly haat lets a smallholder sell small volumes of many things, so crops with no other outlet get planted</a:t>
            </a:r>
          </a:p>
        </p:txBody>
      </p:sp>
      <p:sp>
        <p:nvSpPr>
          <p:cNvPr id="24" name="TextBox 23"/>
          <p:cNvSpPr txBox="1"/>
          <p:nvPr/>
        </p:nvSpPr>
        <p:spPr>
          <a:xfrm>
            <a:off x="5422392" y="2824581"/>
            <a:ext cx="32918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Haat coverage raising crops grown in an average year, surviving development controls</a:t>
            </a:r>
          </a:p>
        </p:txBody>
      </p:sp>
      <p:sp>
        <p:nvSpPr>
          <p:cNvPr id="25" name="TextBox 24"/>
          <p:cNvSpPr txBox="1"/>
          <p:nvPr/>
        </p:nvSpPr>
        <p:spPr>
          <a:xfrm>
            <a:off x="8714232" y="2824581"/>
            <a:ext cx="30632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Null haat coefficients, or coefficients that vanish under those controls</a:t>
            </a:r>
          </a:p>
        </p:txBody>
      </p:sp>
      <p:sp>
        <p:nvSpPr>
          <p:cNvPr id="26" name="Rectangle 25"/>
          <p:cNvSpPr/>
          <p:nvPr/>
        </p:nvSpPr>
        <p:spPr>
          <a:xfrm>
            <a:off x="393192" y="3428085"/>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3192" y="3435400"/>
            <a:ext cx="16002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H4 Collective marketing</a:t>
            </a:r>
          </a:p>
        </p:txBody>
      </p:sp>
      <p:sp>
        <p:nvSpPr>
          <p:cNvPr id="28" name="TextBox 27"/>
          <p:cNvSpPr txBox="1"/>
          <p:nvPr/>
        </p:nvSpPr>
        <p:spPr>
          <a:xfrm>
            <a:off x="1993392" y="3435400"/>
            <a:ext cx="34290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producer organisation aggregates volume for crops a single farm cannot market, so land shifts between crops already grown</a:t>
            </a:r>
          </a:p>
        </p:txBody>
      </p:sp>
      <p:sp>
        <p:nvSpPr>
          <p:cNvPr id="29" name="TextBox 28"/>
          <p:cNvSpPr txBox="1"/>
          <p:nvPr/>
        </p:nvSpPr>
        <p:spPr>
          <a:xfrm>
            <a:off x="5422392" y="3435400"/>
            <a:ext cx="32918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Producer organisation coverage raising the effective number of crops with crops grown flat</a:t>
            </a:r>
          </a:p>
        </p:txBody>
      </p:sp>
      <p:sp>
        <p:nvSpPr>
          <p:cNvPr id="30" name="TextBox 29"/>
          <p:cNvSpPr txBox="1"/>
          <p:nvPr/>
        </p:nvSpPr>
        <p:spPr>
          <a:xfrm>
            <a:off x="8714232" y="3435400"/>
            <a:ext cx="30632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Both institutions moving both measures together</a:t>
            </a:r>
          </a:p>
        </p:txBody>
      </p:sp>
      <p:sp>
        <p:nvSpPr>
          <p:cNvPr id="31" name="Rectangle 30"/>
          <p:cNvSpPr/>
          <p:nvPr/>
        </p:nvSpPr>
        <p:spPr>
          <a:xfrm>
            <a:off x="393192" y="4038904"/>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 y="4046220"/>
            <a:ext cx="16002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H5 Assured procurement</a:t>
            </a:r>
          </a:p>
        </p:txBody>
      </p:sp>
      <p:sp>
        <p:nvSpPr>
          <p:cNvPr id="33" name="TextBox 32"/>
          <p:cNvSpPr txBox="1"/>
          <p:nvPr/>
        </p:nvSpPr>
        <p:spPr>
          <a:xfrm>
            <a:off x="1993392" y="4046220"/>
            <a:ext cx="342900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Dense procurement and input supply make the cereal package the only paying choice once water is plentiful, which is what pulls the curve down after the peak</a:t>
            </a:r>
          </a:p>
        </p:txBody>
      </p:sp>
      <p:sp>
        <p:nvSpPr>
          <p:cNvPr id="34" name="TextBox 33"/>
          <p:cNvSpPr txBox="1"/>
          <p:nvPr/>
        </p:nvSpPr>
        <p:spPr>
          <a:xfrm>
            <a:off x="5422392" y="4046220"/>
            <a:ext cx="32918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steeper fall after the peak where mandi and input coverage is dense, and a higher cereal share where mandis are dense</a:t>
            </a:r>
          </a:p>
        </p:txBody>
      </p:sp>
      <p:sp>
        <p:nvSpPr>
          <p:cNvPr id="35" name="TextBox 34"/>
          <p:cNvSpPr txBox="1"/>
          <p:nvPr/>
        </p:nvSpPr>
        <p:spPr>
          <a:xfrm>
            <a:off x="8714232" y="4046220"/>
            <a:ext cx="3063240" cy="603504"/>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positive interaction, or a negative mandi coefficient on cereal share</a:t>
            </a:r>
          </a:p>
        </p:txBody>
      </p:sp>
      <p:sp>
        <p:nvSpPr>
          <p:cNvPr id="36" name="Rectangle 35"/>
          <p:cNvSpPr/>
          <p:nvPr/>
        </p:nvSpPr>
        <p:spPr>
          <a:xfrm>
            <a:off x="393192" y="4649724"/>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Each hypothesis names the coefficient that decides it</a:t>
            </a:r>
          </a:p>
          <a:p>
            <a:pPr algn="l">
              <a:lnSpc>
                <a:spcPct val="104000"/>
              </a:lnSpc>
              <a:spcAft>
                <a:spcPts val="200"/>
              </a:spcAft>
            </a:pPr>
            <a:r>
              <a:rPr sz="1350" b="0">
                <a:solidFill>
                  <a:srgbClr val="333232"/>
                </a:solidFill>
                <a:latin typeface="Calibri"/>
              </a:rPr>
              <a:t>The outcome is the effective number of crops throughout, with state fixed effects on every estimate.</a:t>
            </a:r>
          </a:p>
        </p:txBody>
      </p:sp>
      <p:sp>
        <p:nvSpPr>
          <p:cNvPr id="40" name="TextBox 39"/>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Adjusted models carry the irrigation share of sown area and its square, log mean holding size, ST population share, log night lights, non-farm establishment density and a connectivity index.</a:t>
            </a:r>
          </a:p>
        </p:txBody>
      </p:sp>
      <p:sp>
        <p:nvSpPr>
          <p:cNvPr id="41" name="TextBox 40"/>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Fourteen versions of the irrigation estimate</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H1, eight variations of the specification and six alternative indices</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10</a:t>
            </a:r>
          </a:p>
        </p:txBody>
      </p:sp>
      <p:sp>
        <p:nvSpPr>
          <p:cNvPr id="7" name="Rectangle 6"/>
          <p:cNvSpPr/>
          <p:nvPr/>
        </p:nvSpPr>
        <p:spPr>
          <a:xfrm>
            <a:off x="393192" y="1207008"/>
            <a:ext cx="1554480" cy="2743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3192" y="1207008"/>
            <a:ext cx="50292" cy="2743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229868"/>
            <a:ext cx="1335024"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H1 holds</a:t>
            </a:r>
          </a:p>
        </p:txBody>
      </p:sp>
      <p:sp>
        <p:nvSpPr>
          <p:cNvPr id="10" name="TextBox 9"/>
          <p:cNvSpPr txBox="1"/>
          <p:nvPr/>
        </p:nvSpPr>
        <p:spPr>
          <a:xfrm>
            <a:off x="1399032" y="1499616"/>
            <a:ext cx="3566160" cy="246888"/>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Specification</a:t>
            </a:r>
          </a:p>
        </p:txBody>
      </p:sp>
      <p:sp>
        <p:nvSpPr>
          <p:cNvPr id="11" name="TextBox 10"/>
          <p:cNvSpPr txBox="1"/>
          <p:nvPr/>
        </p:nvSpPr>
        <p:spPr>
          <a:xfrm>
            <a:off x="4965192" y="1499616"/>
            <a:ext cx="96012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Districts</a:t>
            </a:r>
          </a:p>
        </p:txBody>
      </p:sp>
      <p:sp>
        <p:nvSpPr>
          <p:cNvPr id="12" name="TextBox 11"/>
          <p:cNvSpPr txBox="1"/>
          <p:nvPr/>
        </p:nvSpPr>
        <p:spPr>
          <a:xfrm>
            <a:off x="5925312" y="1499616"/>
            <a:ext cx="128016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Linear term</a:t>
            </a:r>
          </a:p>
        </p:txBody>
      </p:sp>
      <p:sp>
        <p:nvSpPr>
          <p:cNvPr id="13" name="TextBox 12"/>
          <p:cNvSpPr txBox="1"/>
          <p:nvPr/>
        </p:nvSpPr>
        <p:spPr>
          <a:xfrm>
            <a:off x="7205471" y="1499616"/>
            <a:ext cx="132588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Squared term</a:t>
            </a:r>
          </a:p>
        </p:txBody>
      </p:sp>
      <p:sp>
        <p:nvSpPr>
          <p:cNvPr id="14" name="TextBox 13"/>
          <p:cNvSpPr txBox="1"/>
          <p:nvPr/>
        </p:nvSpPr>
        <p:spPr>
          <a:xfrm>
            <a:off x="8531351" y="1499616"/>
            <a:ext cx="132588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 on squared</a:t>
            </a:r>
          </a:p>
        </p:txBody>
      </p:sp>
      <p:sp>
        <p:nvSpPr>
          <p:cNvPr id="15" name="TextBox 14"/>
          <p:cNvSpPr txBox="1"/>
          <p:nvPr/>
        </p:nvSpPr>
        <p:spPr>
          <a:xfrm>
            <a:off x="9857231" y="1499616"/>
            <a:ext cx="100584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Turn</a:t>
            </a:r>
          </a:p>
        </p:txBody>
      </p:sp>
      <p:sp>
        <p:nvSpPr>
          <p:cNvPr id="16" name="TextBox 15"/>
          <p:cNvSpPr txBox="1"/>
          <p:nvPr/>
        </p:nvSpPr>
        <p:spPr>
          <a:xfrm>
            <a:off x="10863071" y="1499616"/>
            <a:ext cx="914400" cy="246888"/>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R-squared</a:t>
            </a:r>
          </a:p>
        </p:txBody>
      </p:sp>
      <p:sp>
        <p:nvSpPr>
          <p:cNvPr id="17" name="Rectangle 16"/>
          <p:cNvSpPr/>
          <p:nvPr/>
        </p:nvSpPr>
        <p:spPr>
          <a:xfrm>
            <a:off x="393192" y="1746504"/>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99032" y="1758391"/>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No fixed effects</a:t>
            </a:r>
          </a:p>
        </p:txBody>
      </p:sp>
      <p:sp>
        <p:nvSpPr>
          <p:cNvPr id="19" name="TextBox 18"/>
          <p:cNvSpPr txBox="1"/>
          <p:nvPr/>
        </p:nvSpPr>
        <p:spPr>
          <a:xfrm>
            <a:off x="4965192" y="1758391"/>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20" name="TextBox 19"/>
          <p:cNvSpPr txBox="1"/>
          <p:nvPr/>
        </p:nvSpPr>
        <p:spPr>
          <a:xfrm>
            <a:off x="5925312" y="1758391"/>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+10.444</a:t>
            </a:r>
          </a:p>
        </p:txBody>
      </p:sp>
      <p:sp>
        <p:nvSpPr>
          <p:cNvPr id="21" name="TextBox 20"/>
          <p:cNvSpPr txBox="1"/>
          <p:nvPr/>
        </p:nvSpPr>
        <p:spPr>
          <a:xfrm>
            <a:off x="7205471" y="175839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-10.185</a:t>
            </a:r>
          </a:p>
        </p:txBody>
      </p:sp>
      <p:sp>
        <p:nvSpPr>
          <p:cNvPr id="22" name="TextBox 21"/>
          <p:cNvSpPr txBox="1"/>
          <p:nvPr/>
        </p:nvSpPr>
        <p:spPr>
          <a:xfrm>
            <a:off x="8531351" y="175839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23" name="TextBox 22"/>
          <p:cNvSpPr txBox="1"/>
          <p:nvPr/>
        </p:nvSpPr>
        <p:spPr>
          <a:xfrm>
            <a:off x="9857231" y="1758391"/>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0.513</a:t>
            </a:r>
          </a:p>
        </p:txBody>
      </p:sp>
      <p:sp>
        <p:nvSpPr>
          <p:cNvPr id="24" name="TextBox 23"/>
          <p:cNvSpPr txBox="1"/>
          <p:nvPr/>
        </p:nvSpPr>
        <p:spPr>
          <a:xfrm>
            <a:off x="10863071" y="1758391"/>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0.065</a:t>
            </a:r>
          </a:p>
        </p:txBody>
      </p:sp>
      <p:sp>
        <p:nvSpPr>
          <p:cNvPr id="25" name="Rectangle 24"/>
          <p:cNvSpPr/>
          <p:nvPr/>
        </p:nvSpPr>
        <p:spPr>
          <a:xfrm>
            <a:off x="1399032" y="1970531"/>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99032" y="1977847"/>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State fixed effects</a:t>
            </a:r>
          </a:p>
        </p:txBody>
      </p:sp>
      <p:sp>
        <p:nvSpPr>
          <p:cNvPr id="27" name="TextBox 26"/>
          <p:cNvSpPr txBox="1"/>
          <p:nvPr/>
        </p:nvSpPr>
        <p:spPr>
          <a:xfrm>
            <a:off x="4965192" y="1977847"/>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28" name="TextBox 27"/>
          <p:cNvSpPr txBox="1"/>
          <p:nvPr/>
        </p:nvSpPr>
        <p:spPr>
          <a:xfrm>
            <a:off x="5925312" y="1977847"/>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+3.874</a:t>
            </a:r>
          </a:p>
        </p:txBody>
      </p:sp>
      <p:sp>
        <p:nvSpPr>
          <p:cNvPr id="29" name="TextBox 28"/>
          <p:cNvSpPr txBox="1"/>
          <p:nvPr/>
        </p:nvSpPr>
        <p:spPr>
          <a:xfrm>
            <a:off x="7205471" y="197784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-6.877</a:t>
            </a:r>
          </a:p>
        </p:txBody>
      </p:sp>
      <p:sp>
        <p:nvSpPr>
          <p:cNvPr id="30" name="TextBox 29"/>
          <p:cNvSpPr txBox="1"/>
          <p:nvPr/>
        </p:nvSpPr>
        <p:spPr>
          <a:xfrm>
            <a:off x="8531351" y="197784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31" name="TextBox 30"/>
          <p:cNvSpPr txBox="1"/>
          <p:nvPr/>
        </p:nvSpPr>
        <p:spPr>
          <a:xfrm>
            <a:off x="9857231" y="1977847"/>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0.282</a:t>
            </a:r>
          </a:p>
        </p:txBody>
      </p:sp>
      <p:sp>
        <p:nvSpPr>
          <p:cNvPr id="32" name="TextBox 31"/>
          <p:cNvSpPr txBox="1"/>
          <p:nvPr/>
        </p:nvSpPr>
        <p:spPr>
          <a:xfrm>
            <a:off x="10863071" y="1977847"/>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0.530</a:t>
            </a:r>
          </a:p>
        </p:txBody>
      </p:sp>
      <p:sp>
        <p:nvSpPr>
          <p:cNvPr id="33" name="Rectangle 32"/>
          <p:cNvSpPr/>
          <p:nvPr/>
        </p:nvSpPr>
        <p:spPr>
          <a:xfrm>
            <a:off x="1399032" y="2189988"/>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99032" y="2197303"/>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Irrigation from the 2011 village directory</a:t>
            </a:r>
          </a:p>
        </p:txBody>
      </p:sp>
      <p:sp>
        <p:nvSpPr>
          <p:cNvPr id="35" name="TextBox 34"/>
          <p:cNvSpPr txBox="1"/>
          <p:nvPr/>
        </p:nvSpPr>
        <p:spPr>
          <a:xfrm>
            <a:off x="4965192" y="2197303"/>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573</a:t>
            </a:r>
          </a:p>
        </p:txBody>
      </p:sp>
      <p:sp>
        <p:nvSpPr>
          <p:cNvPr id="36" name="TextBox 35"/>
          <p:cNvSpPr txBox="1"/>
          <p:nvPr/>
        </p:nvSpPr>
        <p:spPr>
          <a:xfrm>
            <a:off x="5925312" y="2197303"/>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+2.749</a:t>
            </a:r>
          </a:p>
        </p:txBody>
      </p:sp>
      <p:sp>
        <p:nvSpPr>
          <p:cNvPr id="37" name="TextBox 36"/>
          <p:cNvSpPr txBox="1"/>
          <p:nvPr/>
        </p:nvSpPr>
        <p:spPr>
          <a:xfrm>
            <a:off x="7205471" y="219730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-5.428</a:t>
            </a:r>
          </a:p>
        </p:txBody>
      </p:sp>
      <p:sp>
        <p:nvSpPr>
          <p:cNvPr id="38" name="TextBox 37"/>
          <p:cNvSpPr txBox="1"/>
          <p:nvPr/>
        </p:nvSpPr>
        <p:spPr>
          <a:xfrm>
            <a:off x="8531351" y="219730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39" name="TextBox 38"/>
          <p:cNvSpPr txBox="1"/>
          <p:nvPr/>
        </p:nvSpPr>
        <p:spPr>
          <a:xfrm>
            <a:off x="9857231" y="2197303"/>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0.253</a:t>
            </a:r>
          </a:p>
        </p:txBody>
      </p:sp>
      <p:sp>
        <p:nvSpPr>
          <p:cNvPr id="40" name="TextBox 39"/>
          <p:cNvSpPr txBox="1"/>
          <p:nvPr/>
        </p:nvSpPr>
        <p:spPr>
          <a:xfrm>
            <a:off x="10863071" y="2197303"/>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0.534</a:t>
            </a:r>
          </a:p>
        </p:txBody>
      </p:sp>
      <p:sp>
        <p:nvSpPr>
          <p:cNvPr id="41" name="Rectangle 40"/>
          <p:cNvSpPr/>
          <p:nvPr/>
        </p:nvSpPr>
        <p:spPr>
          <a:xfrm>
            <a:off x="1399032" y="2409444"/>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99032" y="2416759"/>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Drop shared pre-2011 parents</a:t>
            </a:r>
          </a:p>
        </p:txBody>
      </p:sp>
      <p:sp>
        <p:nvSpPr>
          <p:cNvPr id="43" name="TextBox 42"/>
          <p:cNvSpPr txBox="1"/>
          <p:nvPr/>
        </p:nvSpPr>
        <p:spPr>
          <a:xfrm>
            <a:off x="4965192" y="2416759"/>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542</a:t>
            </a:r>
          </a:p>
        </p:txBody>
      </p:sp>
      <p:sp>
        <p:nvSpPr>
          <p:cNvPr id="44" name="TextBox 43"/>
          <p:cNvSpPr txBox="1"/>
          <p:nvPr/>
        </p:nvSpPr>
        <p:spPr>
          <a:xfrm>
            <a:off x="5925312" y="2416759"/>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+3.396</a:t>
            </a:r>
          </a:p>
        </p:txBody>
      </p:sp>
      <p:sp>
        <p:nvSpPr>
          <p:cNvPr id="45" name="TextBox 44"/>
          <p:cNvSpPr txBox="1"/>
          <p:nvPr/>
        </p:nvSpPr>
        <p:spPr>
          <a:xfrm>
            <a:off x="7205471" y="241675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-6.382</a:t>
            </a:r>
          </a:p>
        </p:txBody>
      </p:sp>
      <p:sp>
        <p:nvSpPr>
          <p:cNvPr id="46" name="TextBox 45"/>
          <p:cNvSpPr txBox="1"/>
          <p:nvPr/>
        </p:nvSpPr>
        <p:spPr>
          <a:xfrm>
            <a:off x="8531351" y="241675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47" name="TextBox 46"/>
          <p:cNvSpPr txBox="1"/>
          <p:nvPr/>
        </p:nvSpPr>
        <p:spPr>
          <a:xfrm>
            <a:off x="9857231" y="2416759"/>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0.266</a:t>
            </a:r>
          </a:p>
        </p:txBody>
      </p:sp>
      <p:sp>
        <p:nvSpPr>
          <p:cNvPr id="48" name="TextBox 47"/>
          <p:cNvSpPr txBox="1"/>
          <p:nvPr/>
        </p:nvSpPr>
        <p:spPr>
          <a:xfrm>
            <a:off x="10863071" y="2416759"/>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0.538</a:t>
            </a:r>
          </a:p>
        </p:txBody>
      </p:sp>
      <p:sp>
        <p:nvSpPr>
          <p:cNvPr id="49" name="Rectangle 48"/>
          <p:cNvSpPr/>
          <p:nvPr/>
        </p:nvSpPr>
        <p:spPr>
          <a:xfrm>
            <a:off x="1399032" y="2628900"/>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99032" y="2636215"/>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Inverse-parent weighted</a:t>
            </a:r>
          </a:p>
        </p:txBody>
      </p:sp>
      <p:sp>
        <p:nvSpPr>
          <p:cNvPr id="51" name="TextBox 50"/>
          <p:cNvSpPr txBox="1"/>
          <p:nvPr/>
        </p:nvSpPr>
        <p:spPr>
          <a:xfrm>
            <a:off x="4965192" y="2636215"/>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52" name="TextBox 51"/>
          <p:cNvSpPr txBox="1"/>
          <p:nvPr/>
        </p:nvSpPr>
        <p:spPr>
          <a:xfrm>
            <a:off x="5925312" y="2636215"/>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+3.641</a:t>
            </a:r>
          </a:p>
        </p:txBody>
      </p:sp>
      <p:sp>
        <p:nvSpPr>
          <p:cNvPr id="53" name="TextBox 52"/>
          <p:cNvSpPr txBox="1"/>
          <p:nvPr/>
        </p:nvSpPr>
        <p:spPr>
          <a:xfrm>
            <a:off x="7205471" y="2636215"/>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-6.612</a:t>
            </a:r>
          </a:p>
        </p:txBody>
      </p:sp>
      <p:sp>
        <p:nvSpPr>
          <p:cNvPr id="54" name="TextBox 53"/>
          <p:cNvSpPr txBox="1"/>
          <p:nvPr/>
        </p:nvSpPr>
        <p:spPr>
          <a:xfrm>
            <a:off x="8531351" y="2636215"/>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55" name="TextBox 54"/>
          <p:cNvSpPr txBox="1"/>
          <p:nvPr/>
        </p:nvSpPr>
        <p:spPr>
          <a:xfrm>
            <a:off x="9857231" y="2636215"/>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0.275</a:t>
            </a:r>
          </a:p>
        </p:txBody>
      </p:sp>
      <p:sp>
        <p:nvSpPr>
          <p:cNvPr id="56" name="TextBox 55"/>
          <p:cNvSpPr txBox="1"/>
          <p:nvPr/>
        </p:nvSpPr>
        <p:spPr>
          <a:xfrm>
            <a:off x="10863071" y="2636215"/>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0.531</a:t>
            </a:r>
          </a:p>
        </p:txBody>
      </p:sp>
      <p:sp>
        <p:nvSpPr>
          <p:cNvPr id="57" name="Rectangle 56"/>
          <p:cNvSpPr/>
          <p:nvPr/>
        </p:nvSpPr>
        <p:spPr>
          <a:xfrm>
            <a:off x="1399032" y="2848356"/>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99032" y="2855671"/>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Drop source-conflict districts</a:t>
            </a:r>
          </a:p>
        </p:txBody>
      </p:sp>
      <p:sp>
        <p:nvSpPr>
          <p:cNvPr id="59" name="TextBox 58"/>
          <p:cNvSpPr txBox="1"/>
          <p:nvPr/>
        </p:nvSpPr>
        <p:spPr>
          <a:xfrm>
            <a:off x="4965192" y="2855671"/>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530</a:t>
            </a:r>
          </a:p>
        </p:txBody>
      </p:sp>
      <p:sp>
        <p:nvSpPr>
          <p:cNvPr id="60" name="TextBox 59"/>
          <p:cNvSpPr txBox="1"/>
          <p:nvPr/>
        </p:nvSpPr>
        <p:spPr>
          <a:xfrm>
            <a:off x="5925312" y="2855671"/>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+3.235</a:t>
            </a:r>
          </a:p>
        </p:txBody>
      </p:sp>
      <p:sp>
        <p:nvSpPr>
          <p:cNvPr id="61" name="TextBox 60"/>
          <p:cNvSpPr txBox="1"/>
          <p:nvPr/>
        </p:nvSpPr>
        <p:spPr>
          <a:xfrm>
            <a:off x="7205471" y="285567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-6.615</a:t>
            </a:r>
          </a:p>
        </p:txBody>
      </p:sp>
      <p:sp>
        <p:nvSpPr>
          <p:cNvPr id="62" name="TextBox 61"/>
          <p:cNvSpPr txBox="1"/>
          <p:nvPr/>
        </p:nvSpPr>
        <p:spPr>
          <a:xfrm>
            <a:off x="8531351" y="285567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63" name="TextBox 62"/>
          <p:cNvSpPr txBox="1"/>
          <p:nvPr/>
        </p:nvSpPr>
        <p:spPr>
          <a:xfrm>
            <a:off x="9857231" y="2855671"/>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0.245</a:t>
            </a:r>
          </a:p>
        </p:txBody>
      </p:sp>
      <p:sp>
        <p:nvSpPr>
          <p:cNvPr id="64" name="TextBox 63"/>
          <p:cNvSpPr txBox="1"/>
          <p:nvPr/>
        </p:nvSpPr>
        <p:spPr>
          <a:xfrm>
            <a:off x="10863071" y="2855671"/>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0.547</a:t>
            </a:r>
          </a:p>
        </p:txBody>
      </p:sp>
      <p:sp>
        <p:nvSpPr>
          <p:cNvPr id="65" name="Rectangle 64"/>
          <p:cNvSpPr/>
          <p:nvPr/>
        </p:nvSpPr>
        <p:spPr>
          <a:xfrm>
            <a:off x="1399032" y="3067812"/>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399032" y="3075127"/>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Full 23 years only</a:t>
            </a:r>
          </a:p>
        </p:txBody>
      </p:sp>
      <p:sp>
        <p:nvSpPr>
          <p:cNvPr id="67" name="TextBox 66"/>
          <p:cNvSpPr txBox="1"/>
          <p:nvPr/>
        </p:nvSpPr>
        <p:spPr>
          <a:xfrm>
            <a:off x="4965192" y="3075127"/>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506</a:t>
            </a:r>
          </a:p>
        </p:txBody>
      </p:sp>
      <p:sp>
        <p:nvSpPr>
          <p:cNvPr id="68" name="TextBox 67"/>
          <p:cNvSpPr txBox="1"/>
          <p:nvPr/>
        </p:nvSpPr>
        <p:spPr>
          <a:xfrm>
            <a:off x="5925312" y="3075127"/>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+3.107</a:t>
            </a:r>
          </a:p>
        </p:txBody>
      </p:sp>
      <p:sp>
        <p:nvSpPr>
          <p:cNvPr id="69" name="TextBox 68"/>
          <p:cNvSpPr txBox="1"/>
          <p:nvPr/>
        </p:nvSpPr>
        <p:spPr>
          <a:xfrm>
            <a:off x="7205471" y="307512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-6.270</a:t>
            </a:r>
          </a:p>
        </p:txBody>
      </p:sp>
      <p:sp>
        <p:nvSpPr>
          <p:cNvPr id="70" name="TextBox 69"/>
          <p:cNvSpPr txBox="1"/>
          <p:nvPr/>
        </p:nvSpPr>
        <p:spPr>
          <a:xfrm>
            <a:off x="8531351" y="307512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71" name="TextBox 70"/>
          <p:cNvSpPr txBox="1"/>
          <p:nvPr/>
        </p:nvSpPr>
        <p:spPr>
          <a:xfrm>
            <a:off x="9857231" y="3075127"/>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0.248</a:t>
            </a:r>
          </a:p>
        </p:txBody>
      </p:sp>
      <p:sp>
        <p:nvSpPr>
          <p:cNvPr id="72" name="TextBox 71"/>
          <p:cNvSpPr txBox="1"/>
          <p:nvPr/>
        </p:nvSpPr>
        <p:spPr>
          <a:xfrm>
            <a:off x="10863071" y="3075127"/>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0.516</a:t>
            </a:r>
          </a:p>
        </p:txBody>
      </p:sp>
      <p:sp>
        <p:nvSpPr>
          <p:cNvPr id="73" name="Rectangle 72"/>
          <p:cNvSpPr/>
          <p:nvPr/>
        </p:nvSpPr>
        <p:spPr>
          <a:xfrm>
            <a:off x="1399032" y="3287268"/>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399032" y="3294583"/>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Weighted by cropped area</a:t>
            </a:r>
          </a:p>
        </p:txBody>
      </p:sp>
      <p:sp>
        <p:nvSpPr>
          <p:cNvPr id="75" name="TextBox 74"/>
          <p:cNvSpPr txBox="1"/>
          <p:nvPr/>
        </p:nvSpPr>
        <p:spPr>
          <a:xfrm>
            <a:off x="4965192" y="3294583"/>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76" name="TextBox 75"/>
          <p:cNvSpPr txBox="1"/>
          <p:nvPr/>
        </p:nvSpPr>
        <p:spPr>
          <a:xfrm>
            <a:off x="5925312" y="3294583"/>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+5.778</a:t>
            </a:r>
          </a:p>
        </p:txBody>
      </p:sp>
      <p:sp>
        <p:nvSpPr>
          <p:cNvPr id="77" name="TextBox 76"/>
          <p:cNvSpPr txBox="1"/>
          <p:nvPr/>
        </p:nvSpPr>
        <p:spPr>
          <a:xfrm>
            <a:off x="7205471" y="329458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-8.083</a:t>
            </a:r>
          </a:p>
        </p:txBody>
      </p:sp>
      <p:sp>
        <p:nvSpPr>
          <p:cNvPr id="78" name="TextBox 77"/>
          <p:cNvSpPr txBox="1"/>
          <p:nvPr/>
        </p:nvSpPr>
        <p:spPr>
          <a:xfrm>
            <a:off x="8531351" y="329458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79" name="TextBox 78"/>
          <p:cNvSpPr txBox="1"/>
          <p:nvPr/>
        </p:nvSpPr>
        <p:spPr>
          <a:xfrm>
            <a:off x="9857231" y="3294583"/>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0.357</a:t>
            </a:r>
          </a:p>
        </p:txBody>
      </p:sp>
      <p:sp>
        <p:nvSpPr>
          <p:cNvPr id="80" name="TextBox 79"/>
          <p:cNvSpPr txBox="1"/>
          <p:nvPr/>
        </p:nvSpPr>
        <p:spPr>
          <a:xfrm>
            <a:off x="10863071" y="3294583"/>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0.533</a:t>
            </a:r>
          </a:p>
        </p:txBody>
      </p:sp>
      <p:sp>
        <p:nvSpPr>
          <p:cNvPr id="81" name="Rectangle 80"/>
          <p:cNvSpPr/>
          <p:nvPr/>
        </p:nvSpPr>
        <p:spPr>
          <a:xfrm>
            <a:off x="1399032" y="3506724"/>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399032" y="3514039"/>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Crops grown in an average year</a:t>
            </a:r>
          </a:p>
        </p:txBody>
      </p:sp>
      <p:sp>
        <p:nvSpPr>
          <p:cNvPr id="83" name="TextBox 82"/>
          <p:cNvSpPr txBox="1"/>
          <p:nvPr/>
        </p:nvSpPr>
        <p:spPr>
          <a:xfrm>
            <a:off x="4965192" y="3514039"/>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84" name="TextBox 83"/>
          <p:cNvSpPr txBox="1"/>
          <p:nvPr/>
        </p:nvSpPr>
        <p:spPr>
          <a:xfrm>
            <a:off x="5925312" y="3514039"/>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+10.088</a:t>
            </a:r>
          </a:p>
        </p:txBody>
      </p:sp>
      <p:sp>
        <p:nvSpPr>
          <p:cNvPr id="85" name="TextBox 84"/>
          <p:cNvSpPr txBox="1"/>
          <p:nvPr/>
        </p:nvSpPr>
        <p:spPr>
          <a:xfrm>
            <a:off x="7205471" y="351403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-10.910</a:t>
            </a:r>
          </a:p>
        </p:txBody>
      </p:sp>
      <p:sp>
        <p:nvSpPr>
          <p:cNvPr id="86" name="TextBox 85"/>
          <p:cNvSpPr txBox="1"/>
          <p:nvPr/>
        </p:nvSpPr>
        <p:spPr>
          <a:xfrm>
            <a:off x="8531351" y="351403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0.0001</a:t>
            </a:r>
          </a:p>
        </p:txBody>
      </p:sp>
      <p:sp>
        <p:nvSpPr>
          <p:cNvPr id="87" name="TextBox 86"/>
          <p:cNvSpPr txBox="1"/>
          <p:nvPr/>
        </p:nvSpPr>
        <p:spPr>
          <a:xfrm>
            <a:off x="9857231" y="3514039"/>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0.462</a:t>
            </a:r>
          </a:p>
        </p:txBody>
      </p:sp>
      <p:sp>
        <p:nvSpPr>
          <p:cNvPr id="88" name="TextBox 87"/>
          <p:cNvSpPr txBox="1"/>
          <p:nvPr/>
        </p:nvSpPr>
        <p:spPr>
          <a:xfrm>
            <a:off x="10863071" y="3514039"/>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0.828</a:t>
            </a:r>
          </a:p>
        </p:txBody>
      </p:sp>
      <p:sp>
        <p:nvSpPr>
          <p:cNvPr id="89" name="Rectangle 88"/>
          <p:cNvSpPr/>
          <p:nvPr/>
        </p:nvSpPr>
        <p:spPr>
          <a:xfrm>
            <a:off x="1399032" y="3726180"/>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399032" y="3733495"/>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Effective number weighted to the dominant crops</a:t>
            </a:r>
          </a:p>
        </p:txBody>
      </p:sp>
      <p:sp>
        <p:nvSpPr>
          <p:cNvPr id="91" name="TextBox 90"/>
          <p:cNvSpPr txBox="1"/>
          <p:nvPr/>
        </p:nvSpPr>
        <p:spPr>
          <a:xfrm>
            <a:off x="4965192" y="3733495"/>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92" name="TextBox 91"/>
          <p:cNvSpPr txBox="1"/>
          <p:nvPr/>
        </p:nvSpPr>
        <p:spPr>
          <a:xfrm>
            <a:off x="5925312" y="3733495"/>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+1.760</a:t>
            </a:r>
          </a:p>
        </p:txBody>
      </p:sp>
      <p:sp>
        <p:nvSpPr>
          <p:cNvPr id="93" name="TextBox 92"/>
          <p:cNvSpPr txBox="1"/>
          <p:nvPr/>
        </p:nvSpPr>
        <p:spPr>
          <a:xfrm>
            <a:off x="7205471" y="3733495"/>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-3.925</a:t>
            </a:r>
          </a:p>
        </p:txBody>
      </p:sp>
      <p:sp>
        <p:nvSpPr>
          <p:cNvPr id="94" name="TextBox 93"/>
          <p:cNvSpPr txBox="1"/>
          <p:nvPr/>
        </p:nvSpPr>
        <p:spPr>
          <a:xfrm>
            <a:off x="8531351" y="3733495"/>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0.0001</a:t>
            </a:r>
          </a:p>
        </p:txBody>
      </p:sp>
      <p:sp>
        <p:nvSpPr>
          <p:cNvPr id="95" name="TextBox 94"/>
          <p:cNvSpPr txBox="1"/>
          <p:nvPr/>
        </p:nvSpPr>
        <p:spPr>
          <a:xfrm>
            <a:off x="9857231" y="3733495"/>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0.224</a:t>
            </a:r>
          </a:p>
        </p:txBody>
      </p:sp>
      <p:sp>
        <p:nvSpPr>
          <p:cNvPr id="96" name="TextBox 95"/>
          <p:cNvSpPr txBox="1"/>
          <p:nvPr/>
        </p:nvSpPr>
        <p:spPr>
          <a:xfrm>
            <a:off x="10863071" y="3733495"/>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0.500</a:t>
            </a:r>
          </a:p>
        </p:txBody>
      </p:sp>
      <p:sp>
        <p:nvSpPr>
          <p:cNvPr id="97" name="Rectangle 96"/>
          <p:cNvSpPr/>
          <p:nvPr/>
        </p:nvSpPr>
        <p:spPr>
          <a:xfrm>
            <a:off x="1399032" y="3945636"/>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399032" y="3952951"/>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Evenness</a:t>
            </a:r>
          </a:p>
        </p:txBody>
      </p:sp>
      <p:sp>
        <p:nvSpPr>
          <p:cNvPr id="99" name="TextBox 98"/>
          <p:cNvSpPr txBox="1"/>
          <p:nvPr/>
        </p:nvSpPr>
        <p:spPr>
          <a:xfrm>
            <a:off x="4965192" y="3952951"/>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100" name="TextBox 99"/>
          <p:cNvSpPr txBox="1"/>
          <p:nvPr/>
        </p:nvSpPr>
        <p:spPr>
          <a:xfrm>
            <a:off x="5925312" y="3952951"/>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+0.066</a:t>
            </a:r>
          </a:p>
        </p:txBody>
      </p:sp>
      <p:sp>
        <p:nvSpPr>
          <p:cNvPr id="101" name="TextBox 100"/>
          <p:cNvSpPr txBox="1"/>
          <p:nvPr/>
        </p:nvSpPr>
        <p:spPr>
          <a:xfrm>
            <a:off x="7205471" y="395295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-0.188</a:t>
            </a:r>
          </a:p>
        </p:txBody>
      </p:sp>
      <p:sp>
        <p:nvSpPr>
          <p:cNvPr id="102" name="TextBox 101"/>
          <p:cNvSpPr txBox="1"/>
          <p:nvPr/>
        </p:nvSpPr>
        <p:spPr>
          <a:xfrm>
            <a:off x="8531351" y="3952951"/>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0.013</a:t>
            </a:r>
          </a:p>
        </p:txBody>
      </p:sp>
      <p:sp>
        <p:nvSpPr>
          <p:cNvPr id="103" name="TextBox 102"/>
          <p:cNvSpPr txBox="1"/>
          <p:nvPr/>
        </p:nvSpPr>
        <p:spPr>
          <a:xfrm>
            <a:off x="9857231" y="3952951"/>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0.177</a:t>
            </a:r>
          </a:p>
        </p:txBody>
      </p:sp>
      <p:sp>
        <p:nvSpPr>
          <p:cNvPr id="104" name="TextBox 103"/>
          <p:cNvSpPr txBox="1"/>
          <p:nvPr/>
        </p:nvSpPr>
        <p:spPr>
          <a:xfrm>
            <a:off x="10863071" y="3952951"/>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0.543</a:t>
            </a:r>
          </a:p>
        </p:txBody>
      </p:sp>
      <p:sp>
        <p:nvSpPr>
          <p:cNvPr id="105" name="Rectangle 104"/>
          <p:cNvSpPr/>
          <p:nvPr/>
        </p:nvSpPr>
        <p:spPr>
          <a:xfrm>
            <a:off x="1399032" y="4165092"/>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399032" y="4172407"/>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Shannon</a:t>
            </a:r>
          </a:p>
        </p:txBody>
      </p:sp>
      <p:sp>
        <p:nvSpPr>
          <p:cNvPr id="107" name="TextBox 106"/>
          <p:cNvSpPr txBox="1"/>
          <p:nvPr/>
        </p:nvSpPr>
        <p:spPr>
          <a:xfrm>
            <a:off x="4965192" y="4172407"/>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108" name="TextBox 107"/>
          <p:cNvSpPr txBox="1"/>
          <p:nvPr/>
        </p:nvSpPr>
        <p:spPr>
          <a:xfrm>
            <a:off x="5925312" y="4172407"/>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+0.936</a:t>
            </a:r>
          </a:p>
        </p:txBody>
      </p:sp>
      <p:sp>
        <p:nvSpPr>
          <p:cNvPr id="109" name="TextBox 108"/>
          <p:cNvSpPr txBox="1"/>
          <p:nvPr/>
        </p:nvSpPr>
        <p:spPr>
          <a:xfrm>
            <a:off x="7205471" y="417240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-1.432</a:t>
            </a:r>
          </a:p>
        </p:txBody>
      </p:sp>
      <p:sp>
        <p:nvSpPr>
          <p:cNvPr id="110" name="TextBox 109"/>
          <p:cNvSpPr txBox="1"/>
          <p:nvPr/>
        </p:nvSpPr>
        <p:spPr>
          <a:xfrm>
            <a:off x="8531351" y="4172407"/>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111" name="TextBox 110"/>
          <p:cNvSpPr txBox="1"/>
          <p:nvPr/>
        </p:nvSpPr>
        <p:spPr>
          <a:xfrm>
            <a:off x="9857231" y="4172407"/>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0.327</a:t>
            </a:r>
          </a:p>
        </p:txBody>
      </p:sp>
      <p:sp>
        <p:nvSpPr>
          <p:cNvPr id="112" name="TextBox 111"/>
          <p:cNvSpPr txBox="1"/>
          <p:nvPr/>
        </p:nvSpPr>
        <p:spPr>
          <a:xfrm>
            <a:off x="10863071" y="4172407"/>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0.578</a:t>
            </a:r>
          </a:p>
        </p:txBody>
      </p:sp>
      <p:sp>
        <p:nvSpPr>
          <p:cNvPr id="113" name="Rectangle 112"/>
          <p:cNvSpPr/>
          <p:nvPr/>
        </p:nvSpPr>
        <p:spPr>
          <a:xfrm>
            <a:off x="1399032" y="4384548"/>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399032" y="4391863"/>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Simpson</a:t>
            </a:r>
          </a:p>
        </p:txBody>
      </p:sp>
      <p:sp>
        <p:nvSpPr>
          <p:cNvPr id="115" name="TextBox 114"/>
          <p:cNvSpPr txBox="1"/>
          <p:nvPr/>
        </p:nvSpPr>
        <p:spPr>
          <a:xfrm>
            <a:off x="4965192" y="4391863"/>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116" name="TextBox 115"/>
          <p:cNvSpPr txBox="1"/>
          <p:nvPr/>
        </p:nvSpPr>
        <p:spPr>
          <a:xfrm>
            <a:off x="5925312" y="4391863"/>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+0.268</a:t>
            </a:r>
          </a:p>
        </p:txBody>
      </p:sp>
      <p:sp>
        <p:nvSpPr>
          <p:cNvPr id="117" name="TextBox 116"/>
          <p:cNvSpPr txBox="1"/>
          <p:nvPr/>
        </p:nvSpPr>
        <p:spPr>
          <a:xfrm>
            <a:off x="7205471" y="439186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-0.367</a:t>
            </a:r>
          </a:p>
        </p:txBody>
      </p:sp>
      <p:sp>
        <p:nvSpPr>
          <p:cNvPr id="118" name="TextBox 117"/>
          <p:cNvSpPr txBox="1"/>
          <p:nvPr/>
        </p:nvSpPr>
        <p:spPr>
          <a:xfrm>
            <a:off x="8531351" y="4391863"/>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0.0003</a:t>
            </a:r>
          </a:p>
        </p:txBody>
      </p:sp>
      <p:sp>
        <p:nvSpPr>
          <p:cNvPr id="119" name="TextBox 118"/>
          <p:cNvSpPr txBox="1"/>
          <p:nvPr/>
        </p:nvSpPr>
        <p:spPr>
          <a:xfrm>
            <a:off x="9857231" y="4391863"/>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0.364</a:t>
            </a:r>
          </a:p>
        </p:txBody>
      </p:sp>
      <p:sp>
        <p:nvSpPr>
          <p:cNvPr id="120" name="TextBox 119"/>
          <p:cNvSpPr txBox="1"/>
          <p:nvPr/>
        </p:nvSpPr>
        <p:spPr>
          <a:xfrm>
            <a:off x="10863071" y="4391863"/>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0.611</a:t>
            </a:r>
          </a:p>
        </p:txBody>
      </p:sp>
      <p:sp>
        <p:nvSpPr>
          <p:cNvPr id="121" name="Rectangle 120"/>
          <p:cNvSpPr/>
          <p:nvPr/>
        </p:nvSpPr>
        <p:spPr>
          <a:xfrm>
            <a:off x="1399032" y="4604004"/>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399032" y="4611319"/>
            <a:ext cx="3566160" cy="212140"/>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Composite index, for comparison</a:t>
            </a:r>
          </a:p>
        </p:txBody>
      </p:sp>
      <p:sp>
        <p:nvSpPr>
          <p:cNvPr id="123" name="TextBox 122"/>
          <p:cNvSpPr txBox="1"/>
          <p:nvPr/>
        </p:nvSpPr>
        <p:spPr>
          <a:xfrm>
            <a:off x="4965192" y="4611319"/>
            <a:ext cx="96012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606</a:t>
            </a:r>
          </a:p>
        </p:txBody>
      </p:sp>
      <p:sp>
        <p:nvSpPr>
          <p:cNvPr id="124" name="TextBox 123"/>
          <p:cNvSpPr txBox="1"/>
          <p:nvPr/>
        </p:nvSpPr>
        <p:spPr>
          <a:xfrm>
            <a:off x="5925312" y="4611319"/>
            <a:ext cx="128016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+0.310</a:t>
            </a:r>
          </a:p>
        </p:txBody>
      </p:sp>
      <p:sp>
        <p:nvSpPr>
          <p:cNvPr id="125" name="TextBox 124"/>
          <p:cNvSpPr txBox="1"/>
          <p:nvPr/>
        </p:nvSpPr>
        <p:spPr>
          <a:xfrm>
            <a:off x="7205471" y="461131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-0.417</a:t>
            </a:r>
          </a:p>
        </p:txBody>
      </p:sp>
      <p:sp>
        <p:nvSpPr>
          <p:cNvPr id="126" name="TextBox 125"/>
          <p:cNvSpPr txBox="1"/>
          <p:nvPr/>
        </p:nvSpPr>
        <p:spPr>
          <a:xfrm>
            <a:off x="8531351" y="4611319"/>
            <a:ext cx="132588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&lt;0.001</a:t>
            </a:r>
          </a:p>
        </p:txBody>
      </p:sp>
      <p:sp>
        <p:nvSpPr>
          <p:cNvPr id="127" name="TextBox 126"/>
          <p:cNvSpPr txBox="1"/>
          <p:nvPr/>
        </p:nvSpPr>
        <p:spPr>
          <a:xfrm>
            <a:off x="9857231" y="4611319"/>
            <a:ext cx="100584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0.372</a:t>
            </a:r>
          </a:p>
        </p:txBody>
      </p:sp>
      <p:sp>
        <p:nvSpPr>
          <p:cNvPr id="128" name="TextBox 127"/>
          <p:cNvSpPr txBox="1"/>
          <p:nvPr/>
        </p:nvSpPr>
        <p:spPr>
          <a:xfrm>
            <a:off x="10863071" y="4611319"/>
            <a:ext cx="914400" cy="212140"/>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0.668</a:t>
            </a:r>
          </a:p>
        </p:txBody>
      </p:sp>
      <p:sp>
        <p:nvSpPr>
          <p:cNvPr id="129" name="Rectangle 128"/>
          <p:cNvSpPr/>
          <p:nvPr/>
        </p:nvSpPr>
        <p:spPr>
          <a:xfrm>
            <a:off x="1399032" y="4823460"/>
            <a:ext cx="1037844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93192" y="1758391"/>
            <a:ext cx="960120" cy="1748332"/>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specification</a:t>
            </a:r>
          </a:p>
        </p:txBody>
      </p:sp>
      <p:sp>
        <p:nvSpPr>
          <p:cNvPr id="131" name="TextBox 130"/>
          <p:cNvSpPr txBox="1"/>
          <p:nvPr/>
        </p:nvSpPr>
        <p:spPr>
          <a:xfrm>
            <a:off x="393192" y="3514039"/>
            <a:ext cx="960120" cy="1309420"/>
          </a:xfrm>
          <a:prstGeom prst="rect">
            <a:avLst/>
          </a:prstGeom>
          <a:noFill/>
          <a:ln>
            <a:noFill/>
          </a:ln>
        </p:spPr>
        <p:txBody>
          <a:bodyPr wrap="square" lIns="0" rIns="45720" tIns="18288" bIns="18288" anchor="ctr">
            <a:spAutoFit/>
          </a:bodyPr>
          <a:lstStyle/>
          <a:p>
            <a:pPr algn="l">
              <a:lnSpc>
                <a:spcPct val="106000"/>
              </a:lnSpc>
              <a:spcAft>
                <a:spcPts val="0"/>
              </a:spcAft>
            </a:pPr>
            <a:r>
              <a:rPr sz="900" b="1">
                <a:solidFill>
                  <a:srgbClr val="7F8080"/>
                </a:solidFill>
                <a:latin typeface="Calibri"/>
              </a:rPr>
              <a:t>index</a:t>
            </a:r>
          </a:p>
        </p:txBody>
      </p:sp>
      <p:sp>
        <p:nvSpPr>
          <p:cNvPr id="132" name="Rectangle 131"/>
          <p:cNvSpPr/>
          <p:nvPr/>
        </p:nvSpPr>
        <p:spPr>
          <a:xfrm>
            <a:off x="393192" y="3506724"/>
            <a:ext cx="11384280" cy="7315"/>
          </a:xfrm>
          <a:prstGeom prst="rect">
            <a:avLst/>
          </a:prstGeom>
          <a:solidFill>
            <a:srgbClr val="7F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The squared term on the irrigation share of sown area is negative in all fourteen estimates</a:t>
            </a:r>
          </a:p>
          <a:p>
            <a:pPr algn="l">
              <a:lnSpc>
                <a:spcPct val="104000"/>
              </a:lnSpc>
              <a:spcAft>
                <a:spcPts val="200"/>
              </a:spcAft>
            </a:pPr>
            <a:r>
              <a:rPr sz="1350" b="0">
                <a:solidFill>
                  <a:srgbClr val="333232"/>
                </a:solidFill>
                <a:latin typeface="Calibri"/>
              </a:rPr>
              <a:t>Eight of them vary the specification and six substitute a different index, and the weakest still carries p = 0.013.</a:t>
            </a:r>
          </a:p>
        </p:txBody>
      </p:sp>
      <p:sp>
        <p:nvSpPr>
          <p:cNvPr id="136" name="TextBox 135"/>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The turn is the maximum of the fitted curve, on the irrigation share of sown area. Crops grown pooled across years shows no hump at p = 0.19 and within each year it does at p = 0.0001.</a:t>
            </a:r>
          </a:p>
        </p:txBody>
      </p:sp>
      <p:sp>
        <p:nvSpPr>
          <p:cNvPr id="137" name="TextBox 136"/>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Irrigation source and what a district grows</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H2, canal and surface water against groundwater at the same irrigation share</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11</a:t>
            </a:r>
          </a:p>
        </p:txBody>
      </p:sp>
      <p:pic>
        <p:nvPicPr>
          <p:cNvPr id="7" name="Picture 6" descr="f7_irrigation_source.png"/>
          <p:cNvPicPr>
            <a:picLocks noChangeAspect="1"/>
          </p:cNvPicPr>
          <p:nvPr/>
        </p:nvPicPr>
        <p:blipFill>
          <a:blip r:embed="rId3"/>
          <a:stretch>
            <a:fillRect/>
          </a:stretch>
        </p:blipFill>
        <p:spPr>
          <a:xfrm>
            <a:off x="393192" y="1756086"/>
            <a:ext cx="5536692" cy="2339987"/>
          </a:xfrm>
          <a:prstGeom prst="rect">
            <a:avLst/>
          </a:prstGeom>
        </p:spPr>
      </p:pic>
      <p:sp>
        <p:nvSpPr>
          <p:cNvPr id="8" name="Rectangle 7"/>
          <p:cNvSpPr/>
          <p:nvPr/>
        </p:nvSpPr>
        <p:spPr>
          <a:xfrm>
            <a:off x="6240779" y="1243584"/>
            <a:ext cx="1920240" cy="2743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0779" y="1243584"/>
            <a:ext cx="50292" cy="2743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3659" y="1266444"/>
            <a:ext cx="1700784"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H2 holds</a:t>
            </a:r>
          </a:p>
        </p:txBody>
      </p:sp>
      <p:sp>
        <p:nvSpPr>
          <p:cNvPr id="11" name="TextBox 10"/>
          <p:cNvSpPr txBox="1"/>
          <p:nvPr/>
        </p:nvSpPr>
        <p:spPr>
          <a:xfrm>
            <a:off x="6240779" y="1591056"/>
            <a:ext cx="260604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Outcome</a:t>
            </a:r>
          </a:p>
        </p:txBody>
      </p:sp>
      <p:sp>
        <p:nvSpPr>
          <p:cNvPr id="12" name="TextBox 11"/>
          <p:cNvSpPr txBox="1"/>
          <p:nvPr/>
        </p:nvSpPr>
        <p:spPr>
          <a:xfrm>
            <a:off x="8846819" y="1591056"/>
            <a:ext cx="804672"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Canal</a:t>
            </a:r>
          </a:p>
        </p:txBody>
      </p:sp>
      <p:sp>
        <p:nvSpPr>
          <p:cNvPr id="13" name="TextBox 12"/>
          <p:cNvSpPr txBox="1"/>
          <p:nvPr/>
        </p:nvSpPr>
        <p:spPr>
          <a:xfrm>
            <a:off x="9651492" y="1591056"/>
            <a:ext cx="566928"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a:t>
            </a:r>
          </a:p>
        </p:txBody>
      </p:sp>
      <p:sp>
        <p:nvSpPr>
          <p:cNvPr id="14" name="TextBox 13"/>
          <p:cNvSpPr txBox="1"/>
          <p:nvPr/>
        </p:nvSpPr>
        <p:spPr>
          <a:xfrm>
            <a:off x="10218419" y="1591056"/>
            <a:ext cx="932688"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Surface water</a:t>
            </a:r>
          </a:p>
        </p:txBody>
      </p:sp>
      <p:sp>
        <p:nvSpPr>
          <p:cNvPr id="15" name="TextBox 14"/>
          <p:cNvSpPr txBox="1"/>
          <p:nvPr/>
        </p:nvSpPr>
        <p:spPr>
          <a:xfrm>
            <a:off x="11151107" y="1591056"/>
            <a:ext cx="626364"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a:t>
            </a:r>
          </a:p>
        </p:txBody>
      </p:sp>
      <p:sp>
        <p:nvSpPr>
          <p:cNvPr id="16" name="Rectangle 15"/>
          <p:cNvSpPr/>
          <p:nvPr/>
        </p:nvSpPr>
        <p:spPr>
          <a:xfrm>
            <a:off x="6240779" y="1847088"/>
            <a:ext cx="5536692"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0779" y="1858975"/>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Effective number of crops</a:t>
            </a:r>
          </a:p>
        </p:txBody>
      </p:sp>
      <p:sp>
        <p:nvSpPr>
          <p:cNvPr id="18" name="TextBox 17"/>
          <p:cNvSpPr txBox="1"/>
          <p:nvPr/>
        </p:nvSpPr>
        <p:spPr>
          <a:xfrm>
            <a:off x="8846819" y="1858975"/>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-0.310</a:t>
            </a:r>
          </a:p>
        </p:txBody>
      </p:sp>
      <p:sp>
        <p:nvSpPr>
          <p:cNvPr id="19" name="TextBox 18"/>
          <p:cNvSpPr txBox="1"/>
          <p:nvPr/>
        </p:nvSpPr>
        <p:spPr>
          <a:xfrm>
            <a:off x="9651492" y="1858975"/>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0.42</a:t>
            </a:r>
          </a:p>
        </p:txBody>
      </p:sp>
      <p:sp>
        <p:nvSpPr>
          <p:cNvPr id="20" name="TextBox 19"/>
          <p:cNvSpPr txBox="1"/>
          <p:nvPr/>
        </p:nvSpPr>
        <p:spPr>
          <a:xfrm>
            <a:off x="10218419" y="1858975"/>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-2.030</a:t>
            </a:r>
          </a:p>
        </p:txBody>
      </p:sp>
      <p:sp>
        <p:nvSpPr>
          <p:cNvPr id="21" name="TextBox 20"/>
          <p:cNvSpPr txBox="1"/>
          <p:nvPr/>
        </p:nvSpPr>
        <p:spPr>
          <a:xfrm>
            <a:off x="11151107" y="1858975"/>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0.026</a:t>
            </a:r>
          </a:p>
        </p:txBody>
      </p:sp>
      <p:sp>
        <p:nvSpPr>
          <p:cNvPr id="22" name="Rectangle 21"/>
          <p:cNvSpPr/>
          <p:nvPr/>
        </p:nvSpPr>
        <p:spPr>
          <a:xfrm>
            <a:off x="6240779" y="2124151"/>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0779" y="2131466"/>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Crops grown in an average year</a:t>
            </a:r>
          </a:p>
        </p:txBody>
      </p:sp>
      <p:sp>
        <p:nvSpPr>
          <p:cNvPr id="24" name="TextBox 23"/>
          <p:cNvSpPr txBox="1"/>
          <p:nvPr/>
        </p:nvSpPr>
        <p:spPr>
          <a:xfrm>
            <a:off x="8846819" y="2131466"/>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-2.593</a:t>
            </a:r>
          </a:p>
        </p:txBody>
      </p:sp>
      <p:sp>
        <p:nvSpPr>
          <p:cNvPr id="25" name="TextBox 24"/>
          <p:cNvSpPr txBox="1"/>
          <p:nvPr/>
        </p:nvSpPr>
        <p:spPr>
          <a:xfrm>
            <a:off x="9651492" y="2131466"/>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0.003</a:t>
            </a:r>
          </a:p>
        </p:txBody>
      </p:sp>
      <p:sp>
        <p:nvSpPr>
          <p:cNvPr id="26" name="TextBox 25"/>
          <p:cNvSpPr txBox="1"/>
          <p:nvPr/>
        </p:nvSpPr>
        <p:spPr>
          <a:xfrm>
            <a:off x="10218419" y="2131466"/>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-0.467</a:t>
            </a:r>
          </a:p>
        </p:txBody>
      </p:sp>
      <p:sp>
        <p:nvSpPr>
          <p:cNvPr id="27" name="TextBox 26"/>
          <p:cNvSpPr txBox="1"/>
          <p:nvPr/>
        </p:nvSpPr>
        <p:spPr>
          <a:xfrm>
            <a:off x="11151107" y="2131466"/>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0.73</a:t>
            </a:r>
          </a:p>
        </p:txBody>
      </p:sp>
      <p:sp>
        <p:nvSpPr>
          <p:cNvPr id="28" name="Rectangle 27"/>
          <p:cNvSpPr/>
          <p:nvPr/>
        </p:nvSpPr>
        <p:spPr>
          <a:xfrm>
            <a:off x="6240779" y="2396642"/>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0779" y="2403957"/>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Effective number weighted to the dominant crops</a:t>
            </a:r>
          </a:p>
        </p:txBody>
      </p:sp>
      <p:sp>
        <p:nvSpPr>
          <p:cNvPr id="30" name="TextBox 29"/>
          <p:cNvSpPr txBox="1"/>
          <p:nvPr/>
        </p:nvSpPr>
        <p:spPr>
          <a:xfrm>
            <a:off x="8846819" y="2403957"/>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-0.155</a:t>
            </a:r>
          </a:p>
        </p:txBody>
      </p:sp>
      <p:sp>
        <p:nvSpPr>
          <p:cNvPr id="31" name="TextBox 30"/>
          <p:cNvSpPr txBox="1"/>
          <p:nvPr/>
        </p:nvSpPr>
        <p:spPr>
          <a:xfrm>
            <a:off x="9651492" y="2403957"/>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0.59</a:t>
            </a:r>
          </a:p>
        </p:txBody>
      </p:sp>
      <p:sp>
        <p:nvSpPr>
          <p:cNvPr id="32" name="TextBox 31"/>
          <p:cNvSpPr txBox="1"/>
          <p:nvPr/>
        </p:nvSpPr>
        <p:spPr>
          <a:xfrm>
            <a:off x="10218419" y="2403957"/>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-1.660</a:t>
            </a:r>
          </a:p>
        </p:txBody>
      </p:sp>
      <p:sp>
        <p:nvSpPr>
          <p:cNvPr id="33" name="TextBox 32"/>
          <p:cNvSpPr txBox="1"/>
          <p:nvPr/>
        </p:nvSpPr>
        <p:spPr>
          <a:xfrm>
            <a:off x="11151107" y="2403957"/>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0.019</a:t>
            </a:r>
          </a:p>
        </p:txBody>
      </p:sp>
      <p:sp>
        <p:nvSpPr>
          <p:cNvPr id="34" name="Rectangle 33"/>
          <p:cNvSpPr/>
          <p:nvPr/>
        </p:nvSpPr>
        <p:spPr>
          <a:xfrm>
            <a:off x="6240779" y="2669133"/>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0779" y="2676448"/>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Evenness</a:t>
            </a:r>
          </a:p>
        </p:txBody>
      </p:sp>
      <p:sp>
        <p:nvSpPr>
          <p:cNvPr id="36" name="TextBox 35"/>
          <p:cNvSpPr txBox="1"/>
          <p:nvPr/>
        </p:nvSpPr>
        <p:spPr>
          <a:xfrm>
            <a:off x="8846819" y="2676448"/>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+0.034</a:t>
            </a:r>
          </a:p>
        </p:txBody>
      </p:sp>
      <p:sp>
        <p:nvSpPr>
          <p:cNvPr id="37" name="TextBox 36"/>
          <p:cNvSpPr txBox="1"/>
          <p:nvPr/>
        </p:nvSpPr>
        <p:spPr>
          <a:xfrm>
            <a:off x="9651492" y="2676448"/>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0.073</a:t>
            </a:r>
          </a:p>
        </p:txBody>
      </p:sp>
      <p:sp>
        <p:nvSpPr>
          <p:cNvPr id="38" name="TextBox 37"/>
          <p:cNvSpPr txBox="1"/>
          <p:nvPr/>
        </p:nvSpPr>
        <p:spPr>
          <a:xfrm>
            <a:off x="10218419" y="2676448"/>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-0.087</a:t>
            </a:r>
          </a:p>
        </p:txBody>
      </p:sp>
      <p:sp>
        <p:nvSpPr>
          <p:cNvPr id="39" name="TextBox 38"/>
          <p:cNvSpPr txBox="1"/>
          <p:nvPr/>
        </p:nvSpPr>
        <p:spPr>
          <a:xfrm>
            <a:off x="11151107" y="2676448"/>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0.11</a:t>
            </a:r>
          </a:p>
        </p:txBody>
      </p:sp>
      <p:sp>
        <p:nvSpPr>
          <p:cNvPr id="40" name="Rectangle 39"/>
          <p:cNvSpPr/>
          <p:nvPr/>
        </p:nvSpPr>
        <p:spPr>
          <a:xfrm>
            <a:off x="6240779" y="2941624"/>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40779" y="2948940"/>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Cereal share</a:t>
            </a:r>
          </a:p>
        </p:txBody>
      </p:sp>
      <p:sp>
        <p:nvSpPr>
          <p:cNvPr id="42" name="TextBox 41"/>
          <p:cNvSpPr txBox="1"/>
          <p:nvPr/>
        </p:nvSpPr>
        <p:spPr>
          <a:xfrm>
            <a:off x="8846819" y="2948940"/>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+0.022</a:t>
            </a:r>
          </a:p>
        </p:txBody>
      </p:sp>
      <p:sp>
        <p:nvSpPr>
          <p:cNvPr id="43" name="TextBox 42"/>
          <p:cNvSpPr txBox="1"/>
          <p:nvPr/>
        </p:nvSpPr>
        <p:spPr>
          <a:xfrm>
            <a:off x="9651492" y="2948940"/>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0.60</a:t>
            </a:r>
          </a:p>
        </p:txBody>
      </p:sp>
      <p:sp>
        <p:nvSpPr>
          <p:cNvPr id="44" name="TextBox 43"/>
          <p:cNvSpPr txBox="1"/>
          <p:nvPr/>
        </p:nvSpPr>
        <p:spPr>
          <a:xfrm>
            <a:off x="10218419" y="2948940"/>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+0.300</a:t>
            </a:r>
          </a:p>
        </p:txBody>
      </p:sp>
      <p:sp>
        <p:nvSpPr>
          <p:cNvPr id="45" name="TextBox 44"/>
          <p:cNvSpPr txBox="1"/>
          <p:nvPr/>
        </p:nvSpPr>
        <p:spPr>
          <a:xfrm>
            <a:off x="11151107" y="2948940"/>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0.0001</a:t>
            </a:r>
          </a:p>
        </p:txBody>
      </p:sp>
      <p:sp>
        <p:nvSpPr>
          <p:cNvPr id="46" name="Rectangle 45"/>
          <p:cNvSpPr/>
          <p:nvPr/>
        </p:nvSpPr>
        <p:spPr>
          <a:xfrm>
            <a:off x="6240779" y="3214116"/>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0779" y="3221431"/>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Pulse share</a:t>
            </a:r>
          </a:p>
        </p:txBody>
      </p:sp>
      <p:sp>
        <p:nvSpPr>
          <p:cNvPr id="48" name="TextBox 47"/>
          <p:cNvSpPr txBox="1"/>
          <p:nvPr/>
        </p:nvSpPr>
        <p:spPr>
          <a:xfrm>
            <a:off x="8846819" y="3221431"/>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+0.073</a:t>
            </a:r>
          </a:p>
        </p:txBody>
      </p:sp>
      <p:sp>
        <p:nvSpPr>
          <p:cNvPr id="49" name="TextBox 48"/>
          <p:cNvSpPr txBox="1"/>
          <p:nvPr/>
        </p:nvSpPr>
        <p:spPr>
          <a:xfrm>
            <a:off x="9651492" y="3221431"/>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0.0005</a:t>
            </a:r>
          </a:p>
        </p:txBody>
      </p:sp>
      <p:sp>
        <p:nvSpPr>
          <p:cNvPr id="50" name="TextBox 49"/>
          <p:cNvSpPr txBox="1"/>
          <p:nvPr/>
        </p:nvSpPr>
        <p:spPr>
          <a:xfrm>
            <a:off x="10218419" y="3221431"/>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-0.104</a:t>
            </a:r>
          </a:p>
        </p:txBody>
      </p:sp>
      <p:sp>
        <p:nvSpPr>
          <p:cNvPr id="51" name="TextBox 50"/>
          <p:cNvSpPr txBox="1"/>
          <p:nvPr/>
        </p:nvSpPr>
        <p:spPr>
          <a:xfrm>
            <a:off x="11151107" y="3221431"/>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0.002</a:t>
            </a:r>
          </a:p>
        </p:txBody>
      </p:sp>
      <p:sp>
        <p:nvSpPr>
          <p:cNvPr id="52" name="Rectangle 51"/>
          <p:cNvSpPr/>
          <p:nvPr/>
        </p:nvSpPr>
        <p:spPr>
          <a:xfrm>
            <a:off x="6240779" y="3486607"/>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0779" y="3493922"/>
            <a:ext cx="260604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Oilseed share</a:t>
            </a:r>
          </a:p>
        </p:txBody>
      </p:sp>
      <p:sp>
        <p:nvSpPr>
          <p:cNvPr id="54" name="TextBox 53"/>
          <p:cNvSpPr txBox="1"/>
          <p:nvPr/>
        </p:nvSpPr>
        <p:spPr>
          <a:xfrm>
            <a:off x="8846819" y="3493922"/>
            <a:ext cx="80467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-0.097</a:t>
            </a:r>
          </a:p>
        </p:txBody>
      </p:sp>
      <p:sp>
        <p:nvSpPr>
          <p:cNvPr id="55" name="TextBox 54"/>
          <p:cNvSpPr txBox="1"/>
          <p:nvPr/>
        </p:nvSpPr>
        <p:spPr>
          <a:xfrm>
            <a:off x="9651492" y="3493922"/>
            <a:ext cx="56692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0.002</a:t>
            </a:r>
          </a:p>
        </p:txBody>
      </p:sp>
      <p:sp>
        <p:nvSpPr>
          <p:cNvPr id="56" name="TextBox 55"/>
          <p:cNvSpPr txBox="1"/>
          <p:nvPr/>
        </p:nvSpPr>
        <p:spPr>
          <a:xfrm>
            <a:off x="10218419" y="3493922"/>
            <a:ext cx="932688"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-0.164</a:t>
            </a:r>
          </a:p>
        </p:txBody>
      </p:sp>
      <p:sp>
        <p:nvSpPr>
          <p:cNvPr id="57" name="TextBox 56"/>
          <p:cNvSpPr txBox="1"/>
          <p:nvPr/>
        </p:nvSpPr>
        <p:spPr>
          <a:xfrm>
            <a:off x="11151107" y="3493922"/>
            <a:ext cx="626364"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0.008</a:t>
            </a:r>
          </a:p>
        </p:txBody>
      </p:sp>
      <p:sp>
        <p:nvSpPr>
          <p:cNvPr id="58" name="Rectangle 57"/>
          <p:cNvSpPr/>
          <p:nvPr/>
        </p:nvSpPr>
        <p:spPr>
          <a:xfrm>
            <a:off x="6240779" y="3759098"/>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40779" y="3758184"/>
            <a:ext cx="5536692" cy="1042415"/>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200" b="0">
                <a:solidFill>
                  <a:srgbClr val="333232"/>
                </a:solidFill>
                <a:latin typeface="Calibri"/>
              </a:rPr>
              <a:t>The irrigation share of sown area and its square are held in every row, so these are differences between water sources at the same amount of water.</a:t>
            </a:r>
          </a:p>
          <a:p>
            <a:pPr algn="l">
              <a:lnSpc>
                <a:spcPct val="106000"/>
              </a:lnSpc>
              <a:spcAft>
                <a:spcPts val="0"/>
              </a:spcAft>
            </a:pPr>
            <a:r>
              <a:rPr sz="1200" b="0">
                <a:solidFill>
                  <a:srgbClr val="333232"/>
                </a:solidFill>
                <a:latin typeface="Calibri"/>
              </a:rPr>
              <a:t>Groundwater is the omitted source and covers 50.5 percent of villages, other sources 21.1, canal 17.2 and surface water 11.3.</a:t>
            </a:r>
          </a:p>
        </p:txBody>
      </p:sp>
      <p:sp>
        <p:nvSpPr>
          <p:cNvPr id="60" name="Rectangle 59"/>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Surface-water districts average two fewer effective crops at the same irrigation share</a:t>
            </a:r>
          </a:p>
          <a:p>
            <a:pPr algn="l">
              <a:lnSpc>
                <a:spcPct val="104000"/>
              </a:lnSpc>
              <a:spcAft>
                <a:spcPts val="200"/>
              </a:spcAft>
            </a:pPr>
            <a:r>
              <a:rPr sz="1350" b="0">
                <a:solidFill>
                  <a:srgbClr val="333232"/>
                </a:solidFill>
                <a:latin typeface="Calibri"/>
              </a:rPr>
              <a:t>Canal dependence takes 2.6 crops off the list, adds 0.073 to the pulse share and leaves the effective number alone.</a:t>
            </a:r>
          </a:p>
        </p:txBody>
      </p:sp>
      <p:sp>
        <p:nvSpPr>
          <p:cNvPr id="63" name="TextBox 62"/>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Coefficients are on the share of a district's villages naming that source, so they read from none to all. State fixed effects, errors clustered on the pre-2011 parent district.</a:t>
            </a:r>
          </a:p>
        </p:txBody>
      </p:sp>
      <p:sp>
        <p:nvSpPr>
          <p:cNvPr id="64" name="TextBox 63"/>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How the rural facilities sit together</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Correlation across districts between the share of villages carrying each facility</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12</a:t>
            </a:r>
          </a:p>
        </p:txBody>
      </p:sp>
      <p:pic>
        <p:nvPicPr>
          <p:cNvPr id="7" name="Picture 6" descr="f15_facility_matrix.png"/>
          <p:cNvPicPr>
            <a:picLocks noChangeAspect="1"/>
          </p:cNvPicPr>
          <p:nvPr/>
        </p:nvPicPr>
        <p:blipFill>
          <a:blip r:embed="rId3"/>
          <a:stretch>
            <a:fillRect/>
          </a:stretch>
        </p:blipFill>
        <p:spPr>
          <a:xfrm>
            <a:off x="487892" y="1115568"/>
            <a:ext cx="4428318" cy="3675887"/>
          </a:xfrm>
          <a:prstGeom prst="rect">
            <a:avLst/>
          </a:prstGeom>
        </p:spPr>
      </p:pic>
      <p:sp>
        <p:nvSpPr>
          <p:cNvPr id="8" name="TextBox 7"/>
          <p:cNvSpPr txBox="1"/>
          <p:nvPr/>
        </p:nvSpPr>
        <p:spPr>
          <a:xfrm>
            <a:off x="5349240" y="1188720"/>
            <a:ext cx="6428232"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The weekly haat against the other nine</a:t>
            </a:r>
          </a:p>
        </p:txBody>
      </p:sp>
      <p:sp>
        <p:nvSpPr>
          <p:cNvPr id="9" name="TextBox 8"/>
          <p:cNvSpPr txBox="1"/>
          <p:nvPr/>
        </p:nvSpPr>
        <p:spPr>
          <a:xfrm>
            <a:off x="5349240" y="1444752"/>
            <a:ext cx="23317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Facility</a:t>
            </a:r>
          </a:p>
        </p:txBody>
      </p:sp>
      <p:sp>
        <p:nvSpPr>
          <p:cNvPr id="10" name="TextBox 9"/>
          <p:cNvSpPr txBox="1"/>
          <p:nvPr/>
        </p:nvSpPr>
        <p:spPr>
          <a:xfrm>
            <a:off x="7680959" y="1444752"/>
            <a:ext cx="1051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Correlation</a:t>
            </a:r>
          </a:p>
        </p:txBody>
      </p:sp>
      <p:sp>
        <p:nvSpPr>
          <p:cNvPr id="11" name="Rectangle 10"/>
          <p:cNvSpPr/>
          <p:nvPr/>
        </p:nvSpPr>
        <p:spPr>
          <a:xfrm>
            <a:off x="5349240" y="1664208"/>
            <a:ext cx="3383279"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1676095"/>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Regular market</a:t>
            </a:r>
          </a:p>
        </p:txBody>
      </p:sp>
      <p:sp>
        <p:nvSpPr>
          <p:cNvPr id="13" name="TextBox 12"/>
          <p:cNvSpPr txBox="1"/>
          <p:nvPr/>
        </p:nvSpPr>
        <p:spPr>
          <a:xfrm>
            <a:off x="7680959" y="1676095"/>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-0.21</a:t>
            </a:r>
          </a:p>
        </p:txBody>
      </p:sp>
      <p:sp>
        <p:nvSpPr>
          <p:cNvPr id="14" name="Rectangle 13"/>
          <p:cNvSpPr/>
          <p:nvPr/>
        </p:nvSpPr>
        <p:spPr>
          <a:xfrm>
            <a:off x="5349240" y="1879092"/>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1886407"/>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Mandi</a:t>
            </a:r>
          </a:p>
        </p:txBody>
      </p:sp>
      <p:sp>
        <p:nvSpPr>
          <p:cNvPr id="16" name="TextBox 15"/>
          <p:cNvSpPr txBox="1"/>
          <p:nvPr/>
        </p:nvSpPr>
        <p:spPr>
          <a:xfrm>
            <a:off x="7680959" y="1886407"/>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-0.15</a:t>
            </a:r>
          </a:p>
        </p:txBody>
      </p:sp>
      <p:sp>
        <p:nvSpPr>
          <p:cNvPr id="17" name="Rectangle 16"/>
          <p:cNvSpPr/>
          <p:nvPr/>
        </p:nvSpPr>
        <p:spPr>
          <a:xfrm>
            <a:off x="5349240" y="2089404"/>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2096719"/>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Seed centre</a:t>
            </a:r>
          </a:p>
        </p:txBody>
      </p:sp>
      <p:sp>
        <p:nvSpPr>
          <p:cNvPr id="19" name="TextBox 18"/>
          <p:cNvSpPr txBox="1"/>
          <p:nvPr/>
        </p:nvSpPr>
        <p:spPr>
          <a:xfrm>
            <a:off x="7680959" y="2096719"/>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-0.10</a:t>
            </a:r>
          </a:p>
        </p:txBody>
      </p:sp>
      <p:sp>
        <p:nvSpPr>
          <p:cNvPr id="20" name="Rectangle 19"/>
          <p:cNvSpPr/>
          <p:nvPr/>
        </p:nvSpPr>
        <p:spPr>
          <a:xfrm>
            <a:off x="5349240" y="2299716"/>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2307031"/>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Custom hiring</a:t>
            </a:r>
          </a:p>
        </p:txBody>
      </p:sp>
      <p:sp>
        <p:nvSpPr>
          <p:cNvPr id="22" name="TextBox 21"/>
          <p:cNvSpPr txBox="1"/>
          <p:nvPr/>
        </p:nvSpPr>
        <p:spPr>
          <a:xfrm>
            <a:off x="7680959" y="2307031"/>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-0.09</a:t>
            </a:r>
          </a:p>
        </p:txBody>
      </p:sp>
      <p:sp>
        <p:nvSpPr>
          <p:cNvPr id="23" name="Rectangle 22"/>
          <p:cNvSpPr/>
          <p:nvPr/>
        </p:nvSpPr>
        <p:spPr>
          <a:xfrm>
            <a:off x="5349240" y="2510028"/>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9240" y="2517343"/>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Farm-gate processing</a:t>
            </a:r>
          </a:p>
        </p:txBody>
      </p:sp>
      <p:sp>
        <p:nvSpPr>
          <p:cNvPr id="25" name="TextBox 24"/>
          <p:cNvSpPr txBox="1"/>
          <p:nvPr/>
        </p:nvSpPr>
        <p:spPr>
          <a:xfrm>
            <a:off x="7680959" y="2517343"/>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-0.09</a:t>
            </a:r>
          </a:p>
        </p:txBody>
      </p:sp>
      <p:sp>
        <p:nvSpPr>
          <p:cNvPr id="26" name="Rectangle 25"/>
          <p:cNvSpPr/>
          <p:nvPr/>
        </p:nvSpPr>
        <p:spPr>
          <a:xfrm>
            <a:off x="5349240" y="2720340"/>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9240" y="2727655"/>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Soil testing</a:t>
            </a:r>
          </a:p>
        </p:txBody>
      </p:sp>
      <p:sp>
        <p:nvSpPr>
          <p:cNvPr id="28" name="TextBox 27"/>
          <p:cNvSpPr txBox="1"/>
          <p:nvPr/>
        </p:nvSpPr>
        <p:spPr>
          <a:xfrm>
            <a:off x="7680959" y="2727655"/>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-0.04</a:t>
            </a:r>
          </a:p>
        </p:txBody>
      </p:sp>
      <p:sp>
        <p:nvSpPr>
          <p:cNvPr id="29" name="Rectangle 28"/>
          <p:cNvSpPr/>
          <p:nvPr/>
        </p:nvSpPr>
        <p:spPr>
          <a:xfrm>
            <a:off x="5349240" y="2930652"/>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9240" y="2937967"/>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Fertiliser shop</a:t>
            </a:r>
          </a:p>
        </p:txBody>
      </p:sp>
      <p:sp>
        <p:nvSpPr>
          <p:cNvPr id="31" name="TextBox 30"/>
          <p:cNvSpPr txBox="1"/>
          <p:nvPr/>
        </p:nvSpPr>
        <p:spPr>
          <a:xfrm>
            <a:off x="7680959" y="2937967"/>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-0.02</a:t>
            </a:r>
          </a:p>
        </p:txBody>
      </p:sp>
      <p:sp>
        <p:nvSpPr>
          <p:cNvPr id="32" name="Rectangle 31"/>
          <p:cNvSpPr/>
          <p:nvPr/>
        </p:nvSpPr>
        <p:spPr>
          <a:xfrm>
            <a:off x="5349240" y="3140964"/>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49240" y="3148279"/>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Producer organisation</a:t>
            </a:r>
          </a:p>
        </p:txBody>
      </p:sp>
      <p:sp>
        <p:nvSpPr>
          <p:cNvPr id="34" name="TextBox 33"/>
          <p:cNvSpPr txBox="1"/>
          <p:nvPr/>
        </p:nvSpPr>
        <p:spPr>
          <a:xfrm>
            <a:off x="7680959" y="3148279"/>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+0.05</a:t>
            </a:r>
          </a:p>
        </p:txBody>
      </p:sp>
      <p:sp>
        <p:nvSpPr>
          <p:cNvPr id="35" name="Rectangle 34"/>
          <p:cNvSpPr/>
          <p:nvPr/>
        </p:nvSpPr>
        <p:spPr>
          <a:xfrm>
            <a:off x="5349240" y="3351276"/>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49240" y="3358591"/>
            <a:ext cx="2331720" cy="202996"/>
          </a:xfrm>
          <a:prstGeom prst="rect">
            <a:avLst/>
          </a:prstGeom>
          <a:noFill/>
          <a:ln>
            <a:noFill/>
          </a:ln>
        </p:spPr>
        <p:txBody>
          <a:bodyPr wrap="square" lIns="45720" rIns="45720" tIns="18288" bIns="18288" anchor="ctr">
            <a:spAutoFit/>
          </a:bodyPr>
          <a:lstStyle/>
          <a:p>
            <a:pPr algn="l">
              <a:lnSpc>
                <a:spcPct val="106000"/>
              </a:lnSpc>
              <a:spcAft>
                <a:spcPts val="0"/>
              </a:spcAft>
            </a:pPr>
            <a:r>
              <a:rPr sz="1000" b="0">
                <a:solidFill>
                  <a:srgbClr val="333232"/>
                </a:solidFill>
                <a:latin typeface="Calibri"/>
              </a:rPr>
              <a:t>Cold storage</a:t>
            </a:r>
          </a:p>
        </p:txBody>
      </p:sp>
      <p:sp>
        <p:nvSpPr>
          <p:cNvPr id="37" name="TextBox 36"/>
          <p:cNvSpPr txBox="1"/>
          <p:nvPr/>
        </p:nvSpPr>
        <p:spPr>
          <a:xfrm>
            <a:off x="7680959" y="3358591"/>
            <a:ext cx="1051560" cy="202996"/>
          </a:xfrm>
          <a:prstGeom prst="rect">
            <a:avLst/>
          </a:prstGeom>
          <a:noFill/>
          <a:ln>
            <a:noFill/>
          </a:ln>
        </p:spPr>
        <p:txBody>
          <a:bodyPr wrap="square" lIns="45720" rIns="45720" tIns="18288" bIns="18288" anchor="ctr">
            <a:spAutoFit/>
          </a:bodyPr>
          <a:lstStyle/>
          <a:p>
            <a:pPr algn="r">
              <a:lnSpc>
                <a:spcPct val="106000"/>
              </a:lnSpc>
              <a:spcAft>
                <a:spcPts val="0"/>
              </a:spcAft>
            </a:pPr>
            <a:r>
              <a:rPr sz="1000" b="0">
                <a:solidFill>
                  <a:srgbClr val="333232"/>
                </a:solidFill>
                <a:latin typeface="Calibri"/>
              </a:rPr>
              <a:t>+0.06</a:t>
            </a:r>
          </a:p>
        </p:txBody>
      </p:sp>
      <p:sp>
        <p:nvSpPr>
          <p:cNvPr id="38" name="Rectangle 37"/>
          <p:cNvSpPr/>
          <p:nvPr/>
        </p:nvSpPr>
        <p:spPr>
          <a:xfrm>
            <a:off x="5349240" y="3561588"/>
            <a:ext cx="3383279"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52559" y="1444752"/>
            <a:ext cx="2724912" cy="2084831"/>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250" b="1">
                <a:solidFill>
                  <a:srgbClr val="333232"/>
                </a:solidFill>
                <a:latin typeface="Calibri"/>
              </a:rPr>
              <a:t>What the block means</a:t>
            </a:r>
          </a:p>
          <a:p>
            <a:pPr algn="l">
              <a:lnSpc>
                <a:spcPct val="106000"/>
              </a:lnSpc>
              <a:spcAft>
                <a:spcPts val="0"/>
              </a:spcAft>
            </a:pPr>
            <a:r>
              <a:rPr sz="1200" b="0">
                <a:solidFill>
                  <a:srgbClr val="333232"/>
                </a:solidFill>
                <a:latin typeface="Calibri"/>
              </a:rPr>
              <a:t>Nine of the ten facilities correlate between 0.24 and 0.83 with each other. A district that has one tends to have the rest, so they carry one piece of information between them and not nine.</a:t>
            </a:r>
          </a:p>
        </p:txBody>
      </p:sp>
      <p:sp>
        <p:nvSpPr>
          <p:cNvPr id="40" name="Rectangle 39"/>
          <p:cNvSpPr/>
          <p:nvPr/>
        </p:nvSpPr>
        <p:spPr>
          <a:xfrm>
            <a:off x="5349240" y="3675887"/>
            <a:ext cx="6428232" cy="1115568"/>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250" b="1">
                <a:solidFill>
                  <a:srgbClr val="333232"/>
                </a:solidFill>
                <a:latin typeface="Calibri"/>
              </a:rPr>
              <a:t>Why the weekly haat is treated on its own</a:t>
            </a:r>
          </a:p>
          <a:p>
            <a:pPr algn="l">
              <a:lnSpc>
                <a:spcPct val="106000"/>
              </a:lnSpc>
              <a:spcAft>
                <a:spcPts val="0"/>
              </a:spcAft>
            </a:pPr>
            <a:r>
              <a:rPr sz="1200" b="0">
                <a:solidFill>
                  <a:srgbClr val="333232"/>
                </a:solidFill>
                <a:latin typeface="Calibri"/>
              </a:rPr>
              <a:t>It correlates at -0.21 with regular markets and -0.15 with mandis, at 0.04 with night-time lights and -0.16 with the density of non-farm establishments. A periodic market sits where the rest of this infrastructure does not, which is what lets H3 be asked separately from H4.</a:t>
            </a:r>
          </a:p>
        </p:txBody>
      </p:sp>
      <p:sp>
        <p:nvSpPr>
          <p:cNvPr id="41" name="Rectangle 40"/>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Nine of the ten facilities move together across districts</a:t>
            </a:r>
          </a:p>
          <a:p>
            <a:pPr algn="l">
              <a:lnSpc>
                <a:spcPct val="104000"/>
              </a:lnSpc>
              <a:spcAft>
                <a:spcPts val="200"/>
              </a:spcAft>
            </a:pPr>
            <a:r>
              <a:rPr sz="1350" b="0">
                <a:solidFill>
                  <a:srgbClr val="333232"/>
                </a:solidFill>
                <a:latin typeface="Calibri"/>
              </a:rPr>
              <a:t>The weekly haat is the only one that does not, and it runs mildly negative against the output markets.</a:t>
            </a:r>
          </a:p>
        </p:txBody>
      </p:sp>
      <p:sp>
        <p:nvSpPr>
          <p:cNvPr id="44" name="TextBox 43"/>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Each cell is the correlation across 606 districts between the share of villages carrying one facility and the share carrying the other.</a:t>
            </a:r>
          </a:p>
        </p:txBody>
      </p:sp>
      <p:sp>
        <p:nvSpPr>
          <p:cNvPr id="45" name="TextBox 44"/>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Rural facilities and cropping</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H3 and H4, each facility entered on its own with the full control set</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13</a:t>
            </a:r>
          </a:p>
        </p:txBody>
      </p:sp>
      <p:pic>
        <p:nvPicPr>
          <p:cNvPr id="7" name="Picture 6" descr="f10_market_solo.png"/>
          <p:cNvPicPr>
            <a:picLocks noChangeAspect="1"/>
          </p:cNvPicPr>
          <p:nvPr/>
        </p:nvPicPr>
        <p:blipFill>
          <a:blip r:embed="rId3"/>
          <a:stretch>
            <a:fillRect/>
          </a:stretch>
        </p:blipFill>
        <p:spPr>
          <a:xfrm>
            <a:off x="393192" y="1467627"/>
            <a:ext cx="5536692" cy="2368264"/>
          </a:xfrm>
          <a:prstGeom prst="rect">
            <a:avLst/>
          </a:prstGeom>
        </p:spPr>
      </p:pic>
      <p:sp>
        <p:nvSpPr>
          <p:cNvPr id="8" name="Rectangle 7"/>
          <p:cNvSpPr/>
          <p:nvPr/>
        </p:nvSpPr>
        <p:spPr>
          <a:xfrm>
            <a:off x="393192" y="3977639"/>
            <a:ext cx="5536692" cy="82296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0"/>
              </a:spcAft>
            </a:pPr>
            <a:r>
              <a:rPr sz="1200" b="0">
                <a:solidFill>
                  <a:srgbClr val="333232"/>
                </a:solidFill>
                <a:latin typeface="Calibri"/>
              </a:rPr>
              <a:t>A one standard deviation rise in haat coverage, 0.117 of a district's villages, goes with about 0.9 more crops against a mean of 21.2, and the coefficient runs +6.44 to +8.02 across every control specification tried.</a:t>
            </a:r>
          </a:p>
        </p:txBody>
      </p:sp>
      <p:sp>
        <p:nvSpPr>
          <p:cNvPr id="9" name="Rectangle 8"/>
          <p:cNvSpPr/>
          <p:nvPr/>
        </p:nvSpPr>
        <p:spPr>
          <a:xfrm>
            <a:off x="6240779" y="1243584"/>
            <a:ext cx="3749039" cy="2743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40779" y="1243584"/>
            <a:ext cx="50292" cy="2743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3659" y="1266444"/>
            <a:ext cx="3529583"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H3 holds on crops grown only; H4 holds</a:t>
            </a:r>
          </a:p>
        </p:txBody>
      </p:sp>
      <p:sp>
        <p:nvSpPr>
          <p:cNvPr id="12" name="TextBox 11"/>
          <p:cNvSpPr txBox="1"/>
          <p:nvPr/>
        </p:nvSpPr>
        <p:spPr>
          <a:xfrm>
            <a:off x="6240779" y="1591056"/>
            <a:ext cx="178308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Facility</a:t>
            </a:r>
          </a:p>
        </p:txBody>
      </p:sp>
      <p:sp>
        <p:nvSpPr>
          <p:cNvPr id="13" name="TextBox 12"/>
          <p:cNvSpPr txBox="1"/>
          <p:nvPr/>
        </p:nvSpPr>
        <p:spPr>
          <a:xfrm>
            <a:off x="8023859" y="1591056"/>
            <a:ext cx="105156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Effective crops</a:t>
            </a:r>
          </a:p>
        </p:txBody>
      </p:sp>
      <p:sp>
        <p:nvSpPr>
          <p:cNvPr id="14" name="TextBox 13"/>
          <p:cNvSpPr txBox="1"/>
          <p:nvPr/>
        </p:nvSpPr>
        <p:spPr>
          <a:xfrm>
            <a:off x="9075419" y="1591056"/>
            <a:ext cx="100584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Crops grown</a:t>
            </a:r>
          </a:p>
        </p:txBody>
      </p:sp>
      <p:sp>
        <p:nvSpPr>
          <p:cNvPr id="15" name="TextBox 14"/>
          <p:cNvSpPr txBox="1"/>
          <p:nvPr/>
        </p:nvSpPr>
        <p:spPr>
          <a:xfrm>
            <a:off x="10081259" y="1591056"/>
            <a:ext cx="868680"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Cereal share</a:t>
            </a:r>
          </a:p>
        </p:txBody>
      </p:sp>
      <p:sp>
        <p:nvSpPr>
          <p:cNvPr id="16" name="TextBox 15"/>
          <p:cNvSpPr txBox="1"/>
          <p:nvPr/>
        </p:nvSpPr>
        <p:spPr>
          <a:xfrm>
            <a:off x="10949939" y="1591056"/>
            <a:ext cx="827532" cy="256032"/>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Pulse share</a:t>
            </a:r>
          </a:p>
        </p:txBody>
      </p:sp>
      <p:sp>
        <p:nvSpPr>
          <p:cNvPr id="17" name="Rectangle 16"/>
          <p:cNvSpPr/>
          <p:nvPr/>
        </p:nvSpPr>
        <p:spPr>
          <a:xfrm>
            <a:off x="6240779" y="1847088"/>
            <a:ext cx="5536692"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0779" y="1858975"/>
            <a:ext cx="5536692"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79" y="1858975"/>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Weekly haat</a:t>
            </a:r>
          </a:p>
        </p:txBody>
      </p:sp>
      <p:sp>
        <p:nvSpPr>
          <p:cNvPr id="20" name="TextBox 19"/>
          <p:cNvSpPr txBox="1"/>
          <p:nvPr/>
        </p:nvSpPr>
        <p:spPr>
          <a:xfrm>
            <a:off x="8023859" y="1858975"/>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+0.49 (0.56)</a:t>
            </a:r>
          </a:p>
        </p:txBody>
      </p:sp>
      <p:sp>
        <p:nvSpPr>
          <p:cNvPr id="21" name="TextBox 20"/>
          <p:cNvSpPr txBox="1"/>
          <p:nvPr/>
        </p:nvSpPr>
        <p:spPr>
          <a:xfrm>
            <a:off x="9075419" y="1858975"/>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+7.33 (0.000)</a:t>
            </a:r>
          </a:p>
        </p:txBody>
      </p:sp>
      <p:sp>
        <p:nvSpPr>
          <p:cNvPr id="22" name="TextBox 21"/>
          <p:cNvSpPr txBox="1"/>
          <p:nvPr/>
        </p:nvSpPr>
        <p:spPr>
          <a:xfrm>
            <a:off x="10081259" y="1858975"/>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-0.050 (0.42)</a:t>
            </a:r>
          </a:p>
        </p:txBody>
      </p:sp>
      <p:sp>
        <p:nvSpPr>
          <p:cNvPr id="23" name="TextBox 22"/>
          <p:cNvSpPr txBox="1"/>
          <p:nvPr/>
        </p:nvSpPr>
        <p:spPr>
          <a:xfrm>
            <a:off x="10949939" y="1858975"/>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-0.068 (0.11)</a:t>
            </a:r>
          </a:p>
        </p:txBody>
      </p:sp>
      <p:sp>
        <p:nvSpPr>
          <p:cNvPr id="24" name="Rectangle 23"/>
          <p:cNvSpPr/>
          <p:nvPr/>
        </p:nvSpPr>
        <p:spPr>
          <a:xfrm>
            <a:off x="6240779" y="2124151"/>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0779" y="2124151"/>
            <a:ext cx="5536692"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0779" y="2131466"/>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Cold storage</a:t>
            </a:r>
          </a:p>
        </p:txBody>
      </p:sp>
      <p:sp>
        <p:nvSpPr>
          <p:cNvPr id="27" name="TextBox 26"/>
          <p:cNvSpPr txBox="1"/>
          <p:nvPr/>
        </p:nvSpPr>
        <p:spPr>
          <a:xfrm>
            <a:off x="8023859" y="2131466"/>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+0.75 (0.65)</a:t>
            </a:r>
          </a:p>
        </p:txBody>
      </p:sp>
      <p:sp>
        <p:nvSpPr>
          <p:cNvPr id="28" name="TextBox 27"/>
          <p:cNvSpPr txBox="1"/>
          <p:nvPr/>
        </p:nvSpPr>
        <p:spPr>
          <a:xfrm>
            <a:off x="9075419" y="2131466"/>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+6.34 (0.039)</a:t>
            </a:r>
          </a:p>
        </p:txBody>
      </p:sp>
      <p:sp>
        <p:nvSpPr>
          <p:cNvPr id="29" name="TextBox 28"/>
          <p:cNvSpPr txBox="1"/>
          <p:nvPr/>
        </p:nvSpPr>
        <p:spPr>
          <a:xfrm>
            <a:off x="10081259" y="2131466"/>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+0.141 (0.13)</a:t>
            </a:r>
          </a:p>
        </p:txBody>
      </p:sp>
      <p:sp>
        <p:nvSpPr>
          <p:cNvPr id="30" name="TextBox 29"/>
          <p:cNvSpPr txBox="1"/>
          <p:nvPr/>
        </p:nvSpPr>
        <p:spPr>
          <a:xfrm>
            <a:off x="10949939" y="2131466"/>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-0.172 (0.001)</a:t>
            </a:r>
          </a:p>
        </p:txBody>
      </p:sp>
      <p:sp>
        <p:nvSpPr>
          <p:cNvPr id="31" name="Rectangle 30"/>
          <p:cNvSpPr/>
          <p:nvPr/>
        </p:nvSpPr>
        <p:spPr>
          <a:xfrm>
            <a:off x="6240779" y="2396642"/>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0779" y="2403957"/>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Seed centre</a:t>
            </a:r>
          </a:p>
        </p:txBody>
      </p:sp>
      <p:sp>
        <p:nvSpPr>
          <p:cNvPr id="33" name="TextBox 32"/>
          <p:cNvSpPr txBox="1"/>
          <p:nvPr/>
        </p:nvSpPr>
        <p:spPr>
          <a:xfrm>
            <a:off x="8023859" y="2403957"/>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-0.38 (0.71)</a:t>
            </a:r>
          </a:p>
        </p:txBody>
      </p:sp>
      <p:sp>
        <p:nvSpPr>
          <p:cNvPr id="34" name="TextBox 33"/>
          <p:cNvSpPr txBox="1"/>
          <p:nvPr/>
        </p:nvSpPr>
        <p:spPr>
          <a:xfrm>
            <a:off x="9075419" y="2403957"/>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+4.53 (0.022)</a:t>
            </a:r>
          </a:p>
        </p:txBody>
      </p:sp>
      <p:sp>
        <p:nvSpPr>
          <p:cNvPr id="35" name="TextBox 34"/>
          <p:cNvSpPr txBox="1"/>
          <p:nvPr/>
        </p:nvSpPr>
        <p:spPr>
          <a:xfrm>
            <a:off x="10081259" y="2403957"/>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-0.010</a:t>
            </a:r>
          </a:p>
        </p:txBody>
      </p:sp>
      <p:sp>
        <p:nvSpPr>
          <p:cNvPr id="36" name="TextBox 35"/>
          <p:cNvSpPr txBox="1"/>
          <p:nvPr/>
        </p:nvSpPr>
        <p:spPr>
          <a:xfrm>
            <a:off x="10949939" y="2403957"/>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-0.057</a:t>
            </a:r>
          </a:p>
        </p:txBody>
      </p:sp>
      <p:sp>
        <p:nvSpPr>
          <p:cNvPr id="37" name="Rectangle 36"/>
          <p:cNvSpPr/>
          <p:nvPr/>
        </p:nvSpPr>
        <p:spPr>
          <a:xfrm>
            <a:off x="6240779" y="2669133"/>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0779" y="2676448"/>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Farm-gate processing</a:t>
            </a:r>
          </a:p>
        </p:txBody>
      </p:sp>
      <p:sp>
        <p:nvSpPr>
          <p:cNvPr id="39" name="TextBox 38"/>
          <p:cNvSpPr txBox="1"/>
          <p:nvPr/>
        </p:nvSpPr>
        <p:spPr>
          <a:xfrm>
            <a:off x="8023859" y="2676448"/>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+0.20 (0.82)</a:t>
            </a:r>
          </a:p>
        </p:txBody>
      </p:sp>
      <p:sp>
        <p:nvSpPr>
          <p:cNvPr id="40" name="TextBox 39"/>
          <p:cNvSpPr txBox="1"/>
          <p:nvPr/>
        </p:nvSpPr>
        <p:spPr>
          <a:xfrm>
            <a:off x="9075419" y="2676448"/>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+3.96 (0.047)</a:t>
            </a:r>
          </a:p>
        </p:txBody>
      </p:sp>
      <p:sp>
        <p:nvSpPr>
          <p:cNvPr id="41" name="TextBox 40"/>
          <p:cNvSpPr txBox="1"/>
          <p:nvPr/>
        </p:nvSpPr>
        <p:spPr>
          <a:xfrm>
            <a:off x="10081259" y="2676448"/>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+0.035</a:t>
            </a:r>
          </a:p>
        </p:txBody>
      </p:sp>
      <p:sp>
        <p:nvSpPr>
          <p:cNvPr id="42" name="TextBox 41"/>
          <p:cNvSpPr txBox="1"/>
          <p:nvPr/>
        </p:nvSpPr>
        <p:spPr>
          <a:xfrm>
            <a:off x="10949939" y="2676448"/>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-0.053</a:t>
            </a:r>
          </a:p>
        </p:txBody>
      </p:sp>
      <p:sp>
        <p:nvSpPr>
          <p:cNvPr id="43" name="Rectangle 42"/>
          <p:cNvSpPr/>
          <p:nvPr/>
        </p:nvSpPr>
        <p:spPr>
          <a:xfrm>
            <a:off x="6240779" y="2941624"/>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0779" y="2948940"/>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Soil testing</a:t>
            </a:r>
          </a:p>
        </p:txBody>
      </p:sp>
      <p:sp>
        <p:nvSpPr>
          <p:cNvPr id="45" name="TextBox 44"/>
          <p:cNvSpPr txBox="1"/>
          <p:nvPr/>
        </p:nvSpPr>
        <p:spPr>
          <a:xfrm>
            <a:off x="8023859" y="2948940"/>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+0.32 (0.75)</a:t>
            </a:r>
          </a:p>
        </p:txBody>
      </p:sp>
      <p:sp>
        <p:nvSpPr>
          <p:cNvPr id="46" name="TextBox 45"/>
          <p:cNvSpPr txBox="1"/>
          <p:nvPr/>
        </p:nvSpPr>
        <p:spPr>
          <a:xfrm>
            <a:off x="9075419" y="2948940"/>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+2.67 (0.17)</a:t>
            </a:r>
          </a:p>
        </p:txBody>
      </p:sp>
      <p:sp>
        <p:nvSpPr>
          <p:cNvPr id="47" name="TextBox 46"/>
          <p:cNvSpPr txBox="1"/>
          <p:nvPr/>
        </p:nvSpPr>
        <p:spPr>
          <a:xfrm>
            <a:off x="10081259" y="2948940"/>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+0.111</a:t>
            </a:r>
          </a:p>
        </p:txBody>
      </p:sp>
      <p:sp>
        <p:nvSpPr>
          <p:cNvPr id="48" name="TextBox 47"/>
          <p:cNvSpPr txBox="1"/>
          <p:nvPr/>
        </p:nvSpPr>
        <p:spPr>
          <a:xfrm>
            <a:off x="10949939" y="2948940"/>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-0.075</a:t>
            </a:r>
          </a:p>
        </p:txBody>
      </p:sp>
      <p:sp>
        <p:nvSpPr>
          <p:cNvPr id="49" name="Rectangle 48"/>
          <p:cNvSpPr/>
          <p:nvPr/>
        </p:nvSpPr>
        <p:spPr>
          <a:xfrm>
            <a:off x="6240779" y="3214116"/>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240779" y="3221431"/>
            <a:ext cx="5536692" cy="26517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0779" y="3221431"/>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Producer organisation</a:t>
            </a:r>
          </a:p>
        </p:txBody>
      </p:sp>
      <p:sp>
        <p:nvSpPr>
          <p:cNvPr id="52" name="TextBox 51"/>
          <p:cNvSpPr txBox="1"/>
          <p:nvPr/>
        </p:nvSpPr>
        <p:spPr>
          <a:xfrm>
            <a:off x="8023859" y="3221431"/>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+1.95 (0.032)</a:t>
            </a:r>
          </a:p>
        </p:txBody>
      </p:sp>
      <p:sp>
        <p:nvSpPr>
          <p:cNvPr id="53" name="TextBox 52"/>
          <p:cNvSpPr txBox="1"/>
          <p:nvPr/>
        </p:nvSpPr>
        <p:spPr>
          <a:xfrm>
            <a:off x="9075419" y="3221431"/>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+2.39 (0.19)</a:t>
            </a:r>
          </a:p>
        </p:txBody>
      </p:sp>
      <p:sp>
        <p:nvSpPr>
          <p:cNvPr id="54" name="TextBox 53"/>
          <p:cNvSpPr txBox="1"/>
          <p:nvPr/>
        </p:nvSpPr>
        <p:spPr>
          <a:xfrm>
            <a:off x="10081259" y="3221431"/>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-0.134*</a:t>
            </a:r>
          </a:p>
        </p:txBody>
      </p:sp>
      <p:sp>
        <p:nvSpPr>
          <p:cNvPr id="55" name="TextBox 54"/>
          <p:cNvSpPr txBox="1"/>
          <p:nvPr/>
        </p:nvSpPr>
        <p:spPr>
          <a:xfrm>
            <a:off x="10949939" y="3221431"/>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-0.066*</a:t>
            </a:r>
          </a:p>
        </p:txBody>
      </p:sp>
      <p:sp>
        <p:nvSpPr>
          <p:cNvPr id="56" name="Rectangle 55"/>
          <p:cNvSpPr/>
          <p:nvPr/>
        </p:nvSpPr>
        <p:spPr>
          <a:xfrm>
            <a:off x="6240779" y="3486607"/>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40779" y="3486607"/>
            <a:ext cx="5536692"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0779" y="3493922"/>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Mandi</a:t>
            </a:r>
          </a:p>
        </p:txBody>
      </p:sp>
      <p:sp>
        <p:nvSpPr>
          <p:cNvPr id="59" name="TextBox 58"/>
          <p:cNvSpPr txBox="1"/>
          <p:nvPr/>
        </p:nvSpPr>
        <p:spPr>
          <a:xfrm>
            <a:off x="8023859" y="3493922"/>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+0.23 (0.91)</a:t>
            </a:r>
          </a:p>
        </p:txBody>
      </p:sp>
      <p:sp>
        <p:nvSpPr>
          <p:cNvPr id="60" name="TextBox 59"/>
          <p:cNvSpPr txBox="1"/>
          <p:nvPr/>
        </p:nvSpPr>
        <p:spPr>
          <a:xfrm>
            <a:off x="9075419" y="3493922"/>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+1.88 (0.54)</a:t>
            </a:r>
          </a:p>
        </p:txBody>
      </p:sp>
      <p:sp>
        <p:nvSpPr>
          <p:cNvPr id="61" name="TextBox 60"/>
          <p:cNvSpPr txBox="1"/>
          <p:nvPr/>
        </p:nvSpPr>
        <p:spPr>
          <a:xfrm>
            <a:off x="10081259" y="3493922"/>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-0.235*</a:t>
            </a:r>
          </a:p>
        </p:txBody>
      </p:sp>
      <p:sp>
        <p:nvSpPr>
          <p:cNvPr id="62" name="TextBox 61"/>
          <p:cNvSpPr txBox="1"/>
          <p:nvPr/>
        </p:nvSpPr>
        <p:spPr>
          <a:xfrm>
            <a:off x="10949939" y="3493922"/>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-0.046</a:t>
            </a:r>
          </a:p>
        </p:txBody>
      </p:sp>
      <p:sp>
        <p:nvSpPr>
          <p:cNvPr id="63" name="Rectangle 62"/>
          <p:cNvSpPr/>
          <p:nvPr/>
        </p:nvSpPr>
        <p:spPr>
          <a:xfrm>
            <a:off x="6240779" y="3759098"/>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40779" y="3766413"/>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Custom hiring</a:t>
            </a:r>
          </a:p>
        </p:txBody>
      </p:sp>
      <p:sp>
        <p:nvSpPr>
          <p:cNvPr id="65" name="TextBox 64"/>
          <p:cNvSpPr txBox="1"/>
          <p:nvPr/>
        </p:nvSpPr>
        <p:spPr>
          <a:xfrm>
            <a:off x="8023859" y="3766413"/>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+0.11 (0.93)</a:t>
            </a:r>
          </a:p>
        </p:txBody>
      </p:sp>
      <p:sp>
        <p:nvSpPr>
          <p:cNvPr id="66" name="TextBox 65"/>
          <p:cNvSpPr txBox="1"/>
          <p:nvPr/>
        </p:nvSpPr>
        <p:spPr>
          <a:xfrm>
            <a:off x="9075419" y="3766413"/>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+1.75 (0.48)</a:t>
            </a:r>
          </a:p>
        </p:txBody>
      </p:sp>
      <p:sp>
        <p:nvSpPr>
          <p:cNvPr id="67" name="TextBox 66"/>
          <p:cNvSpPr txBox="1"/>
          <p:nvPr/>
        </p:nvSpPr>
        <p:spPr>
          <a:xfrm>
            <a:off x="10081259" y="3766413"/>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-0.032</a:t>
            </a:r>
          </a:p>
        </p:txBody>
      </p:sp>
      <p:sp>
        <p:nvSpPr>
          <p:cNvPr id="68" name="TextBox 67"/>
          <p:cNvSpPr txBox="1"/>
          <p:nvPr/>
        </p:nvSpPr>
        <p:spPr>
          <a:xfrm>
            <a:off x="10949939" y="3766413"/>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-0.056</a:t>
            </a:r>
          </a:p>
        </p:txBody>
      </p:sp>
      <p:sp>
        <p:nvSpPr>
          <p:cNvPr id="69" name="Rectangle 68"/>
          <p:cNvSpPr/>
          <p:nvPr/>
        </p:nvSpPr>
        <p:spPr>
          <a:xfrm>
            <a:off x="6240779" y="4031589"/>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40779" y="4038904"/>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Fertiliser shop</a:t>
            </a:r>
          </a:p>
        </p:txBody>
      </p:sp>
      <p:sp>
        <p:nvSpPr>
          <p:cNvPr id="71" name="TextBox 70"/>
          <p:cNvSpPr txBox="1"/>
          <p:nvPr/>
        </p:nvSpPr>
        <p:spPr>
          <a:xfrm>
            <a:off x="8023859" y="4038904"/>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+0.28 (0.78)</a:t>
            </a:r>
          </a:p>
        </p:txBody>
      </p:sp>
      <p:sp>
        <p:nvSpPr>
          <p:cNvPr id="72" name="TextBox 71"/>
          <p:cNvSpPr txBox="1"/>
          <p:nvPr/>
        </p:nvSpPr>
        <p:spPr>
          <a:xfrm>
            <a:off x="9075419" y="4038904"/>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+1.10 (0.57)</a:t>
            </a:r>
          </a:p>
        </p:txBody>
      </p:sp>
      <p:sp>
        <p:nvSpPr>
          <p:cNvPr id="73" name="TextBox 72"/>
          <p:cNvSpPr txBox="1"/>
          <p:nvPr/>
        </p:nvSpPr>
        <p:spPr>
          <a:xfrm>
            <a:off x="10081259" y="4038904"/>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-0.198 (0.021)</a:t>
            </a:r>
          </a:p>
        </p:txBody>
      </p:sp>
      <p:sp>
        <p:nvSpPr>
          <p:cNvPr id="74" name="TextBox 73"/>
          <p:cNvSpPr txBox="1"/>
          <p:nvPr/>
        </p:nvSpPr>
        <p:spPr>
          <a:xfrm>
            <a:off x="10949939" y="4038904"/>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-0.174 (0.000)</a:t>
            </a:r>
          </a:p>
        </p:txBody>
      </p:sp>
      <p:sp>
        <p:nvSpPr>
          <p:cNvPr id="75" name="Rectangle 74"/>
          <p:cNvSpPr/>
          <p:nvPr/>
        </p:nvSpPr>
        <p:spPr>
          <a:xfrm>
            <a:off x="6240779" y="4304080"/>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40779" y="4311396"/>
            <a:ext cx="1783080" cy="265176"/>
          </a:xfrm>
          <a:prstGeom prst="rect">
            <a:avLst/>
          </a:prstGeom>
          <a:noFill/>
          <a:ln>
            <a:noFill/>
          </a:ln>
        </p:spPr>
        <p:txBody>
          <a:bodyPr wrap="square" lIns="45720" rIns="45720" tIns="18288" bIns="18288" anchor="ctr">
            <a:spAutoFit/>
          </a:bodyPr>
          <a:lstStyle/>
          <a:p>
            <a:pPr algn="l">
              <a:lnSpc>
                <a:spcPct val="106000"/>
              </a:lnSpc>
              <a:spcAft>
                <a:spcPts val="0"/>
              </a:spcAft>
            </a:pPr>
            <a:r>
              <a:rPr sz="900" b="0">
                <a:solidFill>
                  <a:srgbClr val="333232"/>
                </a:solidFill>
                <a:latin typeface="Calibri"/>
              </a:rPr>
              <a:t>Regular market</a:t>
            </a:r>
          </a:p>
        </p:txBody>
      </p:sp>
      <p:sp>
        <p:nvSpPr>
          <p:cNvPr id="77" name="TextBox 76"/>
          <p:cNvSpPr txBox="1"/>
          <p:nvPr/>
        </p:nvSpPr>
        <p:spPr>
          <a:xfrm>
            <a:off x="8023859" y="4311396"/>
            <a:ext cx="105156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-0.69 (0.39)</a:t>
            </a:r>
          </a:p>
        </p:txBody>
      </p:sp>
      <p:sp>
        <p:nvSpPr>
          <p:cNvPr id="78" name="TextBox 77"/>
          <p:cNvSpPr txBox="1"/>
          <p:nvPr/>
        </p:nvSpPr>
        <p:spPr>
          <a:xfrm>
            <a:off x="9075419" y="4311396"/>
            <a:ext cx="100584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-2.88 (0.12)</a:t>
            </a:r>
          </a:p>
        </p:txBody>
      </p:sp>
      <p:sp>
        <p:nvSpPr>
          <p:cNvPr id="79" name="TextBox 78"/>
          <p:cNvSpPr txBox="1"/>
          <p:nvPr/>
        </p:nvSpPr>
        <p:spPr>
          <a:xfrm>
            <a:off x="10081259" y="4311396"/>
            <a:ext cx="868680"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+0.049 (0.55)</a:t>
            </a:r>
          </a:p>
        </p:txBody>
      </p:sp>
      <p:sp>
        <p:nvSpPr>
          <p:cNvPr id="80" name="TextBox 79"/>
          <p:cNvSpPr txBox="1"/>
          <p:nvPr/>
        </p:nvSpPr>
        <p:spPr>
          <a:xfrm>
            <a:off x="10949939" y="4311396"/>
            <a:ext cx="827532" cy="265176"/>
          </a:xfrm>
          <a:prstGeom prst="rect">
            <a:avLst/>
          </a:prstGeom>
          <a:noFill/>
          <a:ln>
            <a:noFill/>
          </a:ln>
        </p:spPr>
        <p:txBody>
          <a:bodyPr wrap="square" lIns="45720" rIns="45720" tIns="18288" bIns="18288" anchor="ctr">
            <a:spAutoFit/>
          </a:bodyPr>
          <a:lstStyle/>
          <a:p>
            <a:pPr algn="r">
              <a:lnSpc>
                <a:spcPct val="106000"/>
              </a:lnSpc>
              <a:spcAft>
                <a:spcPts val="0"/>
              </a:spcAft>
            </a:pPr>
            <a:r>
              <a:rPr sz="900" b="0">
                <a:solidFill>
                  <a:srgbClr val="333232"/>
                </a:solidFill>
                <a:latin typeface="Calibri"/>
              </a:rPr>
              <a:t>-0.094 (0.004)</a:t>
            </a:r>
          </a:p>
        </p:txBody>
      </p:sp>
      <p:sp>
        <p:nvSpPr>
          <p:cNvPr id="81" name="Rectangle 80"/>
          <p:cNvSpPr/>
          <p:nvPr/>
        </p:nvSpPr>
        <p:spPr>
          <a:xfrm>
            <a:off x="6240779" y="4576572"/>
            <a:ext cx="5536692"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Weekly haat coverage goes with 7.3 more crops grown in an average year</a:t>
            </a:r>
          </a:p>
          <a:p>
            <a:pPr algn="l">
              <a:lnSpc>
                <a:spcPct val="104000"/>
              </a:lnSpc>
              <a:spcAft>
                <a:spcPts val="200"/>
              </a:spcAft>
            </a:pPr>
            <a:r>
              <a:rPr sz="1350" b="0">
                <a:solidFill>
                  <a:srgbClr val="333232"/>
                </a:solidFill>
                <a:latin typeface="Calibri"/>
              </a:rPr>
              <a:t>Producer organisation coverage adds 1.95 to the effective number of crops and leaves crops grown flat.</a:t>
            </a:r>
          </a:p>
        </p:txBody>
      </p:sp>
      <p:sp>
        <p:nvSpPr>
          <p:cNvPr id="85" name="TextBox 84"/>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Nine of the ten facilities correlate 0.24 to 0.83 with one another and the weekly haat runs -0.21 to +0.06 against them. Errors cluster on the pre-2011 parent district.</a:t>
            </a:r>
          </a:p>
        </p:txBody>
      </p:sp>
      <p:sp>
        <p:nvSpPr>
          <p:cNvPr id="86" name="TextBox 85"/>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Market density and the fall after the peak</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H5, curvature of the irrigation relationship where infrastructure is thin and where it is dense</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14</a:t>
            </a:r>
          </a:p>
        </p:txBody>
      </p:sp>
      <p:pic>
        <p:nvPicPr>
          <p:cNvPr id="7" name="Picture 6" descr="f14_interaction_wide.png"/>
          <p:cNvPicPr>
            <a:picLocks noChangeAspect="1"/>
          </p:cNvPicPr>
          <p:nvPr/>
        </p:nvPicPr>
        <p:blipFill>
          <a:blip r:embed="rId3"/>
          <a:stretch>
            <a:fillRect/>
          </a:stretch>
        </p:blipFill>
        <p:spPr>
          <a:xfrm>
            <a:off x="393192" y="1358967"/>
            <a:ext cx="7498079" cy="1570600"/>
          </a:xfrm>
          <a:prstGeom prst="rect">
            <a:avLst/>
          </a:prstGeom>
        </p:spPr>
      </p:pic>
      <p:sp>
        <p:nvSpPr>
          <p:cNvPr id="8" name="Rectangle 7"/>
          <p:cNvSpPr/>
          <p:nvPr/>
        </p:nvSpPr>
        <p:spPr>
          <a:xfrm>
            <a:off x="8138160" y="1298448"/>
            <a:ext cx="3630168" cy="1691640"/>
          </a:xfrm>
          <a:prstGeom prst="rect">
            <a:avLst/>
          </a:prstGeom>
          <a:solidFill>
            <a:srgbClr val="FFFFFF"/>
          </a:solidFill>
          <a:ln w="9525">
            <a:solidFill>
              <a:srgbClr val="CFCFCE"/>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18872" tIns="118872" bIns="91440"/>
          <a:lstStyle/>
          <a:p>
            <a:pPr algn="l">
              <a:lnSpc>
                <a:spcPct val="106000"/>
              </a:lnSpc>
              <a:spcAft>
                <a:spcPts val="300"/>
              </a:spcAft>
            </a:pPr>
            <a:r>
              <a:rPr sz="1250" b="1">
                <a:solidFill>
                  <a:srgbClr val="333232"/>
                </a:solidFill>
                <a:latin typeface="Calibri"/>
              </a:rPr>
              <a:t>The other half of the same hypothesis</a:t>
            </a:r>
          </a:p>
          <a:p>
            <a:pPr algn="l">
              <a:lnSpc>
                <a:spcPct val="106000"/>
              </a:lnSpc>
              <a:spcAft>
                <a:spcPts val="0"/>
              </a:spcAft>
            </a:pPr>
            <a:r>
              <a:rPr sz="1200" b="0">
                <a:solidFill>
                  <a:srgbClr val="333232"/>
                </a:solidFill>
                <a:latin typeface="Calibri"/>
              </a:rPr>
              <a:t>Mandi coverage was expected to raise the cereal share. Entered alone with the full control set it goes with a cereal share 0.235 lower (p = 0.054), and entered with the other output markets, 0.240 lower.</a:t>
            </a:r>
          </a:p>
        </p:txBody>
      </p:sp>
      <p:sp>
        <p:nvSpPr>
          <p:cNvPr id="9" name="Rectangle 8"/>
          <p:cNvSpPr/>
          <p:nvPr/>
        </p:nvSpPr>
        <p:spPr>
          <a:xfrm>
            <a:off x="393192" y="3072384"/>
            <a:ext cx="1965960" cy="2743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3192" y="3072384"/>
            <a:ext cx="50292" cy="2743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3095244"/>
            <a:ext cx="1746504" cy="237744"/>
          </a:xfrm>
          <a:prstGeom prst="rect">
            <a:avLst/>
          </a:prstGeom>
          <a:noFill/>
          <a:ln>
            <a:noFill/>
          </a:ln>
        </p:spPr>
        <p:txBody>
          <a:bodyPr wrap="square" lIns="18288" rIns="18288" tIns="18288" bIns="18288">
            <a:spAutoFit/>
          </a:bodyPr>
          <a:lstStyle/>
          <a:p>
            <a:pPr algn="l">
              <a:lnSpc>
                <a:spcPct val="106000"/>
              </a:lnSpc>
              <a:spcAft>
                <a:spcPts val="0"/>
              </a:spcAft>
            </a:pPr>
            <a:r>
              <a:rPr sz="1150" b="1">
                <a:solidFill>
                  <a:srgbClr val="333232"/>
                </a:solidFill>
                <a:latin typeface="Calibri"/>
              </a:rPr>
              <a:t>H5 does not hold</a:t>
            </a:r>
          </a:p>
        </p:txBody>
      </p:sp>
      <p:sp>
        <p:nvSpPr>
          <p:cNvPr id="12" name="TextBox 11"/>
          <p:cNvSpPr txBox="1"/>
          <p:nvPr/>
        </p:nvSpPr>
        <p:spPr>
          <a:xfrm>
            <a:off x="2651760" y="3108960"/>
            <a:ext cx="9125712" cy="274320"/>
          </a:xfrm>
          <a:prstGeom prst="rect">
            <a:avLst/>
          </a:prstGeom>
          <a:noFill/>
          <a:ln>
            <a:noFill/>
          </a:ln>
        </p:spPr>
        <p:txBody>
          <a:bodyPr wrap="square" lIns="18288" rIns="18288" tIns="18288" bIns="18288">
            <a:spAutoFit/>
          </a:bodyPr>
          <a:lstStyle/>
          <a:p>
            <a:pPr algn="l">
              <a:lnSpc>
                <a:spcPct val="106000"/>
              </a:lnSpc>
              <a:spcAft>
                <a:spcPts val="0"/>
              </a:spcAft>
            </a:pPr>
            <a:r>
              <a:rPr sz="1050" b="0">
                <a:solidFill>
                  <a:srgbClr val="7F8080"/>
                </a:solidFill>
                <a:latin typeface="Calibri"/>
              </a:rPr>
              <a:t>Districts split at the median on market density run 3.79 to 5.99 effective crops raw, and all three adjusted contrasts are null.</a:t>
            </a:r>
          </a:p>
        </p:txBody>
      </p:sp>
      <p:sp>
        <p:nvSpPr>
          <p:cNvPr id="13" name="TextBox 12"/>
          <p:cNvSpPr txBox="1"/>
          <p:nvPr/>
        </p:nvSpPr>
        <p:spPr>
          <a:xfrm>
            <a:off x="393192" y="3456432"/>
            <a:ext cx="2788920" cy="228600"/>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Infrastructure</a:t>
            </a:r>
          </a:p>
        </p:txBody>
      </p:sp>
      <p:sp>
        <p:nvSpPr>
          <p:cNvPr id="14" name="TextBox 13"/>
          <p:cNvSpPr txBox="1"/>
          <p:nvPr/>
        </p:nvSpPr>
        <p:spPr>
          <a:xfrm>
            <a:off x="3182112" y="3456432"/>
            <a:ext cx="21488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Curvature where thin</a:t>
            </a:r>
          </a:p>
        </p:txBody>
      </p:sp>
      <p:sp>
        <p:nvSpPr>
          <p:cNvPr id="15" name="TextBox 14"/>
          <p:cNvSpPr txBox="1"/>
          <p:nvPr/>
        </p:nvSpPr>
        <p:spPr>
          <a:xfrm>
            <a:off x="5330952" y="3456432"/>
            <a:ext cx="219456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Curvature where dense</a:t>
            </a:r>
          </a:p>
        </p:txBody>
      </p:sp>
      <p:sp>
        <p:nvSpPr>
          <p:cNvPr id="16" name="TextBox 15"/>
          <p:cNvSpPr txBox="1"/>
          <p:nvPr/>
        </p:nvSpPr>
        <p:spPr>
          <a:xfrm>
            <a:off x="7525512" y="3456432"/>
            <a:ext cx="1874519" cy="228600"/>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Interaction</a:t>
            </a:r>
          </a:p>
        </p:txBody>
      </p:sp>
      <p:sp>
        <p:nvSpPr>
          <p:cNvPr id="17" name="TextBox 16"/>
          <p:cNvSpPr txBox="1"/>
          <p:nvPr/>
        </p:nvSpPr>
        <p:spPr>
          <a:xfrm>
            <a:off x="9400032" y="3456432"/>
            <a:ext cx="2377440" cy="228600"/>
          </a:xfrm>
          <a:prstGeom prst="rect">
            <a:avLst/>
          </a:prstGeom>
          <a:noFill/>
          <a:ln>
            <a:noFill/>
          </a:ln>
        </p:spPr>
        <p:txBody>
          <a:bodyPr wrap="square" lIns="45720" rIns="45720" tIns="18288" bIns="18288" anchor="ctr">
            <a:spAutoFit/>
          </a:bodyPr>
          <a:lstStyle/>
          <a:p>
            <a:pPr algn="r">
              <a:lnSpc>
                <a:spcPct val="106000"/>
              </a:lnSpc>
              <a:spcAft>
                <a:spcPts val="0"/>
              </a:spcAft>
            </a:pPr>
            <a:r>
              <a:rPr sz="900" b="1">
                <a:solidFill>
                  <a:srgbClr val="7F8080"/>
                </a:solidFill>
                <a:latin typeface="Calibri"/>
              </a:rPr>
              <a:t>p</a:t>
            </a:r>
          </a:p>
        </p:txBody>
      </p:sp>
      <p:sp>
        <p:nvSpPr>
          <p:cNvPr id="18" name="Rectangle 17"/>
          <p:cNvSpPr/>
          <p:nvPr/>
        </p:nvSpPr>
        <p:spPr>
          <a:xfrm>
            <a:off x="393192" y="3685031"/>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3192" y="3696919"/>
            <a:ext cx="11384280" cy="219456"/>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 y="3696919"/>
            <a:ext cx="27889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Mandi village share</a:t>
            </a:r>
          </a:p>
        </p:txBody>
      </p:sp>
      <p:sp>
        <p:nvSpPr>
          <p:cNvPr id="21" name="TextBox 20"/>
          <p:cNvSpPr txBox="1"/>
          <p:nvPr/>
        </p:nvSpPr>
        <p:spPr>
          <a:xfrm>
            <a:off x="3182112" y="3696919"/>
            <a:ext cx="21488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-8.98</a:t>
            </a:r>
          </a:p>
        </p:txBody>
      </p:sp>
      <p:sp>
        <p:nvSpPr>
          <p:cNvPr id="22" name="TextBox 21"/>
          <p:cNvSpPr txBox="1"/>
          <p:nvPr/>
        </p:nvSpPr>
        <p:spPr>
          <a:xfrm>
            <a:off x="5330952" y="3696919"/>
            <a:ext cx="2194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-3.74</a:t>
            </a:r>
          </a:p>
        </p:txBody>
      </p:sp>
      <p:sp>
        <p:nvSpPr>
          <p:cNvPr id="23" name="TextBox 22"/>
          <p:cNvSpPr txBox="1"/>
          <p:nvPr/>
        </p:nvSpPr>
        <p:spPr>
          <a:xfrm>
            <a:off x="7525512" y="3696919"/>
            <a:ext cx="1874519"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+2.62</a:t>
            </a:r>
          </a:p>
        </p:txBody>
      </p:sp>
      <p:sp>
        <p:nvSpPr>
          <p:cNvPr id="24" name="TextBox 23"/>
          <p:cNvSpPr txBox="1"/>
          <p:nvPr/>
        </p:nvSpPr>
        <p:spPr>
          <a:xfrm>
            <a:off x="9400032" y="3696919"/>
            <a:ext cx="23774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0.033</a:t>
            </a:r>
          </a:p>
        </p:txBody>
      </p:sp>
      <p:sp>
        <p:nvSpPr>
          <p:cNvPr id="25" name="Rectangle 24"/>
          <p:cNvSpPr/>
          <p:nvPr/>
        </p:nvSpPr>
        <p:spPr>
          <a:xfrm>
            <a:off x="393192" y="3916375"/>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3192" y="3916375"/>
            <a:ext cx="1138428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3192" y="3923690"/>
            <a:ext cx="27889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Input-supply density</a:t>
            </a:r>
          </a:p>
        </p:txBody>
      </p:sp>
      <p:sp>
        <p:nvSpPr>
          <p:cNvPr id="28" name="TextBox 27"/>
          <p:cNvSpPr txBox="1"/>
          <p:nvPr/>
        </p:nvSpPr>
        <p:spPr>
          <a:xfrm>
            <a:off x="3182112" y="3923690"/>
            <a:ext cx="21488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-8.76</a:t>
            </a:r>
          </a:p>
        </p:txBody>
      </p:sp>
      <p:sp>
        <p:nvSpPr>
          <p:cNvPr id="29" name="TextBox 28"/>
          <p:cNvSpPr txBox="1"/>
          <p:nvPr/>
        </p:nvSpPr>
        <p:spPr>
          <a:xfrm>
            <a:off x="5330952" y="3923690"/>
            <a:ext cx="2194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-4.30</a:t>
            </a:r>
          </a:p>
        </p:txBody>
      </p:sp>
      <p:sp>
        <p:nvSpPr>
          <p:cNvPr id="30" name="TextBox 29"/>
          <p:cNvSpPr txBox="1"/>
          <p:nvPr/>
        </p:nvSpPr>
        <p:spPr>
          <a:xfrm>
            <a:off x="7525512" y="3923690"/>
            <a:ext cx="1874519"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+2.23</a:t>
            </a:r>
          </a:p>
        </p:txBody>
      </p:sp>
      <p:sp>
        <p:nvSpPr>
          <p:cNvPr id="31" name="TextBox 30"/>
          <p:cNvSpPr txBox="1"/>
          <p:nvPr/>
        </p:nvSpPr>
        <p:spPr>
          <a:xfrm>
            <a:off x="9400032" y="3923690"/>
            <a:ext cx="23774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0.056</a:t>
            </a:r>
          </a:p>
        </p:txBody>
      </p:sp>
      <p:sp>
        <p:nvSpPr>
          <p:cNvPr id="32" name="Rectangle 31"/>
          <p:cNvSpPr/>
          <p:nvPr/>
        </p:nvSpPr>
        <p:spPr>
          <a:xfrm>
            <a:off x="393192" y="4143146"/>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3192" y="4150461"/>
            <a:ext cx="27889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Post-harvest density</a:t>
            </a:r>
          </a:p>
        </p:txBody>
      </p:sp>
      <p:sp>
        <p:nvSpPr>
          <p:cNvPr id="34" name="TextBox 33"/>
          <p:cNvSpPr txBox="1"/>
          <p:nvPr/>
        </p:nvSpPr>
        <p:spPr>
          <a:xfrm>
            <a:off x="3182112" y="4150461"/>
            <a:ext cx="21488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-8.63</a:t>
            </a:r>
          </a:p>
        </p:txBody>
      </p:sp>
      <p:sp>
        <p:nvSpPr>
          <p:cNvPr id="35" name="TextBox 34"/>
          <p:cNvSpPr txBox="1"/>
          <p:nvPr/>
        </p:nvSpPr>
        <p:spPr>
          <a:xfrm>
            <a:off x="5330952" y="4150461"/>
            <a:ext cx="2194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-4.43</a:t>
            </a:r>
          </a:p>
        </p:txBody>
      </p:sp>
      <p:sp>
        <p:nvSpPr>
          <p:cNvPr id="36" name="TextBox 35"/>
          <p:cNvSpPr txBox="1"/>
          <p:nvPr/>
        </p:nvSpPr>
        <p:spPr>
          <a:xfrm>
            <a:off x="7525512" y="4150461"/>
            <a:ext cx="1874519"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+2.10</a:t>
            </a:r>
          </a:p>
        </p:txBody>
      </p:sp>
      <p:sp>
        <p:nvSpPr>
          <p:cNvPr id="37" name="TextBox 36"/>
          <p:cNvSpPr txBox="1"/>
          <p:nvPr/>
        </p:nvSpPr>
        <p:spPr>
          <a:xfrm>
            <a:off x="9400032" y="4150461"/>
            <a:ext cx="23774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0.087</a:t>
            </a:r>
          </a:p>
        </p:txBody>
      </p:sp>
      <p:sp>
        <p:nvSpPr>
          <p:cNvPr id="38" name="Rectangle 37"/>
          <p:cNvSpPr/>
          <p:nvPr/>
        </p:nvSpPr>
        <p:spPr>
          <a:xfrm>
            <a:off x="393192" y="4369917"/>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3192" y="4377232"/>
            <a:ext cx="27889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Output-market density</a:t>
            </a:r>
          </a:p>
        </p:txBody>
      </p:sp>
      <p:sp>
        <p:nvSpPr>
          <p:cNvPr id="40" name="TextBox 39"/>
          <p:cNvSpPr txBox="1"/>
          <p:nvPr/>
        </p:nvSpPr>
        <p:spPr>
          <a:xfrm>
            <a:off x="3182112" y="4377232"/>
            <a:ext cx="21488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-8.46</a:t>
            </a:r>
          </a:p>
        </p:txBody>
      </p:sp>
      <p:sp>
        <p:nvSpPr>
          <p:cNvPr id="41" name="TextBox 40"/>
          <p:cNvSpPr txBox="1"/>
          <p:nvPr/>
        </p:nvSpPr>
        <p:spPr>
          <a:xfrm>
            <a:off x="5330952" y="4377232"/>
            <a:ext cx="2194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-4.47</a:t>
            </a:r>
          </a:p>
        </p:txBody>
      </p:sp>
      <p:sp>
        <p:nvSpPr>
          <p:cNvPr id="42" name="TextBox 41"/>
          <p:cNvSpPr txBox="1"/>
          <p:nvPr/>
        </p:nvSpPr>
        <p:spPr>
          <a:xfrm>
            <a:off x="7525512" y="4377232"/>
            <a:ext cx="1874519"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+2.00</a:t>
            </a:r>
          </a:p>
        </p:txBody>
      </p:sp>
      <p:sp>
        <p:nvSpPr>
          <p:cNvPr id="43" name="TextBox 42"/>
          <p:cNvSpPr txBox="1"/>
          <p:nvPr/>
        </p:nvSpPr>
        <p:spPr>
          <a:xfrm>
            <a:off x="9400032" y="4377232"/>
            <a:ext cx="23774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0.102</a:t>
            </a:r>
          </a:p>
        </p:txBody>
      </p:sp>
      <p:sp>
        <p:nvSpPr>
          <p:cNvPr id="44" name="Rectangle 43"/>
          <p:cNvSpPr/>
          <p:nvPr/>
        </p:nvSpPr>
        <p:spPr>
          <a:xfrm>
            <a:off x="393192" y="4596688"/>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4604004"/>
            <a:ext cx="2788920" cy="219456"/>
          </a:xfrm>
          <a:prstGeom prst="rect">
            <a:avLst/>
          </a:prstGeom>
          <a:noFill/>
          <a:ln>
            <a:noFill/>
          </a:ln>
        </p:spPr>
        <p:txBody>
          <a:bodyPr wrap="square" lIns="45720" rIns="45720" tIns="18288" bIns="18288" anchor="ctr">
            <a:spAutoFit/>
          </a:bodyPr>
          <a:lstStyle/>
          <a:p>
            <a:pPr algn="l">
              <a:lnSpc>
                <a:spcPct val="106000"/>
              </a:lnSpc>
              <a:spcAft>
                <a:spcPts val="0"/>
              </a:spcAft>
            </a:pPr>
            <a:r>
              <a:rPr sz="950" b="0">
                <a:solidFill>
                  <a:srgbClr val="333232"/>
                </a:solidFill>
                <a:latin typeface="Calibri"/>
              </a:rPr>
              <a:t>Fertiliser shop village share</a:t>
            </a:r>
          </a:p>
        </p:txBody>
      </p:sp>
      <p:sp>
        <p:nvSpPr>
          <p:cNvPr id="46" name="TextBox 45"/>
          <p:cNvSpPr txBox="1"/>
          <p:nvPr/>
        </p:nvSpPr>
        <p:spPr>
          <a:xfrm>
            <a:off x="3182112" y="4604004"/>
            <a:ext cx="21488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-8.20</a:t>
            </a:r>
          </a:p>
        </p:txBody>
      </p:sp>
      <p:sp>
        <p:nvSpPr>
          <p:cNvPr id="47" name="TextBox 46"/>
          <p:cNvSpPr txBox="1"/>
          <p:nvPr/>
        </p:nvSpPr>
        <p:spPr>
          <a:xfrm>
            <a:off x="5330952" y="4604004"/>
            <a:ext cx="219456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-5.14</a:t>
            </a:r>
          </a:p>
        </p:txBody>
      </p:sp>
      <p:sp>
        <p:nvSpPr>
          <p:cNvPr id="48" name="TextBox 47"/>
          <p:cNvSpPr txBox="1"/>
          <p:nvPr/>
        </p:nvSpPr>
        <p:spPr>
          <a:xfrm>
            <a:off x="7525512" y="4604004"/>
            <a:ext cx="1874519"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+1.53</a:t>
            </a:r>
          </a:p>
        </p:txBody>
      </p:sp>
      <p:sp>
        <p:nvSpPr>
          <p:cNvPr id="49" name="TextBox 48"/>
          <p:cNvSpPr txBox="1"/>
          <p:nvPr/>
        </p:nvSpPr>
        <p:spPr>
          <a:xfrm>
            <a:off x="9400032" y="4604004"/>
            <a:ext cx="2377440" cy="219456"/>
          </a:xfrm>
          <a:prstGeom prst="rect">
            <a:avLst/>
          </a:prstGeom>
          <a:noFill/>
          <a:ln>
            <a:noFill/>
          </a:ln>
        </p:spPr>
        <p:txBody>
          <a:bodyPr wrap="square" lIns="45720" rIns="45720" tIns="18288" bIns="18288" anchor="ctr">
            <a:spAutoFit/>
          </a:bodyPr>
          <a:lstStyle/>
          <a:p>
            <a:pPr algn="r">
              <a:lnSpc>
                <a:spcPct val="106000"/>
              </a:lnSpc>
              <a:spcAft>
                <a:spcPts val="0"/>
              </a:spcAft>
            </a:pPr>
            <a:r>
              <a:rPr sz="950" b="0">
                <a:solidFill>
                  <a:srgbClr val="333232"/>
                </a:solidFill>
                <a:latin typeface="Calibri"/>
              </a:rPr>
              <a:t>0.143</a:t>
            </a:r>
          </a:p>
        </p:txBody>
      </p:sp>
      <p:sp>
        <p:nvSpPr>
          <p:cNvPr id="50" name="Rectangle 49"/>
          <p:cNvSpPr/>
          <p:nvPr/>
        </p:nvSpPr>
        <p:spPr>
          <a:xfrm>
            <a:off x="393192" y="4823460"/>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All five interaction terms run the opposite way to the hypothesis</a:t>
            </a:r>
          </a:p>
          <a:p>
            <a:pPr algn="l">
              <a:lnSpc>
                <a:spcPct val="104000"/>
              </a:lnSpc>
              <a:spcAft>
                <a:spcPts val="200"/>
              </a:spcAft>
            </a:pPr>
            <a:r>
              <a:rPr sz="1350" b="0">
                <a:solidFill>
                  <a:srgbClr val="333232"/>
                </a:solidFill>
                <a:latin typeface="Calibri"/>
              </a:rPr>
              <a:t>A positive term means the fall after the peak is gentler where infrastructure is dense, not sharper, and the mandi one is the only one under 5 percent.</a:t>
            </a:r>
          </a:p>
        </p:txBody>
      </p:sp>
      <p:sp>
        <p:nvSpPr>
          <p:cNvPr id="54" name="TextBox 53"/>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Curvature is the coefficient on the square of the irrigation share of sown area, read one standard deviation below and above the mean of each measure.</a:t>
            </a:r>
          </a:p>
        </p:txBody>
      </p:sp>
      <p:sp>
        <p:nvSpPr>
          <p:cNvPr id="55" name="TextBox 54"/>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3192" y="310896"/>
            <a:ext cx="11384280" cy="548640"/>
          </a:xfrm>
          <a:prstGeom prst="rect">
            <a:avLst/>
          </a:prstGeom>
          <a:noFill/>
          <a:ln>
            <a:noFill/>
          </a:ln>
        </p:spPr>
        <p:txBody>
          <a:bodyPr wrap="square" lIns="18288" rIns="18288" tIns="18288" bIns="18288">
            <a:spAutoFit/>
          </a:bodyPr>
          <a:lstStyle/>
          <a:p>
            <a:pPr algn="l">
              <a:lnSpc>
                <a:spcPct val="100000"/>
              </a:lnSpc>
              <a:spcAft>
                <a:spcPts val="600"/>
              </a:spcAft>
            </a:pPr>
            <a:r>
              <a:rPr sz="2200" b="1">
                <a:solidFill>
                  <a:srgbClr val="036493"/>
                </a:solidFill>
                <a:latin typeface="Calibri"/>
              </a:rPr>
              <a:t>The five hypotheses and their verdicts</a:t>
            </a:r>
          </a:p>
        </p:txBody>
      </p:sp>
      <p:sp>
        <p:nvSpPr>
          <p:cNvPr id="3" name="TextBox 2"/>
          <p:cNvSpPr txBox="1"/>
          <p:nvPr/>
        </p:nvSpPr>
        <p:spPr>
          <a:xfrm>
            <a:off x="393192" y="859536"/>
            <a:ext cx="11384280" cy="365760"/>
          </a:xfrm>
          <a:prstGeom prst="rect">
            <a:avLst/>
          </a:prstGeom>
          <a:noFill/>
          <a:ln>
            <a:noFill/>
          </a:ln>
        </p:spPr>
        <p:txBody>
          <a:bodyPr wrap="square" lIns="18288" rIns="18288" tIns="18288" bIns="18288">
            <a:spAutoFit/>
          </a:bodyPr>
          <a:lstStyle/>
          <a:p>
            <a:pPr algn="l">
              <a:lnSpc>
                <a:spcPct val="100000"/>
              </a:lnSpc>
              <a:spcAft>
                <a:spcPts val="600"/>
              </a:spcAft>
            </a:pPr>
            <a:r>
              <a:rPr sz="1350" b="0">
                <a:solidFill>
                  <a:srgbClr val="7F8080"/>
                </a:solidFill>
                <a:latin typeface="Calibri"/>
              </a:rPr>
              <a:t>Five hypotheses, the test applied and the number that decides each</a:t>
            </a:r>
          </a:p>
        </p:txBody>
      </p:sp>
      <p:sp>
        <p:nvSpPr>
          <p:cNvPr id="4" name="Rectangle 3"/>
          <p:cNvSpPr/>
          <p:nvPr/>
        </p:nvSpPr>
        <p:spPr>
          <a:xfrm>
            <a:off x="393192" y="6409944"/>
            <a:ext cx="10314432" cy="1"/>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eew_logo.png"/>
          <p:cNvPicPr>
            <a:picLocks noChangeAspect="1"/>
          </p:cNvPicPr>
          <p:nvPr/>
        </p:nvPicPr>
        <p:blipFill>
          <a:blip r:embed="rId2"/>
          <a:stretch>
            <a:fillRect/>
          </a:stretch>
        </p:blipFill>
        <p:spPr>
          <a:xfrm>
            <a:off x="10954512" y="6053328"/>
            <a:ext cx="1068872" cy="566928"/>
          </a:xfrm>
          <a:prstGeom prst="rect">
            <a:avLst/>
          </a:prstGeom>
        </p:spPr>
      </p:pic>
      <p:sp>
        <p:nvSpPr>
          <p:cNvPr id="6" name="TextBox 5"/>
          <p:cNvSpPr txBox="1"/>
          <p:nvPr/>
        </p:nvSpPr>
        <p:spPr>
          <a:xfrm>
            <a:off x="393192" y="6419088"/>
            <a:ext cx="548640" cy="329184"/>
          </a:xfrm>
          <a:prstGeom prst="rect">
            <a:avLst/>
          </a:prstGeom>
          <a:noFill/>
          <a:ln>
            <a:noFill/>
          </a:ln>
        </p:spPr>
        <p:txBody>
          <a:bodyPr wrap="square" lIns="18288" rIns="18288" tIns="18288" bIns="18288">
            <a:spAutoFit/>
          </a:bodyPr>
          <a:lstStyle/>
          <a:p>
            <a:pPr algn="l">
              <a:lnSpc>
                <a:spcPct val="100000"/>
              </a:lnSpc>
              <a:spcAft>
                <a:spcPts val="600"/>
              </a:spcAft>
            </a:pPr>
            <a:r>
              <a:rPr sz="1300" b="0">
                <a:solidFill>
                  <a:srgbClr val="7F8080"/>
                </a:solidFill>
                <a:latin typeface="Calibri"/>
              </a:rPr>
              <a:t>15</a:t>
            </a:r>
          </a:p>
        </p:txBody>
      </p:sp>
      <p:sp>
        <p:nvSpPr>
          <p:cNvPr id="7" name="TextBox 6"/>
          <p:cNvSpPr txBox="1"/>
          <p:nvPr/>
        </p:nvSpPr>
        <p:spPr>
          <a:xfrm>
            <a:off x="393192" y="1298448"/>
            <a:ext cx="169164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Hypothesis</a:t>
            </a:r>
          </a:p>
        </p:txBody>
      </p:sp>
      <p:sp>
        <p:nvSpPr>
          <p:cNvPr id="8" name="TextBox 7"/>
          <p:cNvSpPr txBox="1"/>
          <p:nvPr/>
        </p:nvSpPr>
        <p:spPr>
          <a:xfrm>
            <a:off x="2084832" y="1298448"/>
            <a:ext cx="283464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The test</a:t>
            </a:r>
          </a:p>
        </p:txBody>
      </p:sp>
      <p:sp>
        <p:nvSpPr>
          <p:cNvPr id="9" name="TextBox 8"/>
          <p:cNvSpPr txBox="1"/>
          <p:nvPr/>
        </p:nvSpPr>
        <p:spPr>
          <a:xfrm>
            <a:off x="4919472" y="1298448"/>
            <a:ext cx="475488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The deciding number</a:t>
            </a:r>
          </a:p>
        </p:txBody>
      </p:sp>
      <p:sp>
        <p:nvSpPr>
          <p:cNvPr id="10" name="TextBox 9"/>
          <p:cNvSpPr txBox="1"/>
          <p:nvPr/>
        </p:nvSpPr>
        <p:spPr>
          <a:xfrm>
            <a:off x="9674352" y="1298448"/>
            <a:ext cx="2103120" cy="256032"/>
          </a:xfrm>
          <a:prstGeom prst="rect">
            <a:avLst/>
          </a:prstGeom>
          <a:noFill/>
          <a:ln>
            <a:noFill/>
          </a:ln>
        </p:spPr>
        <p:txBody>
          <a:bodyPr wrap="square" lIns="45720" rIns="45720" tIns="18288" bIns="18288" anchor="ctr">
            <a:spAutoFit/>
          </a:bodyPr>
          <a:lstStyle/>
          <a:p>
            <a:pPr algn="l">
              <a:lnSpc>
                <a:spcPct val="106000"/>
              </a:lnSpc>
              <a:spcAft>
                <a:spcPts val="0"/>
              </a:spcAft>
            </a:pPr>
            <a:r>
              <a:rPr sz="900" b="1">
                <a:solidFill>
                  <a:srgbClr val="7F8080"/>
                </a:solidFill>
                <a:latin typeface="Calibri"/>
              </a:rPr>
              <a:t>Verdict</a:t>
            </a:r>
          </a:p>
        </p:txBody>
      </p:sp>
      <p:sp>
        <p:nvSpPr>
          <p:cNvPr id="11" name="Rectangle 10"/>
          <p:cNvSpPr/>
          <p:nvPr/>
        </p:nvSpPr>
        <p:spPr>
          <a:xfrm>
            <a:off x="393192" y="1554480"/>
            <a:ext cx="11384280" cy="11887"/>
          </a:xfrm>
          <a:prstGeom prst="rect">
            <a:avLst/>
          </a:prstGeom>
          <a:solidFill>
            <a:srgbClr val="33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1566367"/>
            <a:ext cx="1691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H1 Water quantity</a:t>
            </a:r>
          </a:p>
        </p:txBody>
      </p:sp>
      <p:sp>
        <p:nvSpPr>
          <p:cNvPr id="13" name="TextBox 12"/>
          <p:cNvSpPr txBox="1"/>
          <p:nvPr/>
        </p:nvSpPr>
        <p:spPr>
          <a:xfrm>
            <a:off x="2084832" y="1566367"/>
            <a:ext cx="2834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negative squared term on the irrigation share of sown area across fourteen specifications</a:t>
            </a:r>
          </a:p>
        </p:txBody>
      </p:sp>
      <p:sp>
        <p:nvSpPr>
          <p:cNvPr id="14" name="TextBox 13"/>
          <p:cNvSpPr txBox="1"/>
          <p:nvPr/>
        </p:nvSpPr>
        <p:spPr>
          <a:xfrm>
            <a:off x="4919472" y="1566367"/>
            <a:ext cx="475488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Negative in all fourteen, weakest p = 0.013, turn between 25 and 51 percent of sown area</a:t>
            </a:r>
          </a:p>
        </p:txBody>
      </p:sp>
      <p:sp>
        <p:nvSpPr>
          <p:cNvPr id="15" name="Rectangle 14"/>
          <p:cNvSpPr/>
          <p:nvPr/>
        </p:nvSpPr>
        <p:spPr>
          <a:xfrm>
            <a:off x="9674352" y="1566367"/>
            <a:ext cx="2103120" cy="566928"/>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4352" y="1566367"/>
            <a:ext cx="210312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Holds</a:t>
            </a:r>
          </a:p>
        </p:txBody>
      </p:sp>
      <p:sp>
        <p:nvSpPr>
          <p:cNvPr id="17" name="Rectangle 16"/>
          <p:cNvSpPr/>
          <p:nvPr/>
        </p:nvSpPr>
        <p:spPr>
          <a:xfrm>
            <a:off x="393192" y="2133295"/>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74352" y="2133295"/>
            <a:ext cx="210312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 y="2140610"/>
            <a:ext cx="1691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H2 Water type</a:t>
            </a:r>
          </a:p>
        </p:txBody>
      </p:sp>
      <p:sp>
        <p:nvSpPr>
          <p:cNvPr id="20" name="TextBox 19"/>
          <p:cNvSpPr txBox="1"/>
          <p:nvPr/>
        </p:nvSpPr>
        <p:spPr>
          <a:xfrm>
            <a:off x="2084832" y="2140610"/>
            <a:ext cx="2834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Source coefficients with the irrigation share and its square held</a:t>
            </a:r>
          </a:p>
        </p:txBody>
      </p:sp>
      <p:sp>
        <p:nvSpPr>
          <p:cNvPr id="21" name="TextBox 20"/>
          <p:cNvSpPr txBox="1"/>
          <p:nvPr/>
        </p:nvSpPr>
        <p:spPr>
          <a:xfrm>
            <a:off x="4919472" y="2140610"/>
            <a:ext cx="475488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Surface water -2.03 effective crops (p = 0.026) and cereal share +0.300 (p = 0.0001); canal -2.59 crops grown (p = 0.003)</a:t>
            </a:r>
          </a:p>
        </p:txBody>
      </p:sp>
      <p:sp>
        <p:nvSpPr>
          <p:cNvPr id="22" name="Rectangle 21"/>
          <p:cNvSpPr/>
          <p:nvPr/>
        </p:nvSpPr>
        <p:spPr>
          <a:xfrm>
            <a:off x="9674352" y="2140610"/>
            <a:ext cx="2103120" cy="566928"/>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74352" y="2140610"/>
            <a:ext cx="210312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Holds</a:t>
            </a:r>
          </a:p>
        </p:txBody>
      </p:sp>
      <p:sp>
        <p:nvSpPr>
          <p:cNvPr id="24" name="Rectangle 23"/>
          <p:cNvSpPr/>
          <p:nvPr/>
        </p:nvSpPr>
        <p:spPr>
          <a:xfrm>
            <a:off x="393192" y="2707538"/>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74352" y="2707538"/>
            <a:ext cx="210312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 y="2714853"/>
            <a:ext cx="1691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H3 Somewhere to sell</a:t>
            </a:r>
          </a:p>
        </p:txBody>
      </p:sp>
      <p:sp>
        <p:nvSpPr>
          <p:cNvPr id="27" name="TextBox 26"/>
          <p:cNvSpPr txBox="1"/>
          <p:nvPr/>
        </p:nvSpPr>
        <p:spPr>
          <a:xfrm>
            <a:off x="2084832" y="2714853"/>
            <a:ext cx="2834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Haat coverage on crops grown under seven specifications</a:t>
            </a:r>
          </a:p>
        </p:txBody>
      </p:sp>
      <p:sp>
        <p:nvSpPr>
          <p:cNvPr id="28" name="TextBox 27"/>
          <p:cNvSpPr txBox="1"/>
          <p:nvPr/>
        </p:nvSpPr>
        <p:spPr>
          <a:xfrm>
            <a:off x="4919472" y="2714853"/>
            <a:ext cx="475488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+6.44 to +8.02 with controls and +16.99 without, p below 0.001 throughout, with the effective number at +0.49 (p = 0.56) and evenness at -0.071</a:t>
            </a:r>
          </a:p>
        </p:txBody>
      </p:sp>
      <p:sp>
        <p:nvSpPr>
          <p:cNvPr id="29" name="Rectangle 28"/>
          <p:cNvSpPr/>
          <p:nvPr/>
        </p:nvSpPr>
        <p:spPr>
          <a:xfrm>
            <a:off x="9674352" y="2714853"/>
            <a:ext cx="2103120" cy="566928"/>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74352" y="2714853"/>
            <a:ext cx="210312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Holds on crops grown only</a:t>
            </a:r>
          </a:p>
        </p:txBody>
      </p:sp>
      <p:sp>
        <p:nvSpPr>
          <p:cNvPr id="31" name="Rectangle 30"/>
          <p:cNvSpPr/>
          <p:nvPr/>
        </p:nvSpPr>
        <p:spPr>
          <a:xfrm>
            <a:off x="393192" y="3281781"/>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74352" y="3281781"/>
            <a:ext cx="210312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3192" y="3289096"/>
            <a:ext cx="1691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H4 Collective marketing</a:t>
            </a:r>
          </a:p>
        </p:txBody>
      </p:sp>
      <p:sp>
        <p:nvSpPr>
          <p:cNvPr id="34" name="TextBox 33"/>
          <p:cNvSpPr txBox="1"/>
          <p:nvPr/>
        </p:nvSpPr>
        <p:spPr>
          <a:xfrm>
            <a:off x="2084832" y="3289096"/>
            <a:ext cx="2834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Producer organisation coverage read on both measures at once</a:t>
            </a:r>
          </a:p>
        </p:txBody>
      </p:sp>
      <p:sp>
        <p:nvSpPr>
          <p:cNvPr id="35" name="TextBox 34"/>
          <p:cNvSpPr txBox="1"/>
          <p:nvPr/>
        </p:nvSpPr>
        <p:spPr>
          <a:xfrm>
            <a:off x="4919472" y="3289096"/>
            <a:ext cx="475488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+1.95 entered alone (p = 0.032) and +1.91 in the screen (p = 0.026), with crops grown flat at +2.39 (p = 0.19)</a:t>
            </a:r>
          </a:p>
        </p:txBody>
      </p:sp>
      <p:sp>
        <p:nvSpPr>
          <p:cNvPr id="36" name="Rectangle 35"/>
          <p:cNvSpPr/>
          <p:nvPr/>
        </p:nvSpPr>
        <p:spPr>
          <a:xfrm>
            <a:off x="9674352" y="3289096"/>
            <a:ext cx="2103120" cy="566928"/>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74352" y="3289096"/>
            <a:ext cx="210312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Holds</a:t>
            </a:r>
          </a:p>
        </p:txBody>
      </p:sp>
      <p:sp>
        <p:nvSpPr>
          <p:cNvPr id="38" name="Rectangle 37"/>
          <p:cNvSpPr/>
          <p:nvPr/>
        </p:nvSpPr>
        <p:spPr>
          <a:xfrm>
            <a:off x="393192" y="3856024"/>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74352" y="3856024"/>
            <a:ext cx="2103120"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3192" y="3863339"/>
            <a:ext cx="1691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H5 Assured procurement</a:t>
            </a:r>
          </a:p>
        </p:txBody>
      </p:sp>
      <p:sp>
        <p:nvSpPr>
          <p:cNvPr id="41" name="TextBox 40"/>
          <p:cNvSpPr txBox="1"/>
          <p:nvPr/>
        </p:nvSpPr>
        <p:spPr>
          <a:xfrm>
            <a:off x="2084832" y="3863339"/>
            <a:ext cx="283464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 steeper fall after the peak where coverage is dense, and a higher cereal share where mandis are dense</a:t>
            </a:r>
          </a:p>
        </p:txBody>
      </p:sp>
      <p:sp>
        <p:nvSpPr>
          <p:cNvPr id="42" name="TextBox 41"/>
          <p:cNvSpPr txBox="1"/>
          <p:nvPr/>
        </p:nvSpPr>
        <p:spPr>
          <a:xfrm>
            <a:off x="4919472" y="3863339"/>
            <a:ext cx="475488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All five interactions positive, mandi +2.62 (p = 0.033), and mandi coverage on cereal share -0.235</a:t>
            </a:r>
          </a:p>
        </p:txBody>
      </p:sp>
      <p:sp>
        <p:nvSpPr>
          <p:cNvPr id="43" name="TextBox 42"/>
          <p:cNvSpPr txBox="1"/>
          <p:nvPr/>
        </p:nvSpPr>
        <p:spPr>
          <a:xfrm>
            <a:off x="9674352" y="3863339"/>
            <a:ext cx="2103120" cy="566928"/>
          </a:xfrm>
          <a:prstGeom prst="rect">
            <a:avLst/>
          </a:prstGeom>
          <a:noFill/>
          <a:ln>
            <a:noFill/>
          </a:ln>
        </p:spPr>
        <p:txBody>
          <a:bodyPr wrap="square" lIns="45720" rIns="45720" tIns="18288" bIns="18288" anchor="t">
            <a:spAutoFit/>
          </a:bodyPr>
          <a:lstStyle/>
          <a:p>
            <a:pPr algn="l">
              <a:lnSpc>
                <a:spcPct val="106000"/>
              </a:lnSpc>
              <a:spcAft>
                <a:spcPts val="0"/>
              </a:spcAft>
            </a:pPr>
            <a:r>
              <a:rPr sz="950" b="0">
                <a:solidFill>
                  <a:srgbClr val="333232"/>
                </a:solidFill>
                <a:latin typeface="Calibri"/>
              </a:rPr>
              <a:t>Does not hold</a:t>
            </a:r>
          </a:p>
        </p:txBody>
      </p:sp>
      <p:sp>
        <p:nvSpPr>
          <p:cNvPr id="44" name="Rectangle 43"/>
          <p:cNvSpPr/>
          <p:nvPr/>
        </p:nvSpPr>
        <p:spPr>
          <a:xfrm>
            <a:off x="393192" y="4430268"/>
            <a:ext cx="11384280" cy="7315"/>
          </a:xfrm>
          <a:prstGeom prst="rect">
            <a:avLst/>
          </a:prstGeom>
          <a:solidFill>
            <a:srgbClr val="CFC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4498848"/>
            <a:ext cx="11384280" cy="292608"/>
          </a:xfrm>
          <a:prstGeom prst="rect">
            <a:avLst/>
          </a:prstGeom>
          <a:noFill/>
          <a:ln>
            <a:noFill/>
          </a:ln>
        </p:spPr>
        <p:txBody>
          <a:bodyPr wrap="square" lIns="18288" rIns="18288" tIns="18288" bIns="18288">
            <a:spAutoFit/>
          </a:bodyPr>
          <a:lstStyle/>
          <a:p>
            <a:pPr algn="l">
              <a:lnSpc>
                <a:spcPct val="106000"/>
              </a:lnSpc>
              <a:spcAft>
                <a:spcPts val="0"/>
              </a:spcAft>
            </a:pPr>
            <a:r>
              <a:rPr sz="1100" b="0">
                <a:solidFill>
                  <a:srgbClr val="7F8080"/>
                </a:solidFill>
                <a:latin typeface="Calibri"/>
              </a:rPr>
              <a:t>Agrarian structure was screened out before the hypotheses: mean holding size +0.02 (p = 0.88), cultivator share -0.06 (p = 0.93), landless share -0.94 (p = 0.11).</a:t>
            </a:r>
          </a:p>
        </p:txBody>
      </p:sp>
      <p:sp>
        <p:nvSpPr>
          <p:cNvPr id="46" name="Rectangle 45"/>
          <p:cNvSpPr/>
          <p:nvPr/>
        </p:nvSpPr>
        <p:spPr>
          <a:xfrm>
            <a:off x="393192" y="4892040"/>
            <a:ext cx="11384280" cy="731520"/>
          </a:xfrm>
          <a:prstGeom prst="rect">
            <a:avLst/>
          </a:prstGeom>
          <a:solidFill>
            <a:srgbClr val="86B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93192" y="4892040"/>
            <a:ext cx="50292" cy="731520"/>
          </a:xfrm>
          <a:prstGeom prst="rect">
            <a:avLst/>
          </a:prstGeom>
          <a:solidFill>
            <a:srgbClr val="E85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2647" y="4933188"/>
            <a:ext cx="10972800" cy="667512"/>
          </a:xfrm>
          <a:prstGeom prst="rect">
            <a:avLst/>
          </a:prstGeom>
          <a:noFill/>
          <a:ln>
            <a:noFill/>
          </a:ln>
        </p:spPr>
        <p:txBody>
          <a:bodyPr wrap="square" lIns="18288" rIns="18288" tIns="18288" bIns="18288">
            <a:spAutoFit/>
          </a:bodyPr>
          <a:lstStyle/>
          <a:p>
            <a:pPr algn="l">
              <a:lnSpc>
                <a:spcPct val="104000"/>
              </a:lnSpc>
              <a:spcAft>
                <a:spcPts val="200"/>
              </a:spcAft>
            </a:pPr>
            <a:r>
              <a:rPr sz="1650" b="1">
                <a:solidFill>
                  <a:srgbClr val="333232"/>
                </a:solidFill>
                <a:latin typeface="Calibri"/>
              </a:rPr>
              <a:t>Water quantity, water source and producer organisation coverage move the effective number of crops</a:t>
            </a:r>
          </a:p>
          <a:p>
            <a:pPr algn="l">
              <a:lnSpc>
                <a:spcPct val="104000"/>
              </a:lnSpc>
              <a:spcAft>
                <a:spcPts val="200"/>
              </a:spcAft>
            </a:pPr>
            <a:r>
              <a:rPr sz="1350" b="0">
                <a:solidFill>
                  <a:srgbClr val="333232"/>
                </a:solidFill>
                <a:latin typeface="Calibri"/>
              </a:rPr>
              <a:t>Mandi density, market type and agrarian structure do not.</a:t>
            </a:r>
          </a:p>
        </p:txBody>
      </p:sp>
      <p:sp>
        <p:nvSpPr>
          <p:cNvPr id="49" name="TextBox 48"/>
          <p:cNvSpPr txBox="1"/>
          <p:nvPr/>
        </p:nvSpPr>
        <p:spPr>
          <a:xfrm>
            <a:off x="393192" y="5779008"/>
            <a:ext cx="10424160" cy="237744"/>
          </a:xfrm>
          <a:prstGeom prst="rect">
            <a:avLst/>
          </a:prstGeom>
          <a:noFill/>
          <a:ln>
            <a:noFill/>
          </a:ln>
        </p:spPr>
        <p:txBody>
          <a:bodyPr wrap="square" lIns="18288" rIns="18288" tIns="18288" bIns="18288">
            <a:spAutoFit/>
          </a:bodyPr>
          <a:lstStyle/>
          <a:p>
            <a:pPr algn="l">
              <a:lnSpc>
                <a:spcPct val="104000"/>
              </a:lnSpc>
              <a:spcAft>
                <a:spcPts val="600"/>
              </a:spcAft>
            </a:pPr>
            <a:r>
              <a:rPr sz="900" b="1">
                <a:solidFill>
                  <a:srgbClr val="9A9A9A"/>
                </a:solidFill>
                <a:latin typeface="Calibri"/>
              </a:rPr>
              <a:t>Note.  </a:t>
            </a:r>
            <a:r>
              <a:rPr sz="900" b="0">
                <a:solidFill>
                  <a:srgbClr val="9A9A9A"/>
                </a:solidFill>
                <a:latin typeface="Calibri"/>
              </a:rPr>
              <a:t>606 districts across 30 states. Irrigation systems and market facilities sit where terrain and aquifers already favoured them, and the rural record is a single 2019 cross-section.</a:t>
            </a:r>
          </a:p>
        </p:txBody>
      </p:sp>
      <p:sp>
        <p:nvSpPr>
          <p:cNvPr id="50" name="TextBox 49"/>
          <p:cNvSpPr txBox="1"/>
          <p:nvPr/>
        </p:nvSpPr>
        <p:spPr>
          <a:xfrm>
            <a:off x="393192" y="6035040"/>
            <a:ext cx="10424160" cy="274320"/>
          </a:xfrm>
          <a:prstGeom prst="rect">
            <a:avLst/>
          </a:prstGeom>
          <a:noFill/>
          <a:ln>
            <a:noFill/>
          </a:ln>
        </p:spPr>
        <p:txBody>
          <a:bodyPr wrap="square" lIns="18288" rIns="18288" tIns="18288" bIns="18288">
            <a:spAutoFit/>
          </a:bodyPr>
          <a:lstStyle/>
          <a:p>
            <a:pPr algn="l">
              <a:lnSpc>
                <a:spcPct val="100000"/>
              </a:lnSpc>
              <a:spcAft>
                <a:spcPts val="600"/>
              </a:spcAft>
            </a:pPr>
            <a:r>
              <a:rPr sz="900" b="0">
                <a:solidFill>
                  <a:srgbClr val="9A9A9A"/>
                </a:solidFill>
                <a:latin typeface="Calibri"/>
              </a:rPr>
              <a:t>Ministry of Agriculture and Farmers Welfare; SHRUG 2.1, Development Data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